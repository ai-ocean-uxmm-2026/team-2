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rial" panose="020B0604020202020204" pitchFamily="34" charset="0"/>
      <p:regular r:id="rId17"/>
    </p:embeddedFont>
    <p:embeddedFont>
      <p:font typeface="Arial Bold" panose="020B0704020202020204" pitchFamily="34" charset="0"/>
      <p:regular r:id="rId18"/>
      <p:bold r:id="rId19"/>
    </p:embeddedFont>
    <p:embeddedFont>
      <p:font typeface="Arimo" panose="020B0604020202020204" charset="0"/>
      <p:regular r:id="rId20"/>
    </p:embeddedFont>
    <p:embeddedFont>
      <p:font typeface="Arimo Bold" panose="020B0604020202020204" charset="0"/>
      <p:regular r:id="rId21"/>
    </p:embeddedFont>
    <p:embeddedFont>
      <p:font typeface="Calibri" panose="020F0502020204030204" pitchFamily="34" charset="0"/>
      <p:regular r:id="rId22"/>
      <p:bold r:id="rId23"/>
      <p:italic r:id="rId24"/>
      <p:boldItalic r:id="rId25"/>
    </p:embeddedFont>
    <p:embeddedFont>
      <p:font typeface="Calibri (MS)" panose="020B0604020202020204" charset="0"/>
      <p:regular r:id="rId26"/>
    </p:embeddedFont>
    <p:embeddedFont>
      <p:font typeface="Calibri (MS) Bold" panose="020B0604020202020204" charset="0"/>
      <p:regular r:id="rId27"/>
    </p:embeddedFont>
    <p:embeddedFont>
      <p:font typeface="Calibri (MS) Italics" panose="020B0604020202020204" charset="0"/>
      <p:regular r:id="rId28"/>
    </p:embeddedFont>
    <p:embeddedFont>
      <p:font typeface="Cambria Bold" panose="02040803050406030204" pitchFamily="18" charset="0"/>
      <p:regular r:id="rId29"/>
      <p:bold r:id="rId30"/>
    </p:embeddedFont>
    <p:embeddedFont>
      <p:font typeface="DM Sans" panose="020B0604020202020204" charset="0"/>
      <p:regular r:id="rId31"/>
    </p:embeddedFont>
    <p:embeddedFont>
      <p:font typeface="DM Sans Bold" panose="020B0604020202020204" charset="0"/>
      <p:regular r:id="rId32"/>
    </p:embeddedFont>
    <p:embeddedFont>
      <p:font typeface="Georgia Bold" panose="02040802050405020203" pitchFamily="18" charset="0"/>
      <p:regular r:id="rId33"/>
      <p:bold r:id="rId34"/>
    </p:embeddedFont>
    <p:embeddedFont>
      <p:font typeface="Montserrat Bold" panose="020B0604020202020204" charset="0"/>
      <p:regular r:id="rId35"/>
    </p:embeddedFont>
    <p:embeddedFont>
      <p:font typeface="Roboto" panose="02000000000000000000" pitchFamily="2" charset="0"/>
      <p:regular r:id="rId36"/>
      <p:bold r:id="rId37"/>
      <p:italic r:id="rId38"/>
      <p:boldItalic r:id="rId39"/>
    </p:embeddedFont>
    <p:embeddedFont>
      <p:font typeface="Roboto Bold" panose="02000000000000000000" charset="0"/>
      <p:regular r:id="rId40"/>
    </p:embeddedFont>
    <p:embeddedFont>
      <p:font typeface="Segoe UI Bold" panose="020B0802040204020203" pitchFamily="34" charset="0"/>
      <p:regular r:id="rId41"/>
      <p:bold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2" d="100"/>
          <a:sy n="62" d="100"/>
        </p:scale>
        <p:origin x="27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font" Target="fonts/font2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46" Type="http://schemas.openxmlformats.org/officeDocument/2006/relationships/tableStyles" Target="tableStyles.xml"/><Relationship Id="rId20" Type="http://schemas.openxmlformats.org/officeDocument/2006/relationships/font" Target="fonts/font4.fntdata"/><Relationship Id="rId41" Type="http://schemas.openxmlformats.org/officeDocument/2006/relationships/font" Target="fonts/font2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TARGET 0:25–0:55 · 30 seconds. Scene 2.</a:t>
            </a:r>
          </a:p>
          <a:p>
            <a:r>
              <a:rPr lang="en-US"/>
              <a:t>NARRATION: Before, the customer asks the seller. The seller contacts operations. Aye searches for the order, calls the driver, and writes a reply. The seller passes it back. Then another enquiry arrives, and much of that investigation starts again. Coral marks the repeated lookup, chasing and reply work. This is an illustrative workflow, not a measured process audit. Keep these four actors in mind: customer, seller, operations and driver. We will return to the same arrangement after the demo.</a:t>
            </a:r>
          </a:p>
          <a:p>
            <a:r>
              <a:rPr lang="en-US"/>
              <a:t>REVEAL: actors left to right, then forward steps, then coral return loop. Transition: fade to the customer impact.</a:t>
            </a:r>
          </a:p>
          <a:p>
            <a:r>
              <a:rPr lang="en-US"/>
              <a:t>## Before: the same investigation starts again.</a:t>
            </a:r>
          </a:p>
          <a:p>
            <a:r>
              <a:rPr lang="en-US"/>
              <a:t>TARGET 0:25–0:55. Scene 2. Large editable manual workflow diagram: customer asks seller, seller contacts operations, operations searches order and calls driver, writes reply, another enquiry restarts loop. Mark repeated lookup/chasing/reply steps with coral. Actor colours and positions must recur on after 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TARGET 0:55–1:20 · 25 seconds. Scene 3.</a:t>
            </a:r>
          </a:p>
          <a:p>
            <a:r>
              <a:rPr lang="en-US"/>
              <a:t>NARRATION: Delivery problems can become a customer-care problem. Ofcom's UK evidence reports that 68 in 100 recipients experienced any delivery issue in the previous six months. Separately, complaints-handling satisfaction was 46 in 100. These are different measures: not parcel failure rates and not a conversion funnel. They are international evidence, not Myanmar estimates. May's fictional question captures the risk we want to explore: can repeated frustration also affect the seller's reputation?</a:t>
            </a:r>
          </a:p>
          <a:p>
            <a:r>
              <a:rPr lang="en-US"/>
              <a:t>REVEAL: show the two independent graphics separately, then May's illustrative quote. Transition: cut to the workspace concept.</a:t>
            </a:r>
          </a:p>
          <a:p>
            <a:r>
              <a:rPr lang="en-US"/>
              <a:t>## Staff workload becomes a reputation risk.</a:t>
            </a:r>
          </a:p>
          <a:p>
            <a:r>
              <a:rPr lang="en-US"/>
              <a:t>TARGET 0:55–1:20. Scene 3. Separate accurate data graphics: 68/100 pictogram grid or doughnut for UK recipients experiencing any delivery issue in previous SIX MONTHS; 46/100 independent bar for complaints-handling satisfaction. NOT parcel failure rate or conversion funnel. Small Ofcom UK 2025 source and 'International evidence, not Myanmar estimates'. Beside or below: fictional May quote 'Can you use another delivery company next time?' with 'Illustrative scenario'.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TARGET 1:20–1:45 · 25 seconds. Scene 4.</a:t>
            </a:r>
          </a:p>
          <a:p>
            <a:r>
              <a:rPr lang="en-US"/>
              <a:t>NARRATION: This is one delivery company's internal exception workflow. The company is the buyer, and Aye in operations is the primary user. Drivers submit structured reports through a portal; customers submit questions or complaints through another. Operations reviews the context, investigates, publishes customer updates and sends relevant findings to sellers. We are demonstrating with demo data. A connection to existing delivery management is a future integration, not something this prototype claims to have live today.</a:t>
            </a:r>
          </a:p>
          <a:p>
            <a:r>
              <a:rPr lang="en-US"/>
              <a:t>REVEAL: company boundary and Aye first, then portal inputs, reviewed outputs and dashed future integration. Transition: zoom into the driver portal.</a:t>
            </a:r>
          </a:p>
          <a:p>
            <a:r>
              <a:rPr lang="en-US"/>
              <a:t>## One company. One operations workspace.</a:t>
            </a:r>
          </a:p>
          <a:p>
            <a:r>
              <a:rPr lang="en-US"/>
              <a:t>TARGET 1:20–1:45. Scene 4. Operations user Aye central, driver reports and customer complaints incoming, reviewed updates and relevant seller handoffs outgoing. Label company buyer, operations primary user; customer and driver use portals. Existing delivery management below with dashed FUTURE integration, demo-data badge. This is ONE company's internal exception workflow.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TARGET 1:20–1:45 · 25 seconds. Scene 4.</a:t>
            </a:r>
          </a:p>
          <a:p>
            <a:r>
              <a:rPr lang="en-US"/>
              <a:t>NARRATION: This is one delivery company's internal exception workflow. The company is the buyer, and Aye in operations is the primary user. Drivers submit structured reports through a portal; customers submit questions or complaints through another. Operations reviews the context, investigates, publishes customer updates and sends relevant findings to sellers. We are demonstrating with demo data. A connection to existing delivery management is a future integration, not something this prototype claims to have live today.</a:t>
            </a:r>
          </a:p>
          <a:p>
            <a:r>
              <a:rPr lang="en-US"/>
              <a:t>REVEAL: company boundary and Aye first, then portal inputs, reviewed outputs and dashed future integration. Transition: zoom into the driver portal.</a:t>
            </a:r>
          </a:p>
          <a:p>
            <a:r>
              <a:rPr lang="en-US"/>
              <a:t>## One company. One operations workspace.</a:t>
            </a:r>
          </a:p>
          <a:p>
            <a:r>
              <a:rPr lang="en-US"/>
              <a:t>TARGET 1:20–1:45. Scene 4. Operations user Aye central, driver reports and customer complaints incoming, reviewed updates and relevant seller handoffs outgoing. Label company buyer, operations primary user; customer and driver use portals. Existing delivery management below with dashed FUTURE integration, demo-data badge. This is ONE company's internal exception workflow.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TARGET 3:15–3:40 · 25 seconds. Scene 7.</a:t>
            </a:r>
          </a:p>
          <a:p>
            <a:r>
              <a:rPr lang="en-US"/>
              <a:t>NARRATION: Return to the same actors, in the same positions and colours. Before, information is scattered across calls and repeated enquiries. After, a shared workspace gives operations a visible owner, the driver a structured reporting path, the customer a response history and the seller a relevant handoff. Our intended chain is less manual coordination, clearer responses, less frustration and stronger trust or brand reputation. These are intended benefits, not proven outcomes. A pilot must validate every link, rather than assuming a nicer interface automatically creates loyalty.</a:t>
            </a:r>
          </a:p>
          <a:p>
            <a:r>
              <a:rPr lang="en-US"/>
              <a:t>REVEAL: before row, after row, then causal chain left to right. Transition: fade to positioning.</a:t>
            </a:r>
          </a:p>
          <a:p>
            <a:r>
              <a:rPr lang="en-US"/>
              <a:t>## Better operations. A better customer experience.</a:t>
            </a:r>
          </a:p>
          <a:p>
            <a:r>
              <a:rPr lang="en-US"/>
              <a:t>TARGET 3:15–3:40. Scene 7. Compelling BEFORE vs AFTER paired diagram using same actor positions/colours as slide 2. Before scattered calls and repeated enquiries; after shared workspace and visible owner. Lower causal diagram: less manual coordination, clearer responses, less frustration, stronger trust/brand reputation. 'Intended benefits; pilot validation required.' Avoid fake savings chart.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Proposed B2B strategy. Pricing and willingness to pay require pilot validation. Start with one courier team, then expand across branches within that company's deployment.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Based on Section 8.3 Phase 2 roadmap of ResolveMate Mentor Review Documentation Pack: Courier and Order API Integration; Verified customer notifications; Configurable SLA and Escalation; Trend and Root-cause analytics; Enterprise RBAC and Multi-Tenancy. The three groups organize the roadmap for presentation and do not commit implementation dates. Dependencies include partner API access, notification provider setup and consent, agreed operational policies, historical cases with verified root-cause labels, and security review.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UNSPOKEN APPENDIX — excluded from 5:00 main presentation. No automatic advance. Use only for questions and source verification.</a:t>
            </a:r>
          </a:p>
          <a:p>
            <a:r>
              <a:rPr lang="en-US"/>
              <a:t>SOURCE LINKS (preserved exactly):</a:t>
            </a:r>
          </a:p>
          <a:p>
            <a:r>
              <a:rPr lang="en-US"/>
              <a:t>Ofcom (22 Oct 2025) https://www.ofcom.org.uk/post/deliveries-and-charges/best-and-worst-parcel-firms-for-customer-satisfaction-revealed-2025</a:t>
            </a:r>
          </a:p>
          <a:p>
            <a:r>
              <a:rPr lang="en-US"/>
              <a:t>Zendesk https://www.zendesk.com/service/ticketing-system/</a:t>
            </a:r>
          </a:p>
          <a:p>
            <a:r>
              <a:rPr lang="en-US"/>
              <a:t>AfterShip https://support.aftership.com/en/tracking/articles/17126856-set-up-exception-handling-settings</a:t>
            </a:r>
          </a:p>
          <a:p>
            <a:r>
              <a:rPr lang="en-US"/>
              <a:t>BOUNDARIES: UK delivery-issue experience over the previous SIX MONTHS and complaints-handling satisfaction are separate measures, not a parcel failure rate or funnel and not Myanmar estimates. Personas are fictional. UI is simulated with demo data. Commercial ROI inputs are illustrative assumptions, not observed results; pricing, willingness to pay and reputation benefits are unproven. Pilot validation is required. Existing-system integration is future work. Seller handoff conveys findings, not refund/payment approval.</a:t>
            </a:r>
          </a:p>
          <a:p>
            <a:r>
              <a:rPr lang="en-US"/>
              <a:t>## Sources and demonstration boundaries</a:t>
            </a:r>
          </a:p>
          <a:p>
            <a:r>
              <a:rPr lang="en-US"/>
              <a:t>TARGET Unspoken appendix. Exact source blocks MUST include these actual URLs, not generic homepages or missing-source disclaimers: Ofcom (22 Oct 2025) https://www.ofcom.org.uk/post/deliveries-and-charges/best-and-worst-parcel-firms-for-customer-satisfaction-revealed-2025 ; Zendesk https://www.zendesk.com/service/ticketing-system/ ; AfterShip https://support.aftership.com/en/tracking/articles/17126856-set-up-exception-handling-settings . Use clickable descriptive titles linked to exact URLs if full links crowd. State UK measures separate, fictional personas, UI simulated, commercial ROI assumptions and reputation benefits unproven, future integration, no refund/payment approval. Source URLs ARE supplied here.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UNSPOKEN APPENDIX — excluded from 5:00 main presentation. No automatic advance. Use only for questions and source verification.</a:t>
            </a:r>
          </a:p>
          <a:p>
            <a:r>
              <a:rPr lang="en-US"/>
              <a:t>SOURCE LINKS (preserved exactly):</a:t>
            </a:r>
          </a:p>
          <a:p>
            <a:r>
              <a:rPr lang="en-US"/>
              <a:t>Ofcom (22 Oct 2025) https://www.ofcom.org.uk/post/deliveries-and-charges/best-and-worst-parcel-firms-for-customer-satisfaction-revealed-2025</a:t>
            </a:r>
          </a:p>
          <a:p>
            <a:r>
              <a:rPr lang="en-US"/>
              <a:t>Zendesk https://www.zendesk.com/service/ticketing-system/</a:t>
            </a:r>
          </a:p>
          <a:p>
            <a:r>
              <a:rPr lang="en-US"/>
              <a:t>AfterShip https://support.aftership.com/en/tracking/articles/17126856-set-up-exception-handling-settings</a:t>
            </a:r>
          </a:p>
          <a:p>
            <a:r>
              <a:rPr lang="en-US"/>
              <a:t>BOUNDARIES: UK delivery-issue experience over the previous SIX MONTHS and complaints-handling satisfaction are separate measures, not a parcel failure rate or funnel and not Myanmar estimates. Personas are fictional. UI is simulated with demo data. Commercial ROI inputs are illustrative assumptions, not observed results; pricing, willingness to pay and reputation benefits are unproven. Pilot validation is required. Existing-system integration is future work. Seller handoff conveys findings, not refund/payment approval.</a:t>
            </a:r>
          </a:p>
          <a:p>
            <a:r>
              <a:rPr lang="en-US"/>
              <a:t>## Sources and demonstration boundaries</a:t>
            </a:r>
          </a:p>
          <a:p>
            <a:r>
              <a:rPr lang="en-US"/>
              <a:t>TARGET Unspoken appendix. Exact source blocks MUST include these actual URLs, not generic homepages or missing-source disclaimers: Ofcom (22 Oct 2025) https://www.ofcom.org.uk/post/deliveries-and-charges/best-and-worst-parcel-firms-for-customer-satisfaction-revealed-2025 ; Zendesk https://www.zendesk.com/service/ticketing-system/ ; AfterShip https://support.aftership.com/en/tracking/articles/17126856-set-up-exception-handling-settings . Use clickable descriptive titles linked to exact URLs if full links crowd. State UK measures separate, fictional personas, UI simulated, commercial ROI assumptions and reputation benefits unproven, future integration, no refund/payment approval. Source URLs ARE supplied here.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hyperlink" Target="https://www.ofcom.org.uk/post/deliveries-and-charges/best-and-worst-parcel-firms-for-customer-satisfaction-revealed-2025"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21.jpe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ofcom.org.uk/post/deliveries-and-charges/best-and-worst-parcel-firms-for-customer-satisfaction-revealed-2025"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hyperlink" Target="https://support.aftership.com/en/tracking/articles/17126856-set-up-exception-handling-settings" TargetMode="External"/><Relationship Id="rId4" Type="http://schemas.openxmlformats.org/officeDocument/2006/relationships/hyperlink" Target="https://www.zendesk.com/service/ticketing-system/"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6000"/>
            </a:blip>
            <a:stretch>
              <a:fillRect t="-29424" b="-48353"/>
            </a:stretch>
          </a:blipFill>
        </p:spPr>
      </p:sp>
      <p:sp>
        <p:nvSpPr>
          <p:cNvPr id="3" name="Freeform 3"/>
          <p:cNvSpPr/>
          <p:nvPr/>
        </p:nvSpPr>
        <p:spPr>
          <a:xfrm>
            <a:off x="1028700" y="5887562"/>
            <a:ext cx="2187560" cy="229572"/>
          </a:xfrm>
          <a:custGeom>
            <a:avLst/>
            <a:gdLst/>
            <a:ahLst/>
            <a:cxnLst/>
            <a:rect l="l" t="t" r="r" b="b"/>
            <a:pathLst>
              <a:path w="2187560" h="229572">
                <a:moveTo>
                  <a:pt x="0" y="0"/>
                </a:moveTo>
                <a:lnTo>
                  <a:pt x="2187560" y="0"/>
                </a:lnTo>
                <a:lnTo>
                  <a:pt x="2187560" y="229572"/>
                </a:lnTo>
                <a:lnTo>
                  <a:pt x="0" y="229572"/>
                </a:lnTo>
                <a:lnTo>
                  <a:pt x="0" y="0"/>
                </a:lnTo>
                <a:close/>
              </a:path>
            </a:pathLst>
          </a:custGeom>
          <a:blipFill>
            <a:blip r:embed="rId3"/>
            <a:stretch>
              <a:fillRect/>
            </a:stretch>
          </a:blipFill>
        </p:spPr>
      </p:sp>
      <p:grpSp>
        <p:nvGrpSpPr>
          <p:cNvPr id="4" name="Group 4"/>
          <p:cNvGrpSpPr/>
          <p:nvPr/>
        </p:nvGrpSpPr>
        <p:grpSpPr>
          <a:xfrm>
            <a:off x="9878439" y="3072554"/>
            <a:ext cx="5394504" cy="6947104"/>
            <a:chOff x="0" y="0"/>
            <a:chExt cx="7192672" cy="9262805"/>
          </a:xfrm>
        </p:grpSpPr>
        <p:sp>
          <p:nvSpPr>
            <p:cNvPr id="5" name="Freeform 5"/>
            <p:cNvSpPr/>
            <p:nvPr/>
          </p:nvSpPr>
          <p:spPr>
            <a:xfrm>
              <a:off x="2354904" y="451772"/>
              <a:ext cx="4837769" cy="7728182"/>
            </a:xfrm>
            <a:custGeom>
              <a:avLst/>
              <a:gdLst/>
              <a:ahLst/>
              <a:cxnLst/>
              <a:rect l="l" t="t" r="r" b="b"/>
              <a:pathLst>
                <a:path w="4837769" h="7728182">
                  <a:moveTo>
                    <a:pt x="0" y="0"/>
                  </a:moveTo>
                  <a:lnTo>
                    <a:pt x="4837768" y="0"/>
                  </a:lnTo>
                  <a:lnTo>
                    <a:pt x="4837768" y="7728182"/>
                  </a:lnTo>
                  <a:lnTo>
                    <a:pt x="0" y="7728182"/>
                  </a:lnTo>
                  <a:lnTo>
                    <a:pt x="0" y="0"/>
                  </a:lnTo>
                  <a:close/>
                </a:path>
              </a:pathLst>
            </a:custGeom>
            <a:blipFill>
              <a:blip r:embed="rId4"/>
              <a:stretch>
                <a:fillRect/>
              </a:stretch>
            </a:blipFill>
          </p:spPr>
        </p:sp>
        <p:sp>
          <p:nvSpPr>
            <p:cNvPr id="6" name="Freeform 6"/>
            <p:cNvSpPr/>
            <p:nvPr/>
          </p:nvSpPr>
          <p:spPr>
            <a:xfrm>
              <a:off x="475279" y="5505102"/>
              <a:ext cx="5001934" cy="3757703"/>
            </a:xfrm>
            <a:custGeom>
              <a:avLst/>
              <a:gdLst/>
              <a:ahLst/>
              <a:cxnLst/>
              <a:rect l="l" t="t" r="r" b="b"/>
              <a:pathLst>
                <a:path w="5001934" h="3757703">
                  <a:moveTo>
                    <a:pt x="0" y="0"/>
                  </a:moveTo>
                  <a:lnTo>
                    <a:pt x="5001934" y="0"/>
                  </a:lnTo>
                  <a:lnTo>
                    <a:pt x="5001934" y="3757703"/>
                  </a:lnTo>
                  <a:lnTo>
                    <a:pt x="0" y="3757703"/>
                  </a:lnTo>
                  <a:lnTo>
                    <a:pt x="0" y="0"/>
                  </a:lnTo>
                  <a:close/>
                </a:path>
              </a:pathLst>
            </a:custGeom>
            <a:blipFill>
              <a:blip r:embed="rId5"/>
              <a:stretch>
                <a:fillRect/>
              </a:stretch>
            </a:blipFill>
          </p:spPr>
        </p:sp>
        <p:grpSp>
          <p:nvGrpSpPr>
            <p:cNvPr id="7" name="Group 7"/>
            <p:cNvGrpSpPr>
              <a:grpSpLocks noChangeAspect="1"/>
            </p:cNvGrpSpPr>
            <p:nvPr/>
          </p:nvGrpSpPr>
          <p:grpSpPr>
            <a:xfrm rot="1182934">
              <a:off x="537373" y="336624"/>
              <a:ext cx="2628662" cy="3642615"/>
              <a:chOff x="0" y="0"/>
              <a:chExt cx="4734560" cy="6560820"/>
            </a:xfrm>
          </p:grpSpPr>
          <p:sp>
            <p:nvSpPr>
              <p:cNvPr id="8" name="Freeform 8"/>
              <p:cNvSpPr/>
              <p:nvPr/>
            </p:nvSpPr>
            <p:spPr>
              <a:xfrm>
                <a:off x="36830" y="50800"/>
                <a:ext cx="4645660" cy="6473190"/>
              </a:xfrm>
              <a:custGeom>
                <a:avLst/>
                <a:gdLst/>
                <a:ahLst/>
                <a:cxnLst/>
                <a:rect l="l" t="t" r="r" b="b"/>
                <a:pathLst>
                  <a:path w="4645660" h="6473190">
                    <a:moveTo>
                      <a:pt x="4368800" y="0"/>
                    </a:moveTo>
                    <a:lnTo>
                      <a:pt x="276860" y="0"/>
                    </a:lnTo>
                    <a:cubicBezTo>
                      <a:pt x="124460" y="0"/>
                      <a:pt x="0" y="123190"/>
                      <a:pt x="0" y="276860"/>
                    </a:cubicBezTo>
                    <a:lnTo>
                      <a:pt x="0" y="6196330"/>
                    </a:lnTo>
                    <a:cubicBezTo>
                      <a:pt x="0" y="6350000"/>
                      <a:pt x="124460" y="6473190"/>
                      <a:pt x="276860" y="6473190"/>
                    </a:cubicBezTo>
                    <a:lnTo>
                      <a:pt x="4368800" y="6473190"/>
                    </a:lnTo>
                    <a:cubicBezTo>
                      <a:pt x="4522470" y="6473190"/>
                      <a:pt x="4645660" y="6348730"/>
                      <a:pt x="4645660" y="6196330"/>
                    </a:cubicBezTo>
                    <a:lnTo>
                      <a:pt x="4645660" y="276860"/>
                    </a:lnTo>
                    <a:cubicBezTo>
                      <a:pt x="4645660" y="123190"/>
                      <a:pt x="4522470" y="0"/>
                      <a:pt x="4368800" y="0"/>
                    </a:cubicBezTo>
                    <a:close/>
                    <a:moveTo>
                      <a:pt x="4425950" y="6156960"/>
                    </a:moveTo>
                    <a:cubicBezTo>
                      <a:pt x="4425950" y="6212840"/>
                      <a:pt x="4380230" y="6258560"/>
                      <a:pt x="4324350" y="6258560"/>
                    </a:cubicBezTo>
                    <a:lnTo>
                      <a:pt x="321310" y="6258560"/>
                    </a:lnTo>
                    <a:cubicBezTo>
                      <a:pt x="265430" y="6258560"/>
                      <a:pt x="219710" y="6212840"/>
                      <a:pt x="219710" y="6156960"/>
                    </a:cubicBezTo>
                    <a:lnTo>
                      <a:pt x="219710" y="316230"/>
                    </a:lnTo>
                    <a:cubicBezTo>
                      <a:pt x="219710" y="260350"/>
                      <a:pt x="265430" y="214630"/>
                      <a:pt x="321310" y="214630"/>
                    </a:cubicBezTo>
                    <a:lnTo>
                      <a:pt x="4325620" y="214630"/>
                    </a:lnTo>
                    <a:cubicBezTo>
                      <a:pt x="4381500" y="214630"/>
                      <a:pt x="4427220" y="260350"/>
                      <a:pt x="4427220" y="316230"/>
                    </a:cubicBezTo>
                    <a:lnTo>
                      <a:pt x="4427220" y="6156960"/>
                    </a:lnTo>
                    <a:close/>
                  </a:path>
                </a:pathLst>
              </a:custGeom>
              <a:solidFill>
                <a:srgbClr val="010101"/>
              </a:solidFill>
            </p:spPr>
          </p:sp>
          <p:sp>
            <p:nvSpPr>
              <p:cNvPr id="9" name="Freeform 9"/>
              <p:cNvSpPr/>
              <p:nvPr/>
            </p:nvSpPr>
            <p:spPr>
              <a:xfrm>
                <a:off x="0" y="16511"/>
                <a:ext cx="4716780" cy="6544310"/>
              </a:xfrm>
              <a:custGeom>
                <a:avLst/>
                <a:gdLst/>
                <a:ahLst/>
                <a:cxnLst/>
                <a:rect l="l" t="t" r="r" b="b"/>
                <a:pathLst>
                  <a:path w="4716780" h="6544310">
                    <a:moveTo>
                      <a:pt x="4395470" y="36829"/>
                    </a:moveTo>
                    <a:cubicBezTo>
                      <a:pt x="4552950" y="36829"/>
                      <a:pt x="4681220" y="165099"/>
                      <a:pt x="4681220" y="322579"/>
                    </a:cubicBezTo>
                    <a:lnTo>
                      <a:pt x="4681220" y="6222999"/>
                    </a:lnTo>
                    <a:cubicBezTo>
                      <a:pt x="4681220" y="6380479"/>
                      <a:pt x="4552950" y="6508750"/>
                      <a:pt x="4395470" y="6508750"/>
                    </a:cubicBezTo>
                    <a:lnTo>
                      <a:pt x="321310" y="6508750"/>
                    </a:lnTo>
                    <a:cubicBezTo>
                      <a:pt x="163830" y="6508750"/>
                      <a:pt x="35560" y="6380480"/>
                      <a:pt x="35560" y="6223000"/>
                    </a:cubicBezTo>
                    <a:lnTo>
                      <a:pt x="35560" y="322580"/>
                    </a:lnTo>
                    <a:cubicBezTo>
                      <a:pt x="35560" y="165100"/>
                      <a:pt x="163830" y="36830"/>
                      <a:pt x="321310" y="36830"/>
                    </a:cubicBezTo>
                    <a:lnTo>
                      <a:pt x="4395470" y="36830"/>
                    </a:lnTo>
                    <a:moveTo>
                      <a:pt x="4395470" y="0"/>
                    </a:moveTo>
                    <a:lnTo>
                      <a:pt x="321310" y="0"/>
                    </a:lnTo>
                    <a:cubicBezTo>
                      <a:pt x="143510" y="0"/>
                      <a:pt x="0" y="144780"/>
                      <a:pt x="0" y="322580"/>
                    </a:cubicBezTo>
                    <a:lnTo>
                      <a:pt x="0" y="6223000"/>
                    </a:lnTo>
                    <a:cubicBezTo>
                      <a:pt x="0" y="6400800"/>
                      <a:pt x="143510" y="6544309"/>
                      <a:pt x="321310" y="6544309"/>
                    </a:cubicBezTo>
                    <a:lnTo>
                      <a:pt x="4395470" y="6544309"/>
                    </a:lnTo>
                    <a:cubicBezTo>
                      <a:pt x="4573270" y="6544309"/>
                      <a:pt x="4716780" y="6400800"/>
                      <a:pt x="4716780" y="6223000"/>
                    </a:cubicBezTo>
                    <a:lnTo>
                      <a:pt x="4716780" y="322580"/>
                    </a:lnTo>
                    <a:cubicBezTo>
                      <a:pt x="4716780" y="144780"/>
                      <a:pt x="4573270" y="0"/>
                      <a:pt x="4395470" y="0"/>
                    </a:cubicBezTo>
                    <a:close/>
                  </a:path>
                </a:pathLst>
              </a:custGeom>
              <a:solidFill>
                <a:srgbClr val="565656"/>
              </a:solidFill>
            </p:spPr>
          </p:sp>
          <p:sp>
            <p:nvSpPr>
              <p:cNvPr id="10" name="Freeform 10"/>
              <p:cNvSpPr/>
              <p:nvPr/>
            </p:nvSpPr>
            <p:spPr>
              <a:xfrm>
                <a:off x="256540" y="265430"/>
                <a:ext cx="4207510" cy="6043930"/>
              </a:xfrm>
              <a:custGeom>
                <a:avLst/>
                <a:gdLst/>
                <a:ahLst/>
                <a:cxnLst/>
                <a:rect l="l" t="t" r="r" b="b"/>
                <a:pathLst>
                  <a:path w="4207510" h="6043930">
                    <a:moveTo>
                      <a:pt x="4206240" y="5942330"/>
                    </a:moveTo>
                    <a:cubicBezTo>
                      <a:pt x="4206240" y="5998210"/>
                      <a:pt x="4160520" y="6043930"/>
                      <a:pt x="4104640" y="6043930"/>
                    </a:cubicBezTo>
                    <a:lnTo>
                      <a:pt x="101600" y="6043930"/>
                    </a:lnTo>
                    <a:cubicBezTo>
                      <a:pt x="45720" y="6043930"/>
                      <a:pt x="0" y="5998210"/>
                      <a:pt x="0" y="5942330"/>
                    </a:cubicBezTo>
                    <a:lnTo>
                      <a:pt x="0" y="101600"/>
                    </a:lnTo>
                    <a:cubicBezTo>
                      <a:pt x="0" y="45720"/>
                      <a:pt x="45720" y="0"/>
                      <a:pt x="101600" y="0"/>
                    </a:cubicBezTo>
                    <a:lnTo>
                      <a:pt x="4105910" y="0"/>
                    </a:lnTo>
                    <a:cubicBezTo>
                      <a:pt x="4161790" y="0"/>
                      <a:pt x="4207510" y="45720"/>
                      <a:pt x="4207510" y="101600"/>
                    </a:cubicBezTo>
                    <a:lnTo>
                      <a:pt x="4207510" y="5942330"/>
                    </a:lnTo>
                    <a:close/>
                  </a:path>
                </a:pathLst>
              </a:custGeom>
              <a:blipFill>
                <a:blip r:embed="rId6"/>
                <a:stretch>
                  <a:fillRect l="-21823" r="-21823"/>
                </a:stretch>
              </a:blipFill>
            </p:spPr>
          </p:sp>
          <p:sp>
            <p:nvSpPr>
              <p:cNvPr id="11" name="Freeform 11"/>
              <p:cNvSpPr/>
              <p:nvPr/>
            </p:nvSpPr>
            <p:spPr>
              <a:xfrm>
                <a:off x="1953089" y="120650"/>
                <a:ext cx="76541" cy="76201"/>
              </a:xfrm>
              <a:custGeom>
                <a:avLst/>
                <a:gdLst/>
                <a:ahLst/>
                <a:cxnLst/>
                <a:rect l="l" t="t" r="r" b="b"/>
                <a:pathLst>
                  <a:path w="76541" h="76201">
                    <a:moveTo>
                      <a:pt x="38271" y="0"/>
                    </a:moveTo>
                    <a:cubicBezTo>
                      <a:pt x="24619" y="-61"/>
                      <a:pt x="11977" y="7187"/>
                      <a:pt x="5133" y="19001"/>
                    </a:cubicBezTo>
                    <a:cubicBezTo>
                      <a:pt x="-1711" y="30814"/>
                      <a:pt x="-1711" y="45386"/>
                      <a:pt x="5133" y="57199"/>
                    </a:cubicBezTo>
                    <a:cubicBezTo>
                      <a:pt x="11977" y="69013"/>
                      <a:pt x="24619" y="76261"/>
                      <a:pt x="38271" y="76200"/>
                    </a:cubicBezTo>
                    <a:cubicBezTo>
                      <a:pt x="51923" y="76261"/>
                      <a:pt x="64565" y="69013"/>
                      <a:pt x="71409" y="57199"/>
                    </a:cubicBezTo>
                    <a:cubicBezTo>
                      <a:pt x="78253" y="45386"/>
                      <a:pt x="78253" y="30814"/>
                      <a:pt x="71409" y="19001"/>
                    </a:cubicBezTo>
                    <a:cubicBezTo>
                      <a:pt x="64565" y="7187"/>
                      <a:pt x="51923" y="-61"/>
                      <a:pt x="38271" y="0"/>
                    </a:cubicBezTo>
                    <a:close/>
                  </a:path>
                </a:pathLst>
              </a:custGeom>
              <a:solidFill>
                <a:srgbClr val="333333"/>
              </a:solidFill>
            </p:spPr>
          </p:sp>
          <p:sp>
            <p:nvSpPr>
              <p:cNvPr id="12" name="Freeform 12"/>
              <p:cNvSpPr/>
              <p:nvPr/>
            </p:nvSpPr>
            <p:spPr>
              <a:xfrm>
                <a:off x="2121925" y="104139"/>
                <a:ext cx="109709" cy="109221"/>
              </a:xfrm>
              <a:custGeom>
                <a:avLst/>
                <a:gdLst/>
                <a:ahLst/>
                <a:cxnLst/>
                <a:rect l="l" t="t" r="r" b="b"/>
                <a:pathLst>
                  <a:path w="109709" h="109221">
                    <a:moveTo>
                      <a:pt x="54855" y="1"/>
                    </a:moveTo>
                    <a:cubicBezTo>
                      <a:pt x="35287" y="-87"/>
                      <a:pt x="17167" y="10303"/>
                      <a:pt x="7357" y="27235"/>
                    </a:cubicBezTo>
                    <a:cubicBezTo>
                      <a:pt x="-2452" y="44168"/>
                      <a:pt x="-2452" y="65054"/>
                      <a:pt x="7357" y="81987"/>
                    </a:cubicBezTo>
                    <a:cubicBezTo>
                      <a:pt x="17167" y="98919"/>
                      <a:pt x="35287" y="109309"/>
                      <a:pt x="54855" y="109221"/>
                    </a:cubicBezTo>
                    <a:cubicBezTo>
                      <a:pt x="74423" y="109309"/>
                      <a:pt x="92543" y="98919"/>
                      <a:pt x="102352" y="81987"/>
                    </a:cubicBezTo>
                    <a:cubicBezTo>
                      <a:pt x="112162" y="65054"/>
                      <a:pt x="112162" y="44168"/>
                      <a:pt x="102352" y="27235"/>
                    </a:cubicBezTo>
                    <a:cubicBezTo>
                      <a:pt x="92543" y="10303"/>
                      <a:pt x="74423" y="-87"/>
                      <a:pt x="54855" y="1"/>
                    </a:cubicBezTo>
                    <a:close/>
                  </a:path>
                </a:pathLst>
              </a:custGeom>
              <a:solidFill>
                <a:srgbClr val="333333"/>
              </a:solidFill>
            </p:spPr>
          </p:sp>
          <p:sp>
            <p:nvSpPr>
              <p:cNvPr id="13" name="Freeform 13"/>
              <p:cNvSpPr/>
              <p:nvPr/>
            </p:nvSpPr>
            <p:spPr>
              <a:xfrm>
                <a:off x="2330313" y="128270"/>
                <a:ext cx="61233" cy="60961"/>
              </a:xfrm>
              <a:custGeom>
                <a:avLst/>
                <a:gdLst/>
                <a:ahLst/>
                <a:cxnLst/>
                <a:rect l="l" t="t" r="r" b="b"/>
                <a:pathLst>
                  <a:path w="61233" h="60961">
                    <a:moveTo>
                      <a:pt x="30617" y="0"/>
                    </a:moveTo>
                    <a:cubicBezTo>
                      <a:pt x="19695" y="-49"/>
                      <a:pt x="9582" y="5750"/>
                      <a:pt x="4107" y="15201"/>
                    </a:cubicBezTo>
                    <a:cubicBezTo>
                      <a:pt x="-1369" y="24651"/>
                      <a:pt x="-1369" y="36309"/>
                      <a:pt x="4107" y="45759"/>
                    </a:cubicBezTo>
                    <a:cubicBezTo>
                      <a:pt x="9582" y="55210"/>
                      <a:pt x="19695" y="61009"/>
                      <a:pt x="30617" y="60960"/>
                    </a:cubicBezTo>
                    <a:cubicBezTo>
                      <a:pt x="41539" y="61009"/>
                      <a:pt x="51652" y="55210"/>
                      <a:pt x="57127" y="45759"/>
                    </a:cubicBezTo>
                    <a:cubicBezTo>
                      <a:pt x="62602" y="36309"/>
                      <a:pt x="62602" y="24651"/>
                      <a:pt x="57127" y="15201"/>
                    </a:cubicBezTo>
                    <a:cubicBezTo>
                      <a:pt x="51652" y="5750"/>
                      <a:pt x="41539" y="-49"/>
                      <a:pt x="30617" y="0"/>
                    </a:cubicBezTo>
                    <a:close/>
                  </a:path>
                </a:pathLst>
              </a:custGeom>
              <a:solidFill>
                <a:srgbClr val="333333"/>
              </a:solidFill>
            </p:spPr>
          </p:sp>
          <p:sp>
            <p:nvSpPr>
              <p:cNvPr id="14" name="Freeform 14"/>
              <p:cNvSpPr/>
              <p:nvPr/>
            </p:nvSpPr>
            <p:spPr>
              <a:xfrm>
                <a:off x="2346897" y="144780"/>
                <a:ext cx="28065" cy="27940"/>
              </a:xfrm>
              <a:custGeom>
                <a:avLst/>
                <a:gdLst/>
                <a:ahLst/>
                <a:cxnLst/>
                <a:rect l="l" t="t" r="r" b="b"/>
                <a:pathLst>
                  <a:path w="28065" h="27940">
                    <a:moveTo>
                      <a:pt x="14033" y="0"/>
                    </a:moveTo>
                    <a:cubicBezTo>
                      <a:pt x="9027" y="-22"/>
                      <a:pt x="4392" y="2635"/>
                      <a:pt x="1882" y="6967"/>
                    </a:cubicBezTo>
                    <a:cubicBezTo>
                      <a:pt x="-627" y="11298"/>
                      <a:pt x="-627" y="16642"/>
                      <a:pt x="1882" y="20973"/>
                    </a:cubicBezTo>
                    <a:cubicBezTo>
                      <a:pt x="4392" y="25305"/>
                      <a:pt x="9027" y="27962"/>
                      <a:pt x="14033" y="27940"/>
                    </a:cubicBezTo>
                    <a:cubicBezTo>
                      <a:pt x="19039" y="27962"/>
                      <a:pt x="23674" y="25305"/>
                      <a:pt x="26184" y="20973"/>
                    </a:cubicBezTo>
                    <a:cubicBezTo>
                      <a:pt x="28693" y="16642"/>
                      <a:pt x="28693" y="11298"/>
                      <a:pt x="26184" y="6967"/>
                    </a:cubicBezTo>
                    <a:cubicBezTo>
                      <a:pt x="23674" y="2635"/>
                      <a:pt x="19039" y="-22"/>
                      <a:pt x="14033" y="0"/>
                    </a:cubicBezTo>
                    <a:close/>
                  </a:path>
                </a:pathLst>
              </a:custGeom>
              <a:solidFill>
                <a:srgbClr val="E9E8E9"/>
              </a:solidFill>
            </p:spPr>
          </p:sp>
          <p:sp>
            <p:nvSpPr>
              <p:cNvPr id="15" name="Freeform 15"/>
              <p:cNvSpPr/>
              <p:nvPr/>
            </p:nvSpPr>
            <p:spPr>
              <a:xfrm>
                <a:off x="2344386" y="144780"/>
                <a:ext cx="15308" cy="15240"/>
              </a:xfrm>
              <a:custGeom>
                <a:avLst/>
                <a:gdLst/>
                <a:ahLst/>
                <a:cxnLst/>
                <a:rect l="l" t="t" r="r" b="b"/>
                <a:pathLst>
                  <a:path w="15308" h="15240">
                    <a:moveTo>
                      <a:pt x="7654" y="0"/>
                    </a:moveTo>
                    <a:cubicBezTo>
                      <a:pt x="4924" y="-12"/>
                      <a:pt x="2395" y="1437"/>
                      <a:pt x="1026" y="3800"/>
                    </a:cubicBezTo>
                    <a:cubicBezTo>
                      <a:pt x="-342" y="6163"/>
                      <a:pt x="-342" y="9077"/>
                      <a:pt x="1026" y="11440"/>
                    </a:cubicBezTo>
                    <a:cubicBezTo>
                      <a:pt x="2395" y="13803"/>
                      <a:pt x="4924" y="15252"/>
                      <a:pt x="7654" y="15240"/>
                    </a:cubicBezTo>
                    <a:cubicBezTo>
                      <a:pt x="10384" y="15252"/>
                      <a:pt x="12913" y="13803"/>
                      <a:pt x="14281" y="11440"/>
                    </a:cubicBezTo>
                    <a:cubicBezTo>
                      <a:pt x="15650" y="9077"/>
                      <a:pt x="15650" y="6163"/>
                      <a:pt x="14281" y="3800"/>
                    </a:cubicBezTo>
                    <a:cubicBezTo>
                      <a:pt x="12913" y="1437"/>
                      <a:pt x="10384" y="-12"/>
                      <a:pt x="7654" y="0"/>
                    </a:cubicBezTo>
                    <a:close/>
                  </a:path>
                </a:pathLst>
              </a:custGeom>
              <a:solidFill>
                <a:srgbClr val="010101"/>
              </a:solidFill>
            </p:spPr>
          </p:sp>
          <p:sp>
            <p:nvSpPr>
              <p:cNvPr id="16" name="Freeform 16"/>
              <p:cNvSpPr/>
              <p:nvPr/>
            </p:nvSpPr>
            <p:spPr>
              <a:xfrm>
                <a:off x="4716780" y="534670"/>
                <a:ext cx="16622" cy="278130"/>
              </a:xfrm>
              <a:custGeom>
                <a:avLst/>
                <a:gdLst/>
                <a:ahLst/>
                <a:cxnLst/>
                <a:rect l="l" t="t" r="r" b="b"/>
                <a:pathLst>
                  <a:path w="16622" h="278130">
                    <a:moveTo>
                      <a:pt x="0" y="0"/>
                    </a:moveTo>
                    <a:lnTo>
                      <a:pt x="0" y="278130"/>
                    </a:lnTo>
                    <a:cubicBezTo>
                      <a:pt x="19050" y="278130"/>
                      <a:pt x="16510" y="262890"/>
                      <a:pt x="16510" y="243840"/>
                    </a:cubicBezTo>
                    <a:lnTo>
                      <a:pt x="16510" y="35560"/>
                    </a:lnTo>
                    <a:cubicBezTo>
                      <a:pt x="16510" y="16510"/>
                      <a:pt x="19050" y="0"/>
                      <a:pt x="0" y="0"/>
                    </a:cubicBezTo>
                    <a:close/>
                  </a:path>
                </a:pathLst>
              </a:custGeom>
              <a:solidFill>
                <a:srgbClr val="424242"/>
              </a:solidFill>
            </p:spPr>
          </p:sp>
          <p:sp>
            <p:nvSpPr>
              <p:cNvPr id="17" name="Freeform 17"/>
              <p:cNvSpPr/>
              <p:nvPr/>
            </p:nvSpPr>
            <p:spPr>
              <a:xfrm>
                <a:off x="4716780" y="861060"/>
                <a:ext cx="16622" cy="278130"/>
              </a:xfrm>
              <a:custGeom>
                <a:avLst/>
                <a:gdLst/>
                <a:ahLst/>
                <a:cxnLst/>
                <a:rect l="l" t="t" r="r" b="b"/>
                <a:pathLst>
                  <a:path w="16622" h="278130">
                    <a:moveTo>
                      <a:pt x="0" y="0"/>
                    </a:moveTo>
                    <a:lnTo>
                      <a:pt x="0" y="278130"/>
                    </a:lnTo>
                    <a:cubicBezTo>
                      <a:pt x="19050" y="278130"/>
                      <a:pt x="16510" y="262890"/>
                      <a:pt x="16510" y="243840"/>
                    </a:cubicBezTo>
                    <a:lnTo>
                      <a:pt x="16510" y="35560"/>
                    </a:lnTo>
                    <a:cubicBezTo>
                      <a:pt x="16510" y="16510"/>
                      <a:pt x="19050" y="0"/>
                      <a:pt x="0" y="0"/>
                    </a:cubicBezTo>
                    <a:close/>
                  </a:path>
                </a:pathLst>
              </a:custGeom>
              <a:solidFill>
                <a:srgbClr val="424242"/>
              </a:solidFill>
            </p:spPr>
          </p:sp>
          <p:sp>
            <p:nvSpPr>
              <p:cNvPr id="18" name="Freeform 18"/>
              <p:cNvSpPr/>
              <p:nvPr/>
            </p:nvSpPr>
            <p:spPr>
              <a:xfrm>
                <a:off x="4064000" y="-113"/>
                <a:ext cx="320040" cy="16623"/>
              </a:xfrm>
              <a:custGeom>
                <a:avLst/>
                <a:gdLst/>
                <a:ahLst/>
                <a:cxnLst/>
                <a:rect l="l" t="t" r="r" b="b"/>
                <a:pathLst>
                  <a:path w="320040" h="16623">
                    <a:moveTo>
                      <a:pt x="0" y="16623"/>
                    </a:moveTo>
                    <a:lnTo>
                      <a:pt x="320040" y="16623"/>
                    </a:lnTo>
                    <a:cubicBezTo>
                      <a:pt x="320040" y="-2427"/>
                      <a:pt x="304800" y="113"/>
                      <a:pt x="285750" y="113"/>
                    </a:cubicBezTo>
                    <a:lnTo>
                      <a:pt x="34290" y="113"/>
                    </a:lnTo>
                    <a:cubicBezTo>
                      <a:pt x="15240" y="113"/>
                      <a:pt x="0" y="-2427"/>
                      <a:pt x="0" y="16623"/>
                    </a:cubicBezTo>
                    <a:close/>
                  </a:path>
                </a:pathLst>
              </a:custGeom>
              <a:solidFill>
                <a:srgbClr val="424242"/>
              </a:solidFill>
            </p:spPr>
          </p:sp>
        </p:grpSp>
      </p:grpSp>
      <p:sp>
        <p:nvSpPr>
          <p:cNvPr id="19" name="TextBox 19"/>
          <p:cNvSpPr txBox="1"/>
          <p:nvPr/>
        </p:nvSpPr>
        <p:spPr>
          <a:xfrm>
            <a:off x="1028700" y="1114425"/>
            <a:ext cx="8140045" cy="915087"/>
          </a:xfrm>
          <a:prstGeom prst="rect">
            <a:avLst/>
          </a:prstGeom>
        </p:spPr>
        <p:txBody>
          <a:bodyPr lIns="0" tIns="0" rIns="0" bIns="0" rtlCol="0" anchor="t">
            <a:spAutoFit/>
          </a:bodyPr>
          <a:lstStyle/>
          <a:p>
            <a:pPr marL="0" lvl="0" indent="0" algn="l">
              <a:lnSpc>
                <a:spcPts val="6947"/>
              </a:lnSpc>
            </a:pPr>
            <a:r>
              <a:rPr lang="en-US" sz="6617" b="1" spc="-397">
                <a:solidFill>
                  <a:srgbClr val="F6F6F6"/>
                </a:solidFill>
                <a:latin typeface="Roboto Bold"/>
                <a:ea typeface="Roboto Bold"/>
                <a:cs typeface="Roboto Bold"/>
                <a:sym typeface="Roboto Bold"/>
              </a:rPr>
              <a:t>ResolveMate</a:t>
            </a:r>
          </a:p>
        </p:txBody>
      </p:sp>
      <p:sp>
        <p:nvSpPr>
          <p:cNvPr id="20" name="TextBox 20"/>
          <p:cNvSpPr txBox="1"/>
          <p:nvPr/>
        </p:nvSpPr>
        <p:spPr>
          <a:xfrm>
            <a:off x="1028700" y="4494767"/>
            <a:ext cx="9829608" cy="545960"/>
          </a:xfrm>
          <a:prstGeom prst="rect">
            <a:avLst/>
          </a:prstGeom>
        </p:spPr>
        <p:txBody>
          <a:bodyPr lIns="0" tIns="0" rIns="0" bIns="0" rtlCol="0" anchor="t">
            <a:spAutoFit/>
          </a:bodyPr>
          <a:lstStyle/>
          <a:p>
            <a:pPr marL="0" lvl="0" indent="0" algn="l">
              <a:lnSpc>
                <a:spcPts val="4181"/>
              </a:lnSpc>
            </a:pPr>
            <a:r>
              <a:rPr lang="en-US" sz="3983" b="1" spc="-239">
                <a:solidFill>
                  <a:srgbClr val="F18320"/>
                </a:solidFill>
                <a:latin typeface="Roboto Bold"/>
                <a:ea typeface="Roboto Bold"/>
                <a:cs typeface="Roboto Bold"/>
                <a:sym typeface="Roboto Bold"/>
              </a:rPr>
              <a:t>One Workspace for Delivery Complaints</a:t>
            </a:r>
          </a:p>
        </p:txBody>
      </p:sp>
      <p:sp>
        <p:nvSpPr>
          <p:cNvPr id="21" name="TextBox 21"/>
          <p:cNvSpPr txBox="1"/>
          <p:nvPr/>
        </p:nvSpPr>
        <p:spPr>
          <a:xfrm>
            <a:off x="1028700" y="7509742"/>
            <a:ext cx="4272213" cy="381001"/>
          </a:xfrm>
          <a:prstGeom prst="rect">
            <a:avLst/>
          </a:prstGeom>
        </p:spPr>
        <p:txBody>
          <a:bodyPr lIns="0" tIns="0" rIns="0" bIns="0" rtlCol="0" anchor="t">
            <a:spAutoFit/>
          </a:bodyPr>
          <a:lstStyle/>
          <a:p>
            <a:pPr marL="0" lvl="0" indent="0" algn="l">
              <a:lnSpc>
                <a:spcPts val="2895"/>
              </a:lnSpc>
            </a:pPr>
            <a:r>
              <a:rPr lang="en-US" sz="2757" b="1" spc="-110" dirty="0">
                <a:solidFill>
                  <a:srgbClr val="F18320"/>
                </a:solidFill>
                <a:latin typeface="Roboto"/>
                <a:ea typeface="Roboto"/>
                <a:cs typeface="Roboto"/>
                <a:sym typeface="Roboto"/>
              </a:rPr>
              <a:t>Presented by: Aquaholics</a:t>
            </a:r>
          </a:p>
        </p:txBody>
      </p:sp>
      <p:sp>
        <p:nvSpPr>
          <p:cNvPr id="22" name="TextBox 22"/>
          <p:cNvSpPr txBox="1"/>
          <p:nvPr/>
        </p:nvSpPr>
        <p:spPr>
          <a:xfrm>
            <a:off x="1028700" y="8138393"/>
            <a:ext cx="2766279" cy="381001"/>
          </a:xfrm>
          <a:prstGeom prst="rect">
            <a:avLst/>
          </a:prstGeom>
        </p:spPr>
        <p:txBody>
          <a:bodyPr lIns="0" tIns="0" rIns="0" bIns="0" rtlCol="0" anchor="t">
            <a:spAutoFit/>
          </a:bodyPr>
          <a:lstStyle/>
          <a:p>
            <a:pPr marL="0" lvl="0" indent="0" algn="l">
              <a:lnSpc>
                <a:spcPts val="2895"/>
              </a:lnSpc>
            </a:pPr>
            <a:r>
              <a:rPr lang="en-US" sz="2757" spc="-110">
                <a:solidFill>
                  <a:srgbClr val="F6F6F6"/>
                </a:solidFill>
                <a:latin typeface="Roboto"/>
                <a:ea typeface="Roboto"/>
                <a:cs typeface="Roboto"/>
                <a:sym typeface="Roboto"/>
              </a:rPr>
              <a:t>October, 2026</a:t>
            </a:r>
          </a:p>
        </p:txBody>
      </p:sp>
      <p:sp>
        <p:nvSpPr>
          <p:cNvPr id="23" name="TextBox 23"/>
          <p:cNvSpPr txBox="1"/>
          <p:nvPr/>
        </p:nvSpPr>
        <p:spPr>
          <a:xfrm>
            <a:off x="1028700" y="2145454"/>
            <a:ext cx="11726655" cy="1749425"/>
          </a:xfrm>
          <a:prstGeom prst="rect">
            <a:avLst/>
          </a:prstGeom>
        </p:spPr>
        <p:txBody>
          <a:bodyPr lIns="0" tIns="0" rIns="0" bIns="0" rtlCol="0" anchor="t">
            <a:spAutoFit/>
          </a:bodyPr>
          <a:lstStyle/>
          <a:p>
            <a:pPr algn="l">
              <a:lnSpc>
                <a:spcPts val="7000"/>
              </a:lnSpc>
            </a:pPr>
            <a:r>
              <a:rPr lang="en-US" sz="5000" b="1">
                <a:solidFill>
                  <a:srgbClr val="FFFFFF"/>
                </a:solidFill>
                <a:latin typeface="Roboto Bold"/>
                <a:ea typeface="Roboto Bold"/>
                <a:cs typeface="Roboto Bold"/>
                <a:sym typeface="Roboto Bold"/>
              </a:rPr>
              <a:t>Smarter Logistics Support, Faster Case Resolution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31999"/>
            </a:blip>
            <a:stretch>
              <a:fillRect t="-34434" b="-43343"/>
            </a:stretch>
          </a:blipFill>
        </p:spPr>
      </p:sp>
      <p:grpSp>
        <p:nvGrpSpPr>
          <p:cNvPr id="3" name="Group 3"/>
          <p:cNvGrpSpPr/>
          <p:nvPr/>
        </p:nvGrpSpPr>
        <p:grpSpPr>
          <a:xfrm>
            <a:off x="2112831" y="2431584"/>
            <a:ext cx="2504984" cy="250498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1954" t="-7397" r="-10806" b="-57015"/>
              </a:stretch>
            </a:blipFill>
          </p:spPr>
        </p:sp>
      </p:grpSp>
      <p:grpSp>
        <p:nvGrpSpPr>
          <p:cNvPr id="5" name="Group 5"/>
          <p:cNvGrpSpPr/>
          <p:nvPr/>
        </p:nvGrpSpPr>
        <p:grpSpPr>
          <a:xfrm>
            <a:off x="5963803" y="2431584"/>
            <a:ext cx="2504984" cy="250498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t="-14853" b="-18479"/>
              </a:stretch>
            </a:blipFill>
          </p:spPr>
        </p:sp>
      </p:grpSp>
      <p:grpSp>
        <p:nvGrpSpPr>
          <p:cNvPr id="7" name="Group 7"/>
          <p:cNvGrpSpPr/>
          <p:nvPr/>
        </p:nvGrpSpPr>
        <p:grpSpPr>
          <a:xfrm>
            <a:off x="9816994" y="2431584"/>
            <a:ext cx="2504984" cy="250498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t="-15798" b="-17534"/>
              </a:stretch>
            </a:blipFill>
          </p:spPr>
        </p:sp>
      </p:grpSp>
      <p:grpSp>
        <p:nvGrpSpPr>
          <p:cNvPr id="9" name="Group 9"/>
          <p:cNvGrpSpPr/>
          <p:nvPr/>
        </p:nvGrpSpPr>
        <p:grpSpPr>
          <a:xfrm>
            <a:off x="13670186" y="2431584"/>
            <a:ext cx="2504984" cy="250498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sp>
      </p:grpSp>
      <p:grpSp>
        <p:nvGrpSpPr>
          <p:cNvPr id="11" name="Group 11"/>
          <p:cNvGrpSpPr/>
          <p:nvPr/>
        </p:nvGrpSpPr>
        <p:grpSpPr>
          <a:xfrm>
            <a:off x="3922457" y="5955742"/>
            <a:ext cx="2504984" cy="250498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t="-30000" b="-30000"/>
              </a:stretch>
            </a:blipFill>
          </p:spPr>
        </p:sp>
      </p:grpSp>
      <p:grpSp>
        <p:nvGrpSpPr>
          <p:cNvPr id="13" name="Group 13"/>
          <p:cNvGrpSpPr/>
          <p:nvPr/>
        </p:nvGrpSpPr>
        <p:grpSpPr>
          <a:xfrm>
            <a:off x="7891508" y="5955742"/>
            <a:ext cx="2504984" cy="250498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t="-487" b="-32845"/>
              </a:stretch>
            </a:blipFill>
          </p:spPr>
        </p:sp>
      </p:grpSp>
      <p:grpSp>
        <p:nvGrpSpPr>
          <p:cNvPr id="15" name="Group 15"/>
          <p:cNvGrpSpPr/>
          <p:nvPr/>
        </p:nvGrpSpPr>
        <p:grpSpPr>
          <a:xfrm>
            <a:off x="11860559" y="5895129"/>
            <a:ext cx="2504984" cy="250498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t="-6355" b="-27192"/>
              </a:stretch>
            </a:blipFill>
          </p:spPr>
        </p:sp>
      </p:grpSp>
      <p:sp>
        <p:nvSpPr>
          <p:cNvPr id="17" name="Freeform 17"/>
          <p:cNvSpPr/>
          <p:nvPr/>
        </p:nvSpPr>
        <p:spPr>
          <a:xfrm>
            <a:off x="1954399" y="-420637"/>
            <a:ext cx="3646063" cy="3646063"/>
          </a:xfrm>
          <a:custGeom>
            <a:avLst/>
            <a:gdLst/>
            <a:ahLst/>
            <a:cxnLst/>
            <a:rect l="l" t="t" r="r" b="b"/>
            <a:pathLst>
              <a:path w="3646063" h="3646063">
                <a:moveTo>
                  <a:pt x="0" y="0"/>
                </a:moveTo>
                <a:lnTo>
                  <a:pt x="3646062" y="0"/>
                </a:lnTo>
                <a:lnTo>
                  <a:pt x="3646062" y="3646062"/>
                </a:lnTo>
                <a:lnTo>
                  <a:pt x="0" y="3646062"/>
                </a:lnTo>
                <a:lnTo>
                  <a:pt x="0" y="0"/>
                </a:lnTo>
                <a:close/>
              </a:path>
            </a:pathLst>
          </a:custGeom>
          <a:blipFill>
            <a:blip r:embed="rId2"/>
            <a:stretch>
              <a:fillRect/>
            </a:stretch>
          </a:blipFill>
        </p:spPr>
      </p:sp>
      <p:sp>
        <p:nvSpPr>
          <p:cNvPr id="18" name="TextBox 18"/>
          <p:cNvSpPr txBox="1"/>
          <p:nvPr/>
        </p:nvSpPr>
        <p:spPr>
          <a:xfrm>
            <a:off x="4900992" y="1085850"/>
            <a:ext cx="11532074" cy="837132"/>
          </a:xfrm>
          <a:prstGeom prst="rect">
            <a:avLst/>
          </a:prstGeom>
        </p:spPr>
        <p:txBody>
          <a:bodyPr lIns="0" tIns="0" rIns="0" bIns="0" rtlCol="0" anchor="t">
            <a:spAutoFit/>
          </a:bodyPr>
          <a:lstStyle/>
          <a:p>
            <a:pPr algn="ctr">
              <a:lnSpc>
                <a:spcPts val="6883"/>
              </a:lnSpc>
            </a:pPr>
            <a:r>
              <a:rPr lang="en-US" sz="4917" b="1">
                <a:solidFill>
                  <a:srgbClr val="FFFFFF"/>
                </a:solidFill>
                <a:latin typeface="Roboto Bold"/>
                <a:ea typeface="Roboto Bold"/>
                <a:cs typeface="Roboto Bold"/>
                <a:sym typeface="Roboto Bold"/>
              </a:rPr>
              <a:t>BROUGHT TO YOU BY </a:t>
            </a:r>
            <a:r>
              <a:rPr lang="en-US" sz="4917" b="1">
                <a:solidFill>
                  <a:srgbClr val="F76E04"/>
                </a:solidFill>
                <a:latin typeface="Roboto Bold"/>
                <a:ea typeface="Roboto Bold"/>
                <a:cs typeface="Roboto Bold"/>
                <a:sym typeface="Roboto Bold"/>
              </a:rPr>
              <a:t>AQUAHOLICS</a:t>
            </a:r>
          </a:p>
        </p:txBody>
      </p:sp>
      <p:sp>
        <p:nvSpPr>
          <p:cNvPr id="19" name="TextBox 19"/>
          <p:cNvSpPr txBox="1"/>
          <p:nvPr/>
        </p:nvSpPr>
        <p:spPr>
          <a:xfrm>
            <a:off x="648764" y="5068330"/>
            <a:ext cx="5433118" cy="533400"/>
          </a:xfrm>
          <a:prstGeom prst="rect">
            <a:avLst/>
          </a:prstGeom>
        </p:spPr>
        <p:txBody>
          <a:bodyPr lIns="0" tIns="0" rIns="0" bIns="0" rtlCol="0" anchor="t">
            <a:spAutoFit/>
          </a:bodyPr>
          <a:lstStyle/>
          <a:p>
            <a:pPr algn="ctr">
              <a:lnSpc>
                <a:spcPts val="4200"/>
              </a:lnSpc>
            </a:pPr>
            <a:r>
              <a:rPr lang="en-US" sz="3000" b="1">
                <a:solidFill>
                  <a:srgbClr val="FFFFFF"/>
                </a:solidFill>
                <a:latin typeface="Roboto Bold"/>
                <a:ea typeface="Roboto Bold"/>
                <a:cs typeface="Roboto Bold"/>
                <a:sym typeface="Roboto Bold"/>
              </a:rPr>
              <a:t>Kaung Set Thar</a:t>
            </a:r>
          </a:p>
        </p:txBody>
      </p:sp>
      <p:sp>
        <p:nvSpPr>
          <p:cNvPr id="20" name="TextBox 20"/>
          <p:cNvSpPr txBox="1"/>
          <p:nvPr/>
        </p:nvSpPr>
        <p:spPr>
          <a:xfrm>
            <a:off x="4499736" y="5068330"/>
            <a:ext cx="5433118" cy="533400"/>
          </a:xfrm>
          <a:prstGeom prst="rect">
            <a:avLst/>
          </a:prstGeom>
        </p:spPr>
        <p:txBody>
          <a:bodyPr lIns="0" tIns="0" rIns="0" bIns="0" rtlCol="0" anchor="t">
            <a:spAutoFit/>
          </a:bodyPr>
          <a:lstStyle/>
          <a:p>
            <a:pPr algn="ctr">
              <a:lnSpc>
                <a:spcPts val="4200"/>
              </a:lnSpc>
            </a:pPr>
            <a:r>
              <a:rPr lang="en-US" sz="3000" b="1">
                <a:solidFill>
                  <a:srgbClr val="FFFFFF"/>
                </a:solidFill>
                <a:latin typeface="Roboto Bold"/>
                <a:ea typeface="Roboto Bold"/>
                <a:cs typeface="Roboto Bold"/>
                <a:sym typeface="Roboto Bold"/>
              </a:rPr>
              <a:t>Pan Myo Phyu</a:t>
            </a:r>
          </a:p>
        </p:txBody>
      </p:sp>
      <p:sp>
        <p:nvSpPr>
          <p:cNvPr id="21" name="TextBox 21"/>
          <p:cNvSpPr txBox="1"/>
          <p:nvPr/>
        </p:nvSpPr>
        <p:spPr>
          <a:xfrm>
            <a:off x="8352927" y="5068330"/>
            <a:ext cx="5433118" cy="533400"/>
          </a:xfrm>
          <a:prstGeom prst="rect">
            <a:avLst/>
          </a:prstGeom>
        </p:spPr>
        <p:txBody>
          <a:bodyPr lIns="0" tIns="0" rIns="0" bIns="0" rtlCol="0" anchor="t">
            <a:spAutoFit/>
          </a:bodyPr>
          <a:lstStyle/>
          <a:p>
            <a:pPr algn="ctr">
              <a:lnSpc>
                <a:spcPts val="4200"/>
              </a:lnSpc>
            </a:pPr>
            <a:r>
              <a:rPr lang="en-US" sz="3000" b="1">
                <a:solidFill>
                  <a:srgbClr val="FFFFFF"/>
                </a:solidFill>
                <a:latin typeface="Roboto Bold"/>
                <a:ea typeface="Roboto Bold"/>
                <a:cs typeface="Roboto Bold"/>
                <a:sym typeface="Roboto Bold"/>
              </a:rPr>
              <a:t>Aye Nandar Win</a:t>
            </a:r>
          </a:p>
        </p:txBody>
      </p:sp>
      <p:sp>
        <p:nvSpPr>
          <p:cNvPr id="22" name="TextBox 22"/>
          <p:cNvSpPr txBox="1"/>
          <p:nvPr/>
        </p:nvSpPr>
        <p:spPr>
          <a:xfrm>
            <a:off x="12206119" y="5068330"/>
            <a:ext cx="5433118" cy="533400"/>
          </a:xfrm>
          <a:prstGeom prst="rect">
            <a:avLst/>
          </a:prstGeom>
        </p:spPr>
        <p:txBody>
          <a:bodyPr lIns="0" tIns="0" rIns="0" bIns="0" rtlCol="0" anchor="t">
            <a:spAutoFit/>
          </a:bodyPr>
          <a:lstStyle/>
          <a:p>
            <a:pPr algn="ctr">
              <a:lnSpc>
                <a:spcPts val="4200"/>
              </a:lnSpc>
            </a:pPr>
            <a:r>
              <a:rPr lang="en-US" sz="3000" b="1">
                <a:solidFill>
                  <a:srgbClr val="FFFFFF"/>
                </a:solidFill>
                <a:latin typeface="Roboto Bold"/>
                <a:ea typeface="Roboto Bold"/>
                <a:cs typeface="Roboto Bold"/>
                <a:sym typeface="Roboto Bold"/>
              </a:rPr>
              <a:t>Aung Khant Min</a:t>
            </a:r>
          </a:p>
        </p:txBody>
      </p:sp>
      <p:sp>
        <p:nvSpPr>
          <p:cNvPr id="23" name="TextBox 23"/>
          <p:cNvSpPr txBox="1"/>
          <p:nvPr/>
        </p:nvSpPr>
        <p:spPr>
          <a:xfrm>
            <a:off x="2458390" y="8594076"/>
            <a:ext cx="5433118" cy="533400"/>
          </a:xfrm>
          <a:prstGeom prst="rect">
            <a:avLst/>
          </a:prstGeom>
        </p:spPr>
        <p:txBody>
          <a:bodyPr lIns="0" tIns="0" rIns="0" bIns="0" rtlCol="0" anchor="t">
            <a:spAutoFit/>
          </a:bodyPr>
          <a:lstStyle/>
          <a:p>
            <a:pPr algn="ctr">
              <a:lnSpc>
                <a:spcPts val="4200"/>
              </a:lnSpc>
            </a:pPr>
            <a:r>
              <a:rPr lang="en-US" sz="3000" b="1">
                <a:solidFill>
                  <a:srgbClr val="FFFFFF"/>
                </a:solidFill>
                <a:latin typeface="Roboto Bold"/>
                <a:ea typeface="Roboto Bold"/>
                <a:cs typeface="Roboto Bold"/>
                <a:sym typeface="Roboto Bold"/>
              </a:rPr>
              <a:t>Ye Htet Naing</a:t>
            </a:r>
          </a:p>
        </p:txBody>
      </p:sp>
      <p:sp>
        <p:nvSpPr>
          <p:cNvPr id="24" name="TextBox 24"/>
          <p:cNvSpPr txBox="1"/>
          <p:nvPr/>
        </p:nvSpPr>
        <p:spPr>
          <a:xfrm>
            <a:off x="6427441" y="8594076"/>
            <a:ext cx="5433118" cy="533400"/>
          </a:xfrm>
          <a:prstGeom prst="rect">
            <a:avLst/>
          </a:prstGeom>
        </p:spPr>
        <p:txBody>
          <a:bodyPr lIns="0" tIns="0" rIns="0" bIns="0" rtlCol="0" anchor="t">
            <a:spAutoFit/>
          </a:bodyPr>
          <a:lstStyle/>
          <a:p>
            <a:pPr algn="ctr">
              <a:lnSpc>
                <a:spcPts val="4200"/>
              </a:lnSpc>
            </a:pPr>
            <a:r>
              <a:rPr lang="en-US" sz="3000" b="1">
                <a:solidFill>
                  <a:srgbClr val="FFFFFF"/>
                </a:solidFill>
                <a:latin typeface="Roboto Bold"/>
                <a:ea typeface="Roboto Bold"/>
                <a:cs typeface="Roboto Bold"/>
                <a:sym typeface="Roboto Bold"/>
              </a:rPr>
              <a:t>Myat Thetlyar Min</a:t>
            </a:r>
          </a:p>
        </p:txBody>
      </p:sp>
      <p:sp>
        <p:nvSpPr>
          <p:cNvPr id="25" name="TextBox 25"/>
          <p:cNvSpPr txBox="1"/>
          <p:nvPr/>
        </p:nvSpPr>
        <p:spPr>
          <a:xfrm>
            <a:off x="10396492" y="8533463"/>
            <a:ext cx="5433118" cy="533400"/>
          </a:xfrm>
          <a:prstGeom prst="rect">
            <a:avLst/>
          </a:prstGeom>
        </p:spPr>
        <p:txBody>
          <a:bodyPr lIns="0" tIns="0" rIns="0" bIns="0" rtlCol="0" anchor="t">
            <a:spAutoFit/>
          </a:bodyPr>
          <a:lstStyle/>
          <a:p>
            <a:pPr algn="ctr">
              <a:lnSpc>
                <a:spcPts val="4200"/>
              </a:lnSpc>
            </a:pPr>
            <a:r>
              <a:rPr lang="en-US" sz="3000" b="1">
                <a:solidFill>
                  <a:srgbClr val="FFFFFF"/>
                </a:solidFill>
                <a:latin typeface="Roboto Bold"/>
                <a:ea typeface="Roboto Bold"/>
                <a:cs typeface="Roboto Bold"/>
                <a:sym typeface="Roboto Bold"/>
              </a:rPr>
              <a:t>Thaw Thaw Tun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sp>
        <p:nvSpPr>
          <p:cNvPr id="2" name="TextBox 2"/>
          <p:cNvSpPr txBox="1"/>
          <p:nvPr/>
        </p:nvSpPr>
        <p:spPr>
          <a:xfrm>
            <a:off x="776225" y="1114425"/>
            <a:ext cx="16383000" cy="1762506"/>
          </a:xfrm>
          <a:prstGeom prst="rect">
            <a:avLst/>
          </a:prstGeom>
        </p:spPr>
        <p:txBody>
          <a:bodyPr lIns="0" tIns="0" rIns="0" bIns="0" rtlCol="0" anchor="t">
            <a:spAutoFit/>
          </a:bodyPr>
          <a:lstStyle/>
          <a:p>
            <a:pPr algn="l">
              <a:lnSpc>
                <a:spcPts val="6837"/>
              </a:lnSpc>
            </a:pPr>
            <a:r>
              <a:rPr lang="en-US" sz="6450" b="1">
                <a:solidFill>
                  <a:srgbClr val="F18320"/>
                </a:solidFill>
                <a:latin typeface="Montserrat Bold"/>
                <a:ea typeface="Montserrat Bold"/>
                <a:cs typeface="Montserrat Bold"/>
                <a:sym typeface="Montserrat Bold"/>
              </a:rPr>
              <a:t>The operational problem behind the complaint</a:t>
            </a:r>
          </a:p>
        </p:txBody>
      </p:sp>
      <p:grpSp>
        <p:nvGrpSpPr>
          <p:cNvPr id="3" name="Group 3"/>
          <p:cNvGrpSpPr/>
          <p:nvPr/>
        </p:nvGrpSpPr>
        <p:grpSpPr>
          <a:xfrm>
            <a:off x="419019" y="3505821"/>
            <a:ext cx="3841165" cy="4056739"/>
            <a:chOff x="0" y="0"/>
            <a:chExt cx="5121553" cy="5408986"/>
          </a:xfrm>
        </p:grpSpPr>
        <p:sp>
          <p:nvSpPr>
            <p:cNvPr id="4" name="Freeform 4"/>
            <p:cNvSpPr/>
            <p:nvPr/>
          </p:nvSpPr>
          <p:spPr>
            <a:xfrm>
              <a:off x="871420" y="0"/>
              <a:ext cx="2066578" cy="3532612"/>
            </a:xfrm>
            <a:custGeom>
              <a:avLst/>
              <a:gdLst/>
              <a:ahLst/>
              <a:cxnLst/>
              <a:rect l="l" t="t" r="r" b="b"/>
              <a:pathLst>
                <a:path w="2066578" h="3532612">
                  <a:moveTo>
                    <a:pt x="0" y="0"/>
                  </a:moveTo>
                  <a:lnTo>
                    <a:pt x="2066579" y="0"/>
                  </a:lnTo>
                  <a:lnTo>
                    <a:pt x="2066579" y="3532612"/>
                  </a:lnTo>
                  <a:lnTo>
                    <a:pt x="0" y="3532612"/>
                  </a:lnTo>
                  <a:lnTo>
                    <a:pt x="0" y="0"/>
                  </a:lnTo>
                  <a:close/>
                </a:path>
              </a:pathLst>
            </a:custGeom>
            <a:blipFill>
              <a:blip r:embed="rId3"/>
              <a:stretch>
                <a:fillRect/>
              </a:stretch>
            </a:blipFill>
          </p:spPr>
        </p:sp>
        <p:sp>
          <p:nvSpPr>
            <p:cNvPr id="5" name="TextBox 5"/>
            <p:cNvSpPr txBox="1"/>
            <p:nvPr/>
          </p:nvSpPr>
          <p:spPr>
            <a:xfrm>
              <a:off x="871420" y="3827887"/>
              <a:ext cx="2135786" cy="488569"/>
            </a:xfrm>
            <a:prstGeom prst="rect">
              <a:avLst/>
            </a:prstGeom>
          </p:spPr>
          <p:txBody>
            <a:bodyPr lIns="0" tIns="0" rIns="0" bIns="0" rtlCol="0" anchor="t">
              <a:spAutoFit/>
            </a:bodyPr>
            <a:lstStyle/>
            <a:p>
              <a:pPr algn="l">
                <a:lnSpc>
                  <a:spcPts val="2976"/>
                </a:lnSpc>
              </a:pPr>
              <a:r>
                <a:rPr lang="en-US" sz="2400" b="1">
                  <a:solidFill>
                    <a:srgbClr val="FDFDFD"/>
                  </a:solidFill>
                  <a:latin typeface="DM Sans Bold"/>
                  <a:ea typeface="DM Sans Bold"/>
                  <a:cs typeface="DM Sans Bold"/>
                  <a:sym typeface="DM Sans Bold"/>
                </a:rPr>
                <a:t>Customer</a:t>
              </a:r>
            </a:p>
          </p:txBody>
        </p:sp>
        <p:sp>
          <p:nvSpPr>
            <p:cNvPr id="6" name="TextBox 6"/>
            <p:cNvSpPr txBox="1"/>
            <p:nvPr/>
          </p:nvSpPr>
          <p:spPr>
            <a:xfrm>
              <a:off x="584308" y="4410875"/>
              <a:ext cx="3129148" cy="488569"/>
            </a:xfrm>
            <a:prstGeom prst="rect">
              <a:avLst/>
            </a:prstGeom>
          </p:spPr>
          <p:txBody>
            <a:bodyPr lIns="0" tIns="0" rIns="0" bIns="0" rtlCol="0" anchor="t">
              <a:spAutoFit/>
            </a:bodyPr>
            <a:lstStyle/>
            <a:p>
              <a:pPr algn="l">
                <a:lnSpc>
                  <a:spcPts val="2976"/>
                </a:lnSpc>
              </a:pPr>
              <a:r>
                <a:rPr lang="en-US" sz="2400" b="1">
                  <a:solidFill>
                    <a:srgbClr val="F18320"/>
                  </a:solidFill>
                  <a:latin typeface="DM Sans Bold"/>
                  <a:ea typeface="DM Sans Bold"/>
                  <a:cs typeface="DM Sans Bold"/>
                  <a:sym typeface="DM Sans Bold"/>
                </a:rPr>
                <a:t>Ask the seller</a:t>
              </a:r>
            </a:p>
          </p:txBody>
        </p:sp>
        <p:sp>
          <p:nvSpPr>
            <p:cNvPr id="7" name="TextBox 7"/>
            <p:cNvSpPr txBox="1"/>
            <p:nvPr/>
          </p:nvSpPr>
          <p:spPr>
            <a:xfrm>
              <a:off x="0" y="5052585"/>
              <a:ext cx="5121553" cy="356401"/>
            </a:xfrm>
            <a:prstGeom prst="rect">
              <a:avLst/>
            </a:prstGeom>
          </p:spPr>
          <p:txBody>
            <a:bodyPr lIns="0" tIns="0" rIns="0" bIns="0" rtlCol="0" anchor="t">
              <a:spAutoFit/>
            </a:bodyPr>
            <a:lstStyle/>
            <a:p>
              <a:pPr algn="l">
                <a:lnSpc>
                  <a:spcPts val="2178"/>
                </a:lnSpc>
              </a:pPr>
              <a:r>
                <a:rPr lang="en-US" sz="1756" b="1">
                  <a:solidFill>
                    <a:srgbClr val="FFBD59"/>
                  </a:solidFill>
                  <a:latin typeface="DM Sans Bold"/>
                  <a:ea typeface="DM Sans Bold"/>
                  <a:cs typeface="DM Sans Bold"/>
                  <a:sym typeface="DM Sans Bold"/>
                </a:rPr>
                <a:t>"Why is my parcel delayed?"</a:t>
              </a:r>
            </a:p>
          </p:txBody>
        </p:sp>
      </p:grpSp>
      <p:grpSp>
        <p:nvGrpSpPr>
          <p:cNvPr id="8" name="Group 8"/>
          <p:cNvGrpSpPr/>
          <p:nvPr/>
        </p:nvGrpSpPr>
        <p:grpSpPr>
          <a:xfrm>
            <a:off x="2978186" y="3524829"/>
            <a:ext cx="5677220" cy="4037731"/>
            <a:chOff x="0" y="0"/>
            <a:chExt cx="7569627" cy="5383642"/>
          </a:xfrm>
        </p:grpSpPr>
        <p:sp>
          <p:nvSpPr>
            <p:cNvPr id="9" name="Freeform 9"/>
            <p:cNvSpPr/>
            <p:nvPr/>
          </p:nvSpPr>
          <p:spPr>
            <a:xfrm>
              <a:off x="2757283" y="0"/>
              <a:ext cx="3025646" cy="3611212"/>
            </a:xfrm>
            <a:custGeom>
              <a:avLst/>
              <a:gdLst/>
              <a:ahLst/>
              <a:cxnLst/>
              <a:rect l="l" t="t" r="r" b="b"/>
              <a:pathLst>
                <a:path w="3025646" h="3611212">
                  <a:moveTo>
                    <a:pt x="0" y="0"/>
                  </a:moveTo>
                  <a:lnTo>
                    <a:pt x="3025646" y="0"/>
                  </a:lnTo>
                  <a:lnTo>
                    <a:pt x="3025646" y="3611212"/>
                  </a:lnTo>
                  <a:lnTo>
                    <a:pt x="0" y="3611212"/>
                  </a:lnTo>
                  <a:lnTo>
                    <a:pt x="0" y="0"/>
                  </a:lnTo>
                  <a:close/>
                </a:path>
              </a:pathLst>
            </a:custGeom>
            <a:blipFill>
              <a:blip r:embed="rId4"/>
              <a:stretch>
                <a:fillRect t="-2176"/>
              </a:stretch>
            </a:blipFill>
          </p:spPr>
        </p:sp>
        <p:sp>
          <p:nvSpPr>
            <p:cNvPr id="10" name="TextBox 10"/>
            <p:cNvSpPr txBox="1"/>
            <p:nvPr/>
          </p:nvSpPr>
          <p:spPr>
            <a:xfrm>
              <a:off x="3562026" y="3906487"/>
              <a:ext cx="2135786" cy="488569"/>
            </a:xfrm>
            <a:prstGeom prst="rect">
              <a:avLst/>
            </a:prstGeom>
          </p:spPr>
          <p:txBody>
            <a:bodyPr lIns="0" tIns="0" rIns="0" bIns="0" rtlCol="0" anchor="t">
              <a:spAutoFit/>
            </a:bodyPr>
            <a:lstStyle/>
            <a:p>
              <a:pPr algn="l">
                <a:lnSpc>
                  <a:spcPts val="2976"/>
                </a:lnSpc>
              </a:pPr>
              <a:r>
                <a:rPr lang="en-US" sz="2400" b="1">
                  <a:solidFill>
                    <a:srgbClr val="FDFDFD"/>
                  </a:solidFill>
                  <a:latin typeface="DM Sans Bold"/>
                  <a:ea typeface="DM Sans Bold"/>
                  <a:cs typeface="DM Sans Bold"/>
                  <a:sym typeface="DM Sans Bold"/>
                </a:rPr>
                <a:t>Seller</a:t>
              </a:r>
            </a:p>
          </p:txBody>
        </p:sp>
        <p:sp>
          <p:nvSpPr>
            <p:cNvPr id="11" name="TextBox 11"/>
            <p:cNvSpPr txBox="1"/>
            <p:nvPr/>
          </p:nvSpPr>
          <p:spPr>
            <a:xfrm>
              <a:off x="2180208" y="4385531"/>
              <a:ext cx="4758278" cy="488569"/>
            </a:xfrm>
            <a:prstGeom prst="rect">
              <a:avLst/>
            </a:prstGeom>
          </p:spPr>
          <p:txBody>
            <a:bodyPr lIns="0" tIns="0" rIns="0" bIns="0" rtlCol="0" anchor="t">
              <a:spAutoFit/>
            </a:bodyPr>
            <a:lstStyle/>
            <a:p>
              <a:pPr algn="l">
                <a:lnSpc>
                  <a:spcPts val="2976"/>
                </a:lnSpc>
              </a:pPr>
              <a:r>
                <a:rPr lang="en-US" sz="2400" b="1">
                  <a:solidFill>
                    <a:srgbClr val="F18320"/>
                  </a:solidFill>
                  <a:latin typeface="DM Sans Bold"/>
                  <a:ea typeface="DM Sans Bold"/>
                  <a:cs typeface="DM Sans Bold"/>
                  <a:sym typeface="DM Sans Bold"/>
                </a:rPr>
                <a:t>Contacts Operations</a:t>
              </a:r>
            </a:p>
          </p:txBody>
        </p:sp>
        <p:sp>
          <p:nvSpPr>
            <p:cNvPr id="12" name="TextBox 12"/>
            <p:cNvSpPr txBox="1"/>
            <p:nvPr/>
          </p:nvSpPr>
          <p:spPr>
            <a:xfrm>
              <a:off x="2448074" y="5027241"/>
              <a:ext cx="5121553" cy="356401"/>
            </a:xfrm>
            <a:prstGeom prst="rect">
              <a:avLst/>
            </a:prstGeom>
          </p:spPr>
          <p:txBody>
            <a:bodyPr lIns="0" tIns="0" rIns="0" bIns="0" rtlCol="0" anchor="t">
              <a:spAutoFit/>
            </a:bodyPr>
            <a:lstStyle/>
            <a:p>
              <a:pPr algn="l">
                <a:lnSpc>
                  <a:spcPts val="2178"/>
                </a:lnSpc>
              </a:pPr>
              <a:r>
                <a:rPr lang="en-US" sz="1756" b="1">
                  <a:solidFill>
                    <a:srgbClr val="FFBD59"/>
                  </a:solidFill>
                  <a:latin typeface="DM Sans Bold"/>
                  <a:ea typeface="DM Sans Bold"/>
                  <a:cs typeface="DM Sans Bold"/>
                  <a:sym typeface="DM Sans Bold"/>
                </a:rPr>
                <a:t>Waits then relays replies</a:t>
              </a:r>
            </a:p>
          </p:txBody>
        </p:sp>
        <p:sp>
          <p:nvSpPr>
            <p:cNvPr id="13" name="AutoShape 13"/>
            <p:cNvSpPr/>
            <p:nvPr/>
          </p:nvSpPr>
          <p:spPr>
            <a:xfrm flipV="1">
              <a:off x="17" y="2197528"/>
              <a:ext cx="2757266" cy="1818"/>
            </a:xfrm>
            <a:prstGeom prst="line">
              <a:avLst/>
            </a:prstGeom>
            <a:ln w="50800" cap="flat">
              <a:solidFill>
                <a:srgbClr val="FFFFFF"/>
              </a:solidFill>
              <a:prstDash val="solid"/>
              <a:headEnd type="none" w="sm" len="sm"/>
              <a:tailEnd type="triangle" w="lg" len="med"/>
            </a:ln>
          </p:spPr>
        </p:sp>
      </p:grpSp>
      <p:grpSp>
        <p:nvGrpSpPr>
          <p:cNvPr id="14" name="Group 14"/>
          <p:cNvGrpSpPr/>
          <p:nvPr/>
        </p:nvGrpSpPr>
        <p:grpSpPr>
          <a:xfrm>
            <a:off x="7202279" y="3524829"/>
            <a:ext cx="6230169" cy="4037731"/>
            <a:chOff x="0" y="0"/>
            <a:chExt cx="8306892" cy="5383642"/>
          </a:xfrm>
        </p:grpSpPr>
        <p:sp>
          <p:nvSpPr>
            <p:cNvPr id="15" name="Freeform 15"/>
            <p:cNvSpPr/>
            <p:nvPr/>
          </p:nvSpPr>
          <p:spPr>
            <a:xfrm>
              <a:off x="3313105" y="0"/>
              <a:ext cx="3507269" cy="3507269"/>
            </a:xfrm>
            <a:custGeom>
              <a:avLst/>
              <a:gdLst/>
              <a:ahLst/>
              <a:cxnLst/>
              <a:rect l="l" t="t" r="r" b="b"/>
              <a:pathLst>
                <a:path w="3507269" h="3507269">
                  <a:moveTo>
                    <a:pt x="0" y="0"/>
                  </a:moveTo>
                  <a:lnTo>
                    <a:pt x="3507269" y="0"/>
                  </a:lnTo>
                  <a:lnTo>
                    <a:pt x="3507269" y="3507269"/>
                  </a:lnTo>
                  <a:lnTo>
                    <a:pt x="0" y="3507269"/>
                  </a:lnTo>
                  <a:lnTo>
                    <a:pt x="0" y="0"/>
                  </a:lnTo>
                  <a:close/>
                </a:path>
              </a:pathLst>
            </a:custGeom>
            <a:blipFill>
              <a:blip r:embed="rId5"/>
              <a:stretch>
                <a:fillRect/>
              </a:stretch>
            </a:blipFill>
          </p:spPr>
        </p:sp>
        <p:sp>
          <p:nvSpPr>
            <p:cNvPr id="16" name="TextBox 16"/>
            <p:cNvSpPr txBox="1"/>
            <p:nvPr/>
          </p:nvSpPr>
          <p:spPr>
            <a:xfrm>
              <a:off x="3524514" y="3802544"/>
              <a:ext cx="3636429" cy="488569"/>
            </a:xfrm>
            <a:prstGeom prst="rect">
              <a:avLst/>
            </a:prstGeom>
          </p:spPr>
          <p:txBody>
            <a:bodyPr lIns="0" tIns="0" rIns="0" bIns="0" rtlCol="0" anchor="t">
              <a:spAutoFit/>
            </a:bodyPr>
            <a:lstStyle/>
            <a:p>
              <a:pPr algn="l">
                <a:lnSpc>
                  <a:spcPts val="2976"/>
                </a:lnSpc>
              </a:pPr>
              <a:r>
                <a:rPr lang="en-US" sz="2400" b="1">
                  <a:solidFill>
                    <a:srgbClr val="FDFDFD"/>
                  </a:solidFill>
                  <a:latin typeface="DM Sans Bold"/>
                  <a:ea typeface="DM Sans Bold"/>
                  <a:cs typeface="DM Sans Bold"/>
                  <a:sym typeface="DM Sans Bold"/>
                </a:rPr>
                <a:t>Operation staff</a:t>
              </a:r>
            </a:p>
          </p:txBody>
        </p:sp>
        <p:sp>
          <p:nvSpPr>
            <p:cNvPr id="17" name="TextBox 17"/>
            <p:cNvSpPr txBox="1"/>
            <p:nvPr/>
          </p:nvSpPr>
          <p:spPr>
            <a:xfrm>
              <a:off x="3185339" y="4385531"/>
              <a:ext cx="4758278" cy="488569"/>
            </a:xfrm>
            <a:prstGeom prst="rect">
              <a:avLst/>
            </a:prstGeom>
          </p:spPr>
          <p:txBody>
            <a:bodyPr lIns="0" tIns="0" rIns="0" bIns="0" rtlCol="0" anchor="t">
              <a:spAutoFit/>
            </a:bodyPr>
            <a:lstStyle/>
            <a:p>
              <a:pPr algn="l">
                <a:lnSpc>
                  <a:spcPts val="2976"/>
                </a:lnSpc>
              </a:pPr>
              <a:r>
                <a:rPr lang="en-US" sz="2400" b="1">
                  <a:solidFill>
                    <a:srgbClr val="F18320"/>
                  </a:solidFill>
                  <a:latin typeface="DM Sans Bold"/>
                  <a:ea typeface="DM Sans Bold"/>
                  <a:cs typeface="DM Sans Bold"/>
                  <a:sym typeface="DM Sans Bold"/>
                </a:rPr>
                <a:t>Looks up the order</a:t>
              </a:r>
            </a:p>
          </p:txBody>
        </p:sp>
        <p:sp>
          <p:nvSpPr>
            <p:cNvPr id="18" name="TextBox 18"/>
            <p:cNvSpPr txBox="1"/>
            <p:nvPr/>
          </p:nvSpPr>
          <p:spPr>
            <a:xfrm>
              <a:off x="3185339" y="5027241"/>
              <a:ext cx="5121553" cy="356401"/>
            </a:xfrm>
            <a:prstGeom prst="rect">
              <a:avLst/>
            </a:prstGeom>
          </p:spPr>
          <p:txBody>
            <a:bodyPr lIns="0" tIns="0" rIns="0" bIns="0" rtlCol="0" anchor="t">
              <a:spAutoFit/>
            </a:bodyPr>
            <a:lstStyle/>
            <a:p>
              <a:pPr algn="l">
                <a:lnSpc>
                  <a:spcPts val="2178"/>
                </a:lnSpc>
              </a:pPr>
              <a:r>
                <a:rPr lang="en-US" sz="1756" b="1">
                  <a:solidFill>
                    <a:srgbClr val="FFBD59"/>
                  </a:solidFill>
                  <a:latin typeface="DM Sans Bold"/>
                  <a:ea typeface="DM Sans Bold"/>
                  <a:cs typeface="DM Sans Bold"/>
                  <a:sym typeface="DM Sans Bold"/>
                </a:rPr>
                <a:t>Calls driver/ Writes replies</a:t>
              </a:r>
            </a:p>
          </p:txBody>
        </p:sp>
        <p:sp>
          <p:nvSpPr>
            <p:cNvPr id="19" name="AutoShape 19"/>
            <p:cNvSpPr/>
            <p:nvPr/>
          </p:nvSpPr>
          <p:spPr>
            <a:xfrm>
              <a:off x="0" y="2158228"/>
              <a:ext cx="2983448" cy="48"/>
            </a:xfrm>
            <a:prstGeom prst="line">
              <a:avLst/>
            </a:prstGeom>
            <a:ln w="50800" cap="flat">
              <a:solidFill>
                <a:srgbClr val="FFFFFF"/>
              </a:solidFill>
              <a:prstDash val="solid"/>
              <a:headEnd type="none" w="sm" len="sm"/>
              <a:tailEnd type="triangle" w="lg" len="med"/>
            </a:ln>
          </p:spPr>
        </p:sp>
      </p:grpSp>
      <p:grpSp>
        <p:nvGrpSpPr>
          <p:cNvPr id="20" name="Group 20"/>
          <p:cNvGrpSpPr/>
          <p:nvPr/>
        </p:nvGrpSpPr>
        <p:grpSpPr>
          <a:xfrm>
            <a:off x="12414430" y="3527555"/>
            <a:ext cx="6391003" cy="4035005"/>
            <a:chOff x="0" y="0"/>
            <a:chExt cx="8521337" cy="5380007"/>
          </a:xfrm>
        </p:grpSpPr>
        <p:sp>
          <p:nvSpPr>
            <p:cNvPr id="21" name="TextBox 21"/>
            <p:cNvSpPr txBox="1"/>
            <p:nvPr/>
          </p:nvSpPr>
          <p:spPr>
            <a:xfrm>
              <a:off x="4055359" y="3902852"/>
              <a:ext cx="1952304" cy="488569"/>
            </a:xfrm>
            <a:prstGeom prst="rect">
              <a:avLst/>
            </a:prstGeom>
          </p:spPr>
          <p:txBody>
            <a:bodyPr lIns="0" tIns="0" rIns="0" bIns="0" rtlCol="0" anchor="t">
              <a:spAutoFit/>
            </a:bodyPr>
            <a:lstStyle/>
            <a:p>
              <a:pPr algn="l">
                <a:lnSpc>
                  <a:spcPts val="2976"/>
                </a:lnSpc>
              </a:pPr>
              <a:r>
                <a:rPr lang="en-US" sz="2400" b="1">
                  <a:solidFill>
                    <a:srgbClr val="FDFDFD"/>
                  </a:solidFill>
                  <a:latin typeface="DM Sans Bold"/>
                  <a:ea typeface="DM Sans Bold"/>
                  <a:cs typeface="DM Sans Bold"/>
                  <a:sym typeface="DM Sans Bold"/>
                </a:rPr>
                <a:t>Driver</a:t>
              </a:r>
            </a:p>
          </p:txBody>
        </p:sp>
        <p:sp>
          <p:nvSpPr>
            <p:cNvPr id="22" name="TextBox 22"/>
            <p:cNvSpPr txBox="1"/>
            <p:nvPr/>
          </p:nvSpPr>
          <p:spPr>
            <a:xfrm>
              <a:off x="2652372" y="4381896"/>
              <a:ext cx="4758278" cy="488569"/>
            </a:xfrm>
            <a:prstGeom prst="rect">
              <a:avLst/>
            </a:prstGeom>
          </p:spPr>
          <p:txBody>
            <a:bodyPr lIns="0" tIns="0" rIns="0" bIns="0" rtlCol="0" anchor="t">
              <a:spAutoFit/>
            </a:bodyPr>
            <a:lstStyle/>
            <a:p>
              <a:pPr algn="l">
                <a:lnSpc>
                  <a:spcPts val="2976"/>
                </a:lnSpc>
              </a:pPr>
              <a:r>
                <a:rPr lang="en-US" sz="2400" b="1">
                  <a:solidFill>
                    <a:srgbClr val="F18320"/>
                  </a:solidFill>
                  <a:latin typeface="DM Sans Bold"/>
                  <a:ea typeface="DM Sans Bold"/>
                  <a:cs typeface="DM Sans Bold"/>
                  <a:sym typeface="DM Sans Bold"/>
                </a:rPr>
                <a:t>Explains the disruption</a:t>
              </a:r>
            </a:p>
          </p:txBody>
        </p:sp>
        <p:sp>
          <p:nvSpPr>
            <p:cNvPr id="23" name="TextBox 23"/>
            <p:cNvSpPr txBox="1"/>
            <p:nvPr/>
          </p:nvSpPr>
          <p:spPr>
            <a:xfrm>
              <a:off x="3399785" y="5023606"/>
              <a:ext cx="5121553" cy="356401"/>
            </a:xfrm>
            <a:prstGeom prst="rect">
              <a:avLst/>
            </a:prstGeom>
          </p:spPr>
          <p:txBody>
            <a:bodyPr lIns="0" tIns="0" rIns="0" bIns="0" rtlCol="0" anchor="t">
              <a:spAutoFit/>
            </a:bodyPr>
            <a:lstStyle/>
            <a:p>
              <a:pPr algn="l">
                <a:lnSpc>
                  <a:spcPts val="2178"/>
                </a:lnSpc>
              </a:pPr>
              <a:r>
                <a:rPr lang="en-US" sz="1756" b="1">
                  <a:solidFill>
                    <a:srgbClr val="FFBD59"/>
                  </a:solidFill>
                  <a:latin typeface="DM Sans Bold"/>
                  <a:ea typeface="DM Sans Bold"/>
                  <a:cs typeface="DM Sans Bold"/>
                  <a:sym typeface="DM Sans Bold"/>
                </a:rPr>
                <a:t>Answers the next call</a:t>
              </a:r>
            </a:p>
          </p:txBody>
        </p:sp>
        <p:sp>
          <p:nvSpPr>
            <p:cNvPr id="24" name="Freeform 24"/>
            <p:cNvSpPr/>
            <p:nvPr/>
          </p:nvSpPr>
          <p:spPr>
            <a:xfrm>
              <a:off x="3162300" y="0"/>
              <a:ext cx="3738422" cy="3607577"/>
            </a:xfrm>
            <a:custGeom>
              <a:avLst/>
              <a:gdLst/>
              <a:ahLst/>
              <a:cxnLst/>
              <a:rect l="l" t="t" r="r" b="b"/>
              <a:pathLst>
                <a:path w="3738422" h="3607577">
                  <a:moveTo>
                    <a:pt x="0" y="0"/>
                  </a:moveTo>
                  <a:lnTo>
                    <a:pt x="3738422" y="0"/>
                  </a:lnTo>
                  <a:lnTo>
                    <a:pt x="3738422" y="3607577"/>
                  </a:lnTo>
                  <a:lnTo>
                    <a:pt x="0" y="3607577"/>
                  </a:lnTo>
                  <a:lnTo>
                    <a:pt x="0" y="0"/>
                  </a:lnTo>
                  <a:close/>
                </a:path>
              </a:pathLst>
            </a:custGeom>
            <a:blipFill>
              <a:blip r:embed="rId6"/>
              <a:stretch>
                <a:fillRect/>
              </a:stretch>
            </a:blipFill>
          </p:spPr>
        </p:sp>
        <p:sp>
          <p:nvSpPr>
            <p:cNvPr id="25" name="AutoShape 25"/>
            <p:cNvSpPr/>
            <p:nvPr/>
          </p:nvSpPr>
          <p:spPr>
            <a:xfrm>
              <a:off x="0" y="2141921"/>
              <a:ext cx="2831094" cy="0"/>
            </a:xfrm>
            <a:prstGeom prst="line">
              <a:avLst/>
            </a:prstGeom>
            <a:ln w="50800" cap="flat">
              <a:solidFill>
                <a:srgbClr val="FFFFFF"/>
              </a:solidFill>
              <a:prstDash val="solid"/>
              <a:headEnd type="none" w="sm" len="sm"/>
              <a:tailEnd type="triangle" w="lg" len="med"/>
            </a:ln>
          </p:spPr>
        </p:sp>
      </p:grpSp>
      <p:grpSp>
        <p:nvGrpSpPr>
          <p:cNvPr id="26" name="Group 26"/>
          <p:cNvGrpSpPr/>
          <p:nvPr/>
        </p:nvGrpSpPr>
        <p:grpSpPr>
          <a:xfrm>
            <a:off x="1792982" y="7753180"/>
            <a:ext cx="14395081" cy="675058"/>
            <a:chOff x="0" y="0"/>
            <a:chExt cx="19193442" cy="900078"/>
          </a:xfrm>
        </p:grpSpPr>
        <p:sp>
          <p:nvSpPr>
            <p:cNvPr id="27" name="Freeform 27"/>
            <p:cNvSpPr/>
            <p:nvPr/>
          </p:nvSpPr>
          <p:spPr>
            <a:xfrm>
              <a:off x="25400" y="0"/>
              <a:ext cx="19142642" cy="874678"/>
            </a:xfrm>
            <a:custGeom>
              <a:avLst/>
              <a:gdLst/>
              <a:ahLst/>
              <a:cxnLst/>
              <a:rect l="l" t="t" r="r" b="b"/>
              <a:pathLst>
                <a:path w="19142642" h="874678">
                  <a:moveTo>
                    <a:pt x="19142642" y="50641"/>
                  </a:moveTo>
                  <a:lnTo>
                    <a:pt x="19142642" y="544478"/>
                  </a:lnTo>
                  <a:cubicBezTo>
                    <a:pt x="19142642" y="632052"/>
                    <a:pt x="19107854" y="716040"/>
                    <a:pt x="19045929" y="777964"/>
                  </a:cubicBezTo>
                  <a:cubicBezTo>
                    <a:pt x="18984004" y="839889"/>
                    <a:pt x="18900017" y="874678"/>
                    <a:pt x="18812442" y="874678"/>
                  </a:cubicBezTo>
                  <a:lnTo>
                    <a:pt x="330200" y="874678"/>
                  </a:lnTo>
                  <a:cubicBezTo>
                    <a:pt x="147836" y="874678"/>
                    <a:pt x="0" y="726842"/>
                    <a:pt x="0" y="544478"/>
                  </a:cubicBezTo>
                  <a:lnTo>
                    <a:pt x="0" y="0"/>
                  </a:lnTo>
                </a:path>
              </a:pathLst>
            </a:custGeom>
            <a:ln w="50800" cap="flat">
              <a:solidFill>
                <a:srgbClr val="FFFFFF"/>
              </a:solidFill>
              <a:prstDash val="solid"/>
              <a:headEnd type="none" w="sm" len="sm"/>
              <a:tailEnd type="triangle" w="lg" len="med"/>
            </a:ln>
          </p:spPr>
        </p:sp>
        <p:sp>
          <p:nvSpPr>
            <p:cNvPr id="28" name="TextBox 28"/>
            <p:cNvSpPr txBox="1"/>
            <p:nvPr/>
          </p:nvSpPr>
          <p:spPr>
            <a:xfrm>
              <a:off x="6460591" y="304641"/>
              <a:ext cx="6427533" cy="356401"/>
            </a:xfrm>
            <a:prstGeom prst="rect">
              <a:avLst/>
            </a:prstGeom>
          </p:spPr>
          <p:txBody>
            <a:bodyPr lIns="0" tIns="0" rIns="0" bIns="0" rtlCol="0" anchor="t">
              <a:spAutoFit/>
            </a:bodyPr>
            <a:lstStyle/>
            <a:p>
              <a:pPr algn="l">
                <a:lnSpc>
                  <a:spcPts val="2178"/>
                </a:lnSpc>
              </a:pPr>
              <a:r>
                <a:rPr lang="en-US" sz="1756" b="1">
                  <a:solidFill>
                    <a:srgbClr val="FFBD59"/>
                  </a:solidFill>
                  <a:latin typeface="DM Sans Bold"/>
                  <a:ea typeface="DM Sans Bold"/>
                  <a:cs typeface="DM Sans Bold"/>
                  <a:sym typeface="DM Sans Bold"/>
                </a:rPr>
                <a:t>Replies travel back through the chain</a:t>
              </a:r>
            </a:p>
          </p:txBody>
        </p:sp>
      </p:grpSp>
      <p:grpSp>
        <p:nvGrpSpPr>
          <p:cNvPr id="29" name="Group 29"/>
          <p:cNvGrpSpPr/>
          <p:nvPr/>
        </p:nvGrpSpPr>
        <p:grpSpPr>
          <a:xfrm>
            <a:off x="4260183" y="8814122"/>
            <a:ext cx="9415083" cy="1047369"/>
            <a:chOff x="0" y="0"/>
            <a:chExt cx="12553445" cy="1396492"/>
          </a:xfrm>
        </p:grpSpPr>
        <p:sp>
          <p:nvSpPr>
            <p:cNvPr id="30" name="TextBox 30"/>
            <p:cNvSpPr txBox="1"/>
            <p:nvPr/>
          </p:nvSpPr>
          <p:spPr>
            <a:xfrm>
              <a:off x="543467" y="907923"/>
              <a:ext cx="11686218" cy="488569"/>
            </a:xfrm>
            <a:prstGeom prst="rect">
              <a:avLst/>
            </a:prstGeom>
          </p:spPr>
          <p:txBody>
            <a:bodyPr lIns="0" tIns="0" rIns="0" bIns="0" rtlCol="0" anchor="t">
              <a:spAutoFit/>
            </a:bodyPr>
            <a:lstStyle/>
            <a:p>
              <a:pPr algn="l">
                <a:lnSpc>
                  <a:spcPts val="2976"/>
                </a:lnSpc>
              </a:pPr>
              <a:r>
                <a:rPr lang="en-US" sz="2400">
                  <a:solidFill>
                    <a:srgbClr val="FFBD59"/>
                  </a:solidFill>
                  <a:latin typeface="DM Sans"/>
                  <a:ea typeface="DM Sans"/>
                  <a:cs typeface="DM Sans"/>
                  <a:sym typeface="DM Sans"/>
                </a:rPr>
                <a:t>One enquiry. Four actors. The next enquiry restarts the loop.</a:t>
              </a:r>
            </a:p>
          </p:txBody>
        </p:sp>
        <p:sp>
          <p:nvSpPr>
            <p:cNvPr id="31" name="TextBox 31"/>
            <p:cNvSpPr txBox="1"/>
            <p:nvPr/>
          </p:nvSpPr>
          <p:spPr>
            <a:xfrm>
              <a:off x="0" y="-9525"/>
              <a:ext cx="12553445" cy="672973"/>
            </a:xfrm>
            <a:prstGeom prst="rect">
              <a:avLst/>
            </a:prstGeom>
          </p:spPr>
          <p:txBody>
            <a:bodyPr lIns="0" tIns="0" rIns="0" bIns="0" rtlCol="0" anchor="t">
              <a:spAutoFit/>
            </a:bodyPr>
            <a:lstStyle/>
            <a:p>
              <a:pPr marL="712465" lvl="1" indent="-356233" algn="l">
                <a:lnSpc>
                  <a:spcPts val="4091"/>
                </a:lnSpc>
                <a:buFont typeface="Arial"/>
                <a:buChar char="•"/>
              </a:pPr>
              <a:r>
                <a:rPr lang="en-US" sz="3299" b="1">
                  <a:solidFill>
                    <a:srgbClr val="F18320"/>
                  </a:solidFill>
                  <a:latin typeface="DM Sans Bold"/>
                  <a:ea typeface="DM Sans Bold"/>
                  <a:cs typeface="DM Sans Bold"/>
                  <a:sym typeface="DM Sans Bold"/>
                </a:rPr>
                <a:t>Another enquiry? The work starts again.</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sp>
        <p:nvSpPr>
          <p:cNvPr id="2" name="TextBox 2"/>
          <p:cNvSpPr txBox="1"/>
          <p:nvPr/>
        </p:nvSpPr>
        <p:spPr>
          <a:xfrm>
            <a:off x="857250" y="752475"/>
            <a:ext cx="16573500" cy="1803273"/>
          </a:xfrm>
          <a:prstGeom prst="rect">
            <a:avLst/>
          </a:prstGeom>
        </p:spPr>
        <p:txBody>
          <a:bodyPr lIns="0" tIns="0" rIns="0" bIns="0" rtlCol="0" anchor="t">
            <a:spAutoFit/>
          </a:bodyPr>
          <a:lstStyle/>
          <a:p>
            <a:pPr algn="l">
              <a:lnSpc>
                <a:spcPts val="6996"/>
              </a:lnSpc>
            </a:pPr>
            <a:r>
              <a:rPr lang="en-US" sz="6600" b="1">
                <a:solidFill>
                  <a:srgbClr val="F18320"/>
                </a:solidFill>
                <a:latin typeface="Montserrat Bold"/>
                <a:ea typeface="Montserrat Bold"/>
                <a:cs typeface="Montserrat Bold"/>
                <a:sym typeface="Montserrat Bold"/>
              </a:rPr>
              <a:t>Staff workload becomes</a:t>
            </a:r>
          </a:p>
          <a:p>
            <a:pPr algn="l">
              <a:lnSpc>
                <a:spcPts val="6996"/>
              </a:lnSpc>
            </a:pPr>
            <a:r>
              <a:rPr lang="en-US" sz="6600" b="1">
                <a:solidFill>
                  <a:srgbClr val="F18320"/>
                </a:solidFill>
                <a:latin typeface="Montserrat Bold"/>
                <a:ea typeface="Montserrat Bold"/>
                <a:cs typeface="Montserrat Bold"/>
                <a:sym typeface="Montserrat Bold"/>
              </a:rPr>
              <a:t>a reputation risk.</a:t>
            </a:r>
          </a:p>
        </p:txBody>
      </p:sp>
      <p:sp>
        <p:nvSpPr>
          <p:cNvPr id="3" name="TextBox 3"/>
          <p:cNvSpPr txBox="1"/>
          <p:nvPr/>
        </p:nvSpPr>
        <p:spPr>
          <a:xfrm>
            <a:off x="857250" y="9248775"/>
            <a:ext cx="16383000" cy="285750"/>
          </a:xfrm>
          <a:prstGeom prst="rect">
            <a:avLst/>
          </a:prstGeom>
        </p:spPr>
        <p:txBody>
          <a:bodyPr lIns="0" tIns="0" rIns="0" bIns="0" rtlCol="0" anchor="t">
            <a:spAutoFit/>
          </a:bodyPr>
          <a:lstStyle/>
          <a:p>
            <a:pPr algn="l">
              <a:lnSpc>
                <a:spcPts val="2340"/>
              </a:lnSpc>
            </a:pPr>
            <a:r>
              <a:rPr lang="en-US" sz="1950">
                <a:solidFill>
                  <a:srgbClr val="FFBD59"/>
                </a:solidFill>
                <a:latin typeface="DM Sans"/>
                <a:ea typeface="DM Sans"/>
                <a:cs typeface="DM Sans"/>
                <a:sym typeface="DM Sans"/>
                <a:hlinkClick r:id="rId3" tooltip="https://www.ofcom.org.uk/post/deliveries-and-charges/best-and-worst-parcel-firms-for-customer-satisfaction-revealed-2025"/>
              </a:rPr>
              <a:t>Ofcom UK · 22 Oct 2025   |   International evidence, not Myanmar estimates</a:t>
            </a:r>
          </a:p>
        </p:txBody>
      </p:sp>
      <p:pic>
        <p:nvPicPr>
          <p:cNvPr id="4" name="Picture 4"/>
          <p:cNvPicPr>
            <a:picLocks noChangeAspect="1"/>
          </p:cNvPicPr>
          <p:nvPr/>
        </p:nvPicPr>
        <p:blipFill>
          <a:blip r:embed="rId4"/>
          <a:stretch>
            <a:fillRect/>
          </a:stretch>
        </p:blipFill>
        <p:spPr>
          <a:xfrm>
            <a:off x="152676" y="3337688"/>
            <a:ext cx="6171648" cy="4373624"/>
          </a:xfrm>
          <a:prstGeom prst="rect">
            <a:avLst/>
          </a:prstGeom>
        </p:spPr>
      </p:pic>
      <p:pic>
        <p:nvPicPr>
          <p:cNvPr id="5" name="Picture 5"/>
          <p:cNvPicPr>
            <a:picLocks noChangeAspect="1"/>
          </p:cNvPicPr>
          <p:nvPr/>
        </p:nvPicPr>
        <p:blipFill>
          <a:blip r:embed="rId5"/>
          <a:stretch>
            <a:fillRect/>
          </a:stretch>
        </p:blipFill>
        <p:spPr>
          <a:xfrm>
            <a:off x="5750633" y="4694614"/>
            <a:ext cx="6310483" cy="2898021"/>
          </a:xfrm>
          <a:prstGeom prst="rect">
            <a:avLst/>
          </a:prstGeom>
        </p:spPr>
      </p:pic>
      <p:grpSp>
        <p:nvGrpSpPr>
          <p:cNvPr id="6" name="Group 6"/>
          <p:cNvGrpSpPr/>
          <p:nvPr/>
        </p:nvGrpSpPr>
        <p:grpSpPr>
          <a:xfrm>
            <a:off x="12477750" y="1128851"/>
            <a:ext cx="5238750" cy="8701141"/>
            <a:chOff x="0" y="0"/>
            <a:chExt cx="6985000" cy="11601521"/>
          </a:xfrm>
        </p:grpSpPr>
        <p:grpSp>
          <p:nvGrpSpPr>
            <p:cNvPr id="7" name="Group 7"/>
            <p:cNvGrpSpPr/>
            <p:nvPr/>
          </p:nvGrpSpPr>
          <p:grpSpPr>
            <a:xfrm>
              <a:off x="0" y="0"/>
              <a:ext cx="6985000" cy="11601521"/>
              <a:chOff x="0" y="0"/>
              <a:chExt cx="6985000" cy="11601521"/>
            </a:xfrm>
          </p:grpSpPr>
          <p:sp>
            <p:nvSpPr>
              <p:cNvPr id="8" name="Freeform 8"/>
              <p:cNvSpPr/>
              <p:nvPr/>
            </p:nvSpPr>
            <p:spPr>
              <a:xfrm>
                <a:off x="0" y="0"/>
                <a:ext cx="6985000" cy="11601521"/>
              </a:xfrm>
              <a:custGeom>
                <a:avLst/>
                <a:gdLst/>
                <a:ahLst/>
                <a:cxnLst/>
                <a:rect l="l" t="t" r="r" b="b"/>
                <a:pathLst>
                  <a:path w="6985000" h="11601521">
                    <a:moveTo>
                      <a:pt x="0" y="0"/>
                    </a:moveTo>
                    <a:lnTo>
                      <a:pt x="6985000" y="0"/>
                    </a:lnTo>
                    <a:lnTo>
                      <a:pt x="6985000" y="11601521"/>
                    </a:lnTo>
                    <a:lnTo>
                      <a:pt x="0" y="11601521"/>
                    </a:lnTo>
                    <a:close/>
                  </a:path>
                </a:pathLst>
              </a:custGeom>
              <a:solidFill>
                <a:srgbClr val="FFBD59"/>
              </a:solidFill>
              <a:ln cap="sq">
                <a:noFill/>
                <a:prstDash val="solid"/>
                <a:miter/>
              </a:ln>
            </p:spPr>
          </p:sp>
          <p:sp>
            <p:nvSpPr>
              <p:cNvPr id="9" name="TextBox 9"/>
              <p:cNvSpPr txBox="1"/>
              <p:nvPr/>
            </p:nvSpPr>
            <p:spPr>
              <a:xfrm>
                <a:off x="0" y="-38100"/>
                <a:ext cx="6985000" cy="11639621"/>
              </a:xfrm>
              <a:prstGeom prst="rect">
                <a:avLst/>
              </a:prstGeom>
            </p:spPr>
            <p:txBody>
              <a:bodyPr lIns="50800" tIns="50800" rIns="50800" bIns="50800" rtlCol="0" anchor="ctr"/>
              <a:lstStyle/>
              <a:p>
                <a:pPr algn="l">
                  <a:lnSpc>
                    <a:spcPts val="1679"/>
                  </a:lnSpc>
                </a:pPr>
                <a:endParaRPr/>
              </a:p>
            </p:txBody>
          </p:sp>
        </p:grpSp>
        <p:sp>
          <p:nvSpPr>
            <p:cNvPr id="10" name="TextBox 10"/>
            <p:cNvSpPr txBox="1"/>
            <p:nvPr/>
          </p:nvSpPr>
          <p:spPr>
            <a:xfrm>
              <a:off x="508000" y="558615"/>
              <a:ext cx="5969000" cy="10010140"/>
            </a:xfrm>
            <a:prstGeom prst="rect">
              <a:avLst/>
            </a:prstGeom>
          </p:spPr>
          <p:txBody>
            <a:bodyPr lIns="0" tIns="0" rIns="0" bIns="0" rtlCol="0" anchor="t">
              <a:spAutoFit/>
            </a:bodyPr>
            <a:lstStyle/>
            <a:p>
              <a:pPr algn="l">
                <a:lnSpc>
                  <a:spcPts val="4612"/>
                </a:lnSpc>
              </a:pPr>
              <a:r>
                <a:rPr lang="en-US" sz="3075" b="1">
                  <a:solidFill>
                    <a:srgbClr val="000000"/>
                  </a:solidFill>
                  <a:latin typeface="Montserrat Bold"/>
                  <a:ea typeface="Montserrat Bold"/>
                  <a:cs typeface="Montserrat Bold"/>
                  <a:sym typeface="Montserrat Bold"/>
                </a:rPr>
                <a:t>Financial Times reports that shoppers cancel orders after learning Evri or Yodel would deliver them, because of previous bad experiences in exception handlings.</a:t>
              </a:r>
            </a:p>
            <a:p>
              <a:pPr algn="l">
                <a:lnSpc>
                  <a:spcPts val="4612"/>
                </a:lnSpc>
              </a:pPr>
              <a:endParaRPr lang="en-US" sz="3075" b="1">
                <a:solidFill>
                  <a:srgbClr val="000000"/>
                </a:solidFill>
                <a:latin typeface="Montserrat Bold"/>
                <a:ea typeface="Montserrat Bold"/>
                <a:cs typeface="Montserrat Bold"/>
                <a:sym typeface="Montserrat Bold"/>
              </a:endParaRPr>
            </a:p>
            <a:p>
              <a:pPr marL="663892" lvl="1" indent="-331946" algn="l">
                <a:lnSpc>
                  <a:spcPts val="4612"/>
                </a:lnSpc>
                <a:buFont typeface="Arial"/>
                <a:buChar char="•"/>
              </a:pPr>
              <a:r>
                <a:rPr lang="en-US" sz="3075" b="1">
                  <a:solidFill>
                    <a:srgbClr val="000000"/>
                  </a:solidFill>
                  <a:latin typeface="Montserrat Bold"/>
                  <a:ea typeface="Montserrat Bold"/>
                  <a:cs typeface="Montserrat Bold"/>
                  <a:sym typeface="Montserrat Bold"/>
                </a:rPr>
                <a:t>Evri and Yodels are delivery companies in the UK.</a:t>
              </a:r>
            </a:p>
          </p:txBody>
        </p:sp>
      </p:grpSp>
      <p:sp>
        <p:nvSpPr>
          <p:cNvPr id="11" name="TextBox 11"/>
          <p:cNvSpPr txBox="1"/>
          <p:nvPr/>
        </p:nvSpPr>
        <p:spPr>
          <a:xfrm>
            <a:off x="1047750" y="2990850"/>
            <a:ext cx="4572000" cy="787146"/>
          </a:xfrm>
          <a:prstGeom prst="rect">
            <a:avLst/>
          </a:prstGeom>
        </p:spPr>
        <p:txBody>
          <a:bodyPr lIns="0" tIns="0" rIns="0" bIns="0" rtlCol="0" anchor="t">
            <a:spAutoFit/>
          </a:bodyPr>
          <a:lstStyle/>
          <a:p>
            <a:pPr algn="l">
              <a:lnSpc>
                <a:spcPts val="6042"/>
              </a:lnSpc>
            </a:pPr>
            <a:r>
              <a:rPr lang="en-US" sz="5700" b="1">
                <a:solidFill>
                  <a:srgbClr val="FFBD59"/>
                </a:solidFill>
                <a:latin typeface="Montserrat Bold"/>
                <a:ea typeface="Montserrat Bold"/>
                <a:cs typeface="Montserrat Bold"/>
                <a:sym typeface="Montserrat Bold"/>
              </a:rPr>
              <a:t>68 / 100</a:t>
            </a:r>
          </a:p>
        </p:txBody>
      </p:sp>
      <p:sp>
        <p:nvSpPr>
          <p:cNvPr id="12" name="TextBox 12"/>
          <p:cNvSpPr txBox="1"/>
          <p:nvPr/>
        </p:nvSpPr>
        <p:spPr>
          <a:xfrm>
            <a:off x="952500" y="7658100"/>
            <a:ext cx="5048250" cy="656082"/>
          </a:xfrm>
          <a:prstGeom prst="rect">
            <a:avLst/>
          </a:prstGeom>
        </p:spPr>
        <p:txBody>
          <a:bodyPr lIns="0" tIns="0" rIns="0" bIns="0" rtlCol="0" anchor="t">
            <a:spAutoFit/>
          </a:bodyPr>
          <a:lstStyle/>
          <a:p>
            <a:pPr algn="l">
              <a:lnSpc>
                <a:spcPts val="2604"/>
              </a:lnSpc>
            </a:pPr>
            <a:r>
              <a:rPr lang="en-US" sz="2100">
                <a:solidFill>
                  <a:srgbClr val="FFFFFF"/>
                </a:solidFill>
                <a:latin typeface="DM Sans"/>
                <a:ea typeface="DM Sans"/>
                <a:cs typeface="DM Sans"/>
                <a:sym typeface="DM Sans"/>
              </a:rPr>
              <a:t>UK recipients experienced any delivery</a:t>
            </a:r>
          </a:p>
          <a:p>
            <a:pPr algn="l">
              <a:lnSpc>
                <a:spcPts val="2604"/>
              </a:lnSpc>
            </a:pPr>
            <a:r>
              <a:rPr lang="en-US" sz="2100">
                <a:solidFill>
                  <a:srgbClr val="FFFFFF"/>
                </a:solidFill>
                <a:latin typeface="DM Sans"/>
                <a:ea typeface="DM Sans"/>
                <a:cs typeface="DM Sans"/>
                <a:sym typeface="DM Sans"/>
              </a:rPr>
              <a:t>issue in the previous SIX MONTHS</a:t>
            </a:r>
          </a:p>
        </p:txBody>
      </p:sp>
      <p:sp>
        <p:nvSpPr>
          <p:cNvPr id="13" name="TextBox 13"/>
          <p:cNvSpPr txBox="1"/>
          <p:nvPr/>
        </p:nvSpPr>
        <p:spPr>
          <a:xfrm>
            <a:off x="6477000" y="3505200"/>
            <a:ext cx="4572000" cy="787146"/>
          </a:xfrm>
          <a:prstGeom prst="rect">
            <a:avLst/>
          </a:prstGeom>
        </p:spPr>
        <p:txBody>
          <a:bodyPr lIns="0" tIns="0" rIns="0" bIns="0" rtlCol="0" anchor="t">
            <a:spAutoFit/>
          </a:bodyPr>
          <a:lstStyle/>
          <a:p>
            <a:pPr algn="l">
              <a:lnSpc>
                <a:spcPts val="6042"/>
              </a:lnSpc>
            </a:pPr>
            <a:r>
              <a:rPr lang="en-US" sz="5700" b="1">
                <a:solidFill>
                  <a:srgbClr val="FFBD59"/>
                </a:solidFill>
                <a:latin typeface="Montserrat Bold"/>
                <a:ea typeface="Montserrat Bold"/>
                <a:cs typeface="Montserrat Bold"/>
                <a:sym typeface="Montserrat Bold"/>
              </a:rPr>
              <a:t>46 / 100</a:t>
            </a:r>
          </a:p>
        </p:txBody>
      </p:sp>
      <p:sp>
        <p:nvSpPr>
          <p:cNvPr id="14" name="TextBox 14"/>
          <p:cNvSpPr txBox="1"/>
          <p:nvPr/>
        </p:nvSpPr>
        <p:spPr>
          <a:xfrm>
            <a:off x="6477000" y="7658100"/>
            <a:ext cx="5238750" cy="656082"/>
          </a:xfrm>
          <a:prstGeom prst="rect">
            <a:avLst/>
          </a:prstGeom>
        </p:spPr>
        <p:txBody>
          <a:bodyPr lIns="0" tIns="0" rIns="0" bIns="0" rtlCol="0" anchor="t">
            <a:spAutoFit/>
          </a:bodyPr>
          <a:lstStyle/>
          <a:p>
            <a:pPr algn="l">
              <a:lnSpc>
                <a:spcPts val="2604"/>
              </a:lnSpc>
            </a:pPr>
            <a:r>
              <a:rPr lang="en-US" sz="2100">
                <a:solidFill>
                  <a:srgbClr val="FFFFFF"/>
                </a:solidFill>
                <a:latin typeface="DM Sans"/>
                <a:ea typeface="DM Sans"/>
                <a:cs typeface="DM Sans"/>
                <a:sym typeface="DM Sans"/>
              </a:rPr>
              <a:t>Complaints-handling satisfaction</a:t>
            </a:r>
          </a:p>
          <a:p>
            <a:pPr algn="l">
              <a:lnSpc>
                <a:spcPts val="2604"/>
              </a:lnSpc>
            </a:pPr>
            <a:r>
              <a:rPr lang="en-US" sz="2100">
                <a:solidFill>
                  <a:srgbClr val="FFFFFF"/>
                </a:solidFill>
                <a:latin typeface="DM Sans"/>
                <a:ea typeface="DM Sans"/>
                <a:cs typeface="DM Sans"/>
                <a:sym typeface="DM Sans"/>
              </a:rPr>
              <a:t>Separate measure, not a funnel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grpSp>
        <p:nvGrpSpPr>
          <p:cNvPr id="2" name="Group 2"/>
          <p:cNvGrpSpPr/>
          <p:nvPr/>
        </p:nvGrpSpPr>
        <p:grpSpPr>
          <a:xfrm>
            <a:off x="8191258" y="-13944"/>
            <a:ext cx="10096742" cy="10300944"/>
            <a:chOff x="0" y="0"/>
            <a:chExt cx="2659224" cy="2713006"/>
          </a:xfrm>
        </p:grpSpPr>
        <p:sp>
          <p:nvSpPr>
            <p:cNvPr id="3" name="Freeform 3"/>
            <p:cNvSpPr/>
            <p:nvPr/>
          </p:nvSpPr>
          <p:spPr>
            <a:xfrm>
              <a:off x="0" y="0"/>
              <a:ext cx="2659224" cy="2713006"/>
            </a:xfrm>
            <a:custGeom>
              <a:avLst/>
              <a:gdLst/>
              <a:ahLst/>
              <a:cxnLst/>
              <a:rect l="l" t="t" r="r" b="b"/>
              <a:pathLst>
                <a:path w="2659224" h="2713006">
                  <a:moveTo>
                    <a:pt x="0" y="0"/>
                  </a:moveTo>
                  <a:lnTo>
                    <a:pt x="2659224" y="0"/>
                  </a:lnTo>
                  <a:lnTo>
                    <a:pt x="2659224" y="2713006"/>
                  </a:lnTo>
                  <a:lnTo>
                    <a:pt x="0" y="2713006"/>
                  </a:lnTo>
                  <a:close/>
                </a:path>
              </a:pathLst>
            </a:custGeom>
            <a:solidFill>
              <a:srgbClr val="FFBD59"/>
            </a:solidFill>
          </p:spPr>
        </p:sp>
        <p:sp>
          <p:nvSpPr>
            <p:cNvPr id="4" name="TextBox 4"/>
            <p:cNvSpPr txBox="1"/>
            <p:nvPr/>
          </p:nvSpPr>
          <p:spPr>
            <a:xfrm>
              <a:off x="0" y="9525"/>
              <a:ext cx="2659224" cy="2703481"/>
            </a:xfrm>
            <a:prstGeom prst="rect">
              <a:avLst/>
            </a:prstGeom>
          </p:spPr>
          <p:txBody>
            <a:bodyPr lIns="50800" tIns="50800" rIns="50800" bIns="50800" rtlCol="0" anchor="ctr"/>
            <a:lstStyle/>
            <a:p>
              <a:pPr algn="ctr">
                <a:lnSpc>
                  <a:spcPts val="2587"/>
                </a:lnSpc>
              </a:pPr>
              <a:endParaRPr/>
            </a:p>
          </p:txBody>
        </p:sp>
      </p:grpSp>
      <p:sp>
        <p:nvSpPr>
          <p:cNvPr id="5" name="Freeform 5"/>
          <p:cNvSpPr/>
          <p:nvPr/>
        </p:nvSpPr>
        <p:spPr>
          <a:xfrm>
            <a:off x="1496480" y="3407599"/>
            <a:ext cx="4213284" cy="5543795"/>
          </a:xfrm>
          <a:custGeom>
            <a:avLst/>
            <a:gdLst/>
            <a:ahLst/>
            <a:cxnLst/>
            <a:rect l="l" t="t" r="r" b="b"/>
            <a:pathLst>
              <a:path w="4213284" h="5543795">
                <a:moveTo>
                  <a:pt x="0" y="0"/>
                </a:moveTo>
                <a:lnTo>
                  <a:pt x="4213284" y="0"/>
                </a:lnTo>
                <a:lnTo>
                  <a:pt x="4213284" y="5543794"/>
                </a:lnTo>
                <a:lnTo>
                  <a:pt x="0" y="55437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028700" y="1200150"/>
            <a:ext cx="6433068" cy="1648130"/>
          </a:xfrm>
          <a:prstGeom prst="rect">
            <a:avLst/>
          </a:prstGeom>
        </p:spPr>
        <p:txBody>
          <a:bodyPr lIns="0" tIns="0" rIns="0" bIns="0" rtlCol="0" anchor="t">
            <a:spAutoFit/>
          </a:bodyPr>
          <a:lstStyle/>
          <a:p>
            <a:pPr marL="0" lvl="0" indent="0" algn="l">
              <a:lnSpc>
                <a:spcPts val="12597"/>
              </a:lnSpc>
            </a:pPr>
            <a:r>
              <a:rPr lang="en-US" sz="12000" b="1" spc="-720">
                <a:solidFill>
                  <a:srgbClr val="F6F6F6"/>
                </a:solidFill>
                <a:latin typeface="Roboto Bold"/>
                <a:ea typeface="Roboto Bold"/>
                <a:cs typeface="Roboto Bold"/>
                <a:sym typeface="Roboto Bold"/>
              </a:rPr>
              <a:t>Solution?</a:t>
            </a:r>
          </a:p>
        </p:txBody>
      </p:sp>
      <p:sp>
        <p:nvSpPr>
          <p:cNvPr id="7" name="TextBox 7"/>
          <p:cNvSpPr txBox="1"/>
          <p:nvPr/>
        </p:nvSpPr>
        <p:spPr>
          <a:xfrm>
            <a:off x="9144000" y="873820"/>
            <a:ext cx="8280719" cy="3238805"/>
          </a:xfrm>
          <a:prstGeom prst="rect">
            <a:avLst/>
          </a:prstGeom>
        </p:spPr>
        <p:txBody>
          <a:bodyPr lIns="0" tIns="0" rIns="0" bIns="0" rtlCol="0" anchor="t">
            <a:spAutoFit/>
          </a:bodyPr>
          <a:lstStyle/>
          <a:p>
            <a:pPr marL="0" lvl="0" indent="0" algn="l">
              <a:lnSpc>
                <a:spcPts val="12597"/>
              </a:lnSpc>
            </a:pPr>
            <a:r>
              <a:rPr lang="en-US" sz="12000" b="1" spc="-720">
                <a:solidFill>
                  <a:srgbClr val="000000"/>
                </a:solidFill>
                <a:latin typeface="Roboto Bold"/>
                <a:ea typeface="Roboto Bold"/>
                <a:cs typeface="Roboto Bold"/>
                <a:sym typeface="Roboto Bold"/>
              </a:rPr>
              <a:t>Meet ResolveMate</a:t>
            </a:r>
          </a:p>
        </p:txBody>
      </p:sp>
      <p:sp>
        <p:nvSpPr>
          <p:cNvPr id="8" name="TextBox 8"/>
          <p:cNvSpPr txBox="1"/>
          <p:nvPr/>
        </p:nvSpPr>
        <p:spPr>
          <a:xfrm>
            <a:off x="9144000" y="4027024"/>
            <a:ext cx="8280719" cy="2819578"/>
          </a:xfrm>
          <a:prstGeom prst="rect">
            <a:avLst/>
          </a:prstGeom>
        </p:spPr>
        <p:txBody>
          <a:bodyPr lIns="0" tIns="0" rIns="0" bIns="0" rtlCol="0" anchor="t">
            <a:spAutoFit/>
          </a:bodyPr>
          <a:lstStyle/>
          <a:p>
            <a:pPr marL="0" lvl="0" indent="0" algn="l">
              <a:lnSpc>
                <a:spcPts val="7348"/>
              </a:lnSpc>
            </a:pPr>
            <a:r>
              <a:rPr lang="en-US" sz="6999" spc="-420">
                <a:solidFill>
                  <a:srgbClr val="000000"/>
                </a:solidFill>
                <a:latin typeface="Roboto"/>
                <a:ea typeface="Roboto"/>
                <a:cs typeface="Roboto"/>
                <a:sym typeface="Roboto"/>
              </a:rPr>
              <a:t>A centralized workspace for delivery exceptions.</a:t>
            </a:r>
          </a:p>
        </p:txBody>
      </p:sp>
      <p:grpSp>
        <p:nvGrpSpPr>
          <p:cNvPr id="9" name="Group 9"/>
          <p:cNvGrpSpPr/>
          <p:nvPr/>
        </p:nvGrpSpPr>
        <p:grpSpPr>
          <a:xfrm>
            <a:off x="9144000" y="7254389"/>
            <a:ext cx="6659850" cy="908007"/>
            <a:chOff x="0" y="0"/>
            <a:chExt cx="8879800" cy="1210676"/>
          </a:xfrm>
        </p:grpSpPr>
        <p:grpSp>
          <p:nvGrpSpPr>
            <p:cNvPr id="10" name="Group 10"/>
            <p:cNvGrpSpPr/>
            <p:nvPr/>
          </p:nvGrpSpPr>
          <p:grpSpPr>
            <a:xfrm>
              <a:off x="1358850" y="0"/>
              <a:ext cx="7520951" cy="1210676"/>
              <a:chOff x="0" y="0"/>
              <a:chExt cx="1485620" cy="239146"/>
            </a:xfrm>
          </p:grpSpPr>
          <p:sp>
            <p:nvSpPr>
              <p:cNvPr id="11" name="Freeform 11"/>
              <p:cNvSpPr/>
              <p:nvPr/>
            </p:nvSpPr>
            <p:spPr>
              <a:xfrm>
                <a:off x="0" y="0"/>
                <a:ext cx="1485620" cy="239146"/>
              </a:xfrm>
              <a:custGeom>
                <a:avLst/>
                <a:gdLst/>
                <a:ahLst/>
                <a:cxnLst/>
                <a:rect l="l" t="t" r="r" b="b"/>
                <a:pathLst>
                  <a:path w="1485620" h="239146">
                    <a:moveTo>
                      <a:pt x="69998" y="0"/>
                    </a:moveTo>
                    <a:lnTo>
                      <a:pt x="1415622" y="0"/>
                    </a:lnTo>
                    <a:cubicBezTo>
                      <a:pt x="1454281" y="0"/>
                      <a:pt x="1485620" y="31339"/>
                      <a:pt x="1485620" y="69998"/>
                    </a:cubicBezTo>
                    <a:lnTo>
                      <a:pt x="1485620" y="169148"/>
                    </a:lnTo>
                    <a:cubicBezTo>
                      <a:pt x="1485620" y="207807"/>
                      <a:pt x="1454281" y="239146"/>
                      <a:pt x="1415622" y="239146"/>
                    </a:cubicBezTo>
                    <a:lnTo>
                      <a:pt x="69998" y="239146"/>
                    </a:lnTo>
                    <a:cubicBezTo>
                      <a:pt x="31339" y="239146"/>
                      <a:pt x="0" y="207807"/>
                      <a:pt x="0" y="169148"/>
                    </a:cubicBezTo>
                    <a:lnTo>
                      <a:pt x="0" y="69998"/>
                    </a:lnTo>
                    <a:cubicBezTo>
                      <a:pt x="0" y="31339"/>
                      <a:pt x="31339" y="0"/>
                      <a:pt x="69998" y="0"/>
                    </a:cubicBezTo>
                    <a:close/>
                  </a:path>
                </a:pathLst>
              </a:custGeom>
              <a:solidFill>
                <a:srgbClr val="10283F"/>
              </a:solidFill>
            </p:spPr>
          </p:sp>
          <p:sp>
            <p:nvSpPr>
              <p:cNvPr id="12" name="TextBox 12"/>
              <p:cNvSpPr txBox="1"/>
              <p:nvPr/>
            </p:nvSpPr>
            <p:spPr>
              <a:xfrm>
                <a:off x="0" y="9525"/>
                <a:ext cx="1485620" cy="229621"/>
              </a:xfrm>
              <a:prstGeom prst="rect">
                <a:avLst/>
              </a:prstGeom>
            </p:spPr>
            <p:txBody>
              <a:bodyPr lIns="50800" tIns="50800" rIns="50800" bIns="50800" rtlCol="0" anchor="ctr"/>
              <a:lstStyle/>
              <a:p>
                <a:pPr algn="ctr">
                  <a:lnSpc>
                    <a:spcPts val="2587"/>
                  </a:lnSpc>
                </a:pPr>
                <a:r>
                  <a:rPr lang="en-US" sz="2250" b="1">
                    <a:solidFill>
                      <a:srgbClr val="FFFFFF"/>
                    </a:solidFill>
                    <a:latin typeface="DM Sans Bold"/>
                    <a:ea typeface="DM Sans Bold"/>
                    <a:cs typeface="DM Sans Bold"/>
                    <a:sym typeface="DM Sans Bold"/>
                  </a:rPr>
                  <a:t>Target buyer = Delivery company</a:t>
                </a:r>
              </a:p>
            </p:txBody>
          </p:sp>
        </p:grpSp>
        <p:grpSp>
          <p:nvGrpSpPr>
            <p:cNvPr id="13" name="Group 13"/>
            <p:cNvGrpSpPr/>
            <p:nvPr/>
          </p:nvGrpSpPr>
          <p:grpSpPr>
            <a:xfrm>
              <a:off x="0" y="95598"/>
              <a:ext cx="1079450" cy="1019480"/>
              <a:chOff x="0" y="0"/>
              <a:chExt cx="685800" cy="647700"/>
            </a:xfrm>
          </p:grpSpPr>
          <p:sp>
            <p:nvSpPr>
              <p:cNvPr id="14" name="Freeform 14"/>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0B0907"/>
              </a:solidFill>
            </p:spPr>
          </p:sp>
          <p:sp>
            <p:nvSpPr>
              <p:cNvPr id="15" name="TextBox 15"/>
              <p:cNvSpPr txBox="1"/>
              <p:nvPr/>
            </p:nvSpPr>
            <p:spPr>
              <a:xfrm>
                <a:off x="171450" y="161925"/>
                <a:ext cx="342900" cy="333375"/>
              </a:xfrm>
              <a:prstGeom prst="rect">
                <a:avLst/>
              </a:prstGeom>
            </p:spPr>
            <p:txBody>
              <a:bodyPr lIns="50800" tIns="50800" rIns="50800" bIns="50800" rtlCol="0" anchor="ctr"/>
              <a:lstStyle/>
              <a:p>
                <a:pPr algn="ctr">
                  <a:lnSpc>
                    <a:spcPts val="2587"/>
                  </a:lnSpc>
                </a:pPr>
                <a:endParaRPr/>
              </a:p>
            </p:txBody>
          </p:sp>
        </p:grpSp>
      </p:grpSp>
      <p:grpSp>
        <p:nvGrpSpPr>
          <p:cNvPr id="16" name="Group 16"/>
          <p:cNvGrpSpPr/>
          <p:nvPr/>
        </p:nvGrpSpPr>
        <p:grpSpPr>
          <a:xfrm>
            <a:off x="9144000" y="8571971"/>
            <a:ext cx="6629362" cy="908007"/>
            <a:chOff x="0" y="0"/>
            <a:chExt cx="8839150" cy="1210676"/>
          </a:xfrm>
        </p:grpSpPr>
        <p:grpSp>
          <p:nvGrpSpPr>
            <p:cNvPr id="17" name="Group 17"/>
            <p:cNvGrpSpPr/>
            <p:nvPr/>
          </p:nvGrpSpPr>
          <p:grpSpPr>
            <a:xfrm>
              <a:off x="1318199" y="0"/>
              <a:ext cx="7520951" cy="1210676"/>
              <a:chOff x="0" y="0"/>
              <a:chExt cx="1485620" cy="239146"/>
            </a:xfrm>
          </p:grpSpPr>
          <p:sp>
            <p:nvSpPr>
              <p:cNvPr id="18" name="Freeform 18"/>
              <p:cNvSpPr/>
              <p:nvPr/>
            </p:nvSpPr>
            <p:spPr>
              <a:xfrm>
                <a:off x="0" y="0"/>
                <a:ext cx="1485620" cy="239146"/>
              </a:xfrm>
              <a:custGeom>
                <a:avLst/>
                <a:gdLst/>
                <a:ahLst/>
                <a:cxnLst/>
                <a:rect l="l" t="t" r="r" b="b"/>
                <a:pathLst>
                  <a:path w="1485620" h="239146">
                    <a:moveTo>
                      <a:pt x="69998" y="0"/>
                    </a:moveTo>
                    <a:lnTo>
                      <a:pt x="1415622" y="0"/>
                    </a:lnTo>
                    <a:cubicBezTo>
                      <a:pt x="1454281" y="0"/>
                      <a:pt x="1485620" y="31339"/>
                      <a:pt x="1485620" y="69998"/>
                    </a:cubicBezTo>
                    <a:lnTo>
                      <a:pt x="1485620" y="169148"/>
                    </a:lnTo>
                    <a:cubicBezTo>
                      <a:pt x="1485620" y="207807"/>
                      <a:pt x="1454281" y="239146"/>
                      <a:pt x="1415622" y="239146"/>
                    </a:cubicBezTo>
                    <a:lnTo>
                      <a:pt x="69998" y="239146"/>
                    </a:lnTo>
                    <a:cubicBezTo>
                      <a:pt x="31339" y="239146"/>
                      <a:pt x="0" y="207807"/>
                      <a:pt x="0" y="169148"/>
                    </a:cubicBezTo>
                    <a:lnTo>
                      <a:pt x="0" y="69998"/>
                    </a:lnTo>
                    <a:cubicBezTo>
                      <a:pt x="0" y="31339"/>
                      <a:pt x="31339" y="0"/>
                      <a:pt x="69998" y="0"/>
                    </a:cubicBezTo>
                    <a:close/>
                  </a:path>
                </a:pathLst>
              </a:custGeom>
              <a:solidFill>
                <a:srgbClr val="10283F"/>
              </a:solidFill>
            </p:spPr>
          </p:sp>
          <p:sp>
            <p:nvSpPr>
              <p:cNvPr id="19" name="TextBox 19"/>
              <p:cNvSpPr txBox="1"/>
              <p:nvPr/>
            </p:nvSpPr>
            <p:spPr>
              <a:xfrm>
                <a:off x="0" y="9525"/>
                <a:ext cx="1485620" cy="229621"/>
              </a:xfrm>
              <a:prstGeom prst="rect">
                <a:avLst/>
              </a:prstGeom>
            </p:spPr>
            <p:txBody>
              <a:bodyPr lIns="50800" tIns="50800" rIns="50800" bIns="50800" rtlCol="0" anchor="ctr"/>
              <a:lstStyle/>
              <a:p>
                <a:pPr algn="ctr">
                  <a:lnSpc>
                    <a:spcPts val="2587"/>
                  </a:lnSpc>
                </a:pPr>
                <a:r>
                  <a:rPr lang="en-US" sz="2250" b="1">
                    <a:solidFill>
                      <a:srgbClr val="FFFFFF"/>
                    </a:solidFill>
                    <a:latin typeface="DM Sans Bold"/>
                    <a:ea typeface="DM Sans Bold"/>
                    <a:cs typeface="DM Sans Bold"/>
                    <a:sym typeface="DM Sans Bold"/>
                  </a:rPr>
                  <a:t>Primary User = Operation employee</a:t>
                </a:r>
              </a:p>
            </p:txBody>
          </p:sp>
        </p:grpSp>
        <p:grpSp>
          <p:nvGrpSpPr>
            <p:cNvPr id="20" name="Group 20"/>
            <p:cNvGrpSpPr/>
            <p:nvPr/>
          </p:nvGrpSpPr>
          <p:grpSpPr>
            <a:xfrm>
              <a:off x="0" y="95598"/>
              <a:ext cx="1079450" cy="1019480"/>
              <a:chOff x="0" y="0"/>
              <a:chExt cx="685800" cy="647700"/>
            </a:xfrm>
          </p:grpSpPr>
          <p:sp>
            <p:nvSpPr>
              <p:cNvPr id="21" name="Freeform 21"/>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0B0907"/>
              </a:solidFill>
            </p:spPr>
          </p:sp>
          <p:sp>
            <p:nvSpPr>
              <p:cNvPr id="22" name="TextBox 22"/>
              <p:cNvSpPr txBox="1"/>
              <p:nvPr/>
            </p:nvSpPr>
            <p:spPr>
              <a:xfrm>
                <a:off x="171450" y="161925"/>
                <a:ext cx="342900" cy="333375"/>
              </a:xfrm>
              <a:prstGeom prst="rect">
                <a:avLst/>
              </a:prstGeom>
            </p:spPr>
            <p:txBody>
              <a:bodyPr lIns="50800" tIns="50800" rIns="50800" bIns="50800" rtlCol="0" anchor="ctr"/>
              <a:lstStyle/>
              <a:p>
                <a:pPr algn="ctr">
                  <a:lnSpc>
                    <a:spcPts val="2587"/>
                  </a:lnSpc>
                </a:pP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sp>
        <p:nvSpPr>
          <p:cNvPr id="2" name="TextBox 2"/>
          <p:cNvSpPr txBox="1"/>
          <p:nvPr/>
        </p:nvSpPr>
        <p:spPr>
          <a:xfrm>
            <a:off x="4762500" y="8972550"/>
            <a:ext cx="8763000" cy="285750"/>
          </a:xfrm>
          <a:prstGeom prst="rect">
            <a:avLst/>
          </a:prstGeom>
        </p:spPr>
        <p:txBody>
          <a:bodyPr lIns="0" tIns="0" rIns="0" bIns="0" rtlCol="0" anchor="t">
            <a:spAutoFit/>
          </a:bodyPr>
          <a:lstStyle/>
          <a:p>
            <a:pPr algn="ctr">
              <a:lnSpc>
                <a:spcPts val="2340"/>
              </a:lnSpc>
            </a:pPr>
            <a:r>
              <a:rPr lang="en-US" sz="1950" b="1">
                <a:solidFill>
                  <a:srgbClr val="FFFFFF"/>
                </a:solidFill>
                <a:latin typeface="DM Sans Bold"/>
                <a:ea typeface="DM Sans Bold"/>
                <a:cs typeface="DM Sans Bold"/>
                <a:sym typeface="DM Sans Bold"/>
              </a:rPr>
              <a:t>FUTURE integration · not connected in this demo</a:t>
            </a:r>
          </a:p>
        </p:txBody>
      </p:sp>
      <p:grpSp>
        <p:nvGrpSpPr>
          <p:cNvPr id="3" name="Group 3"/>
          <p:cNvGrpSpPr/>
          <p:nvPr/>
        </p:nvGrpSpPr>
        <p:grpSpPr>
          <a:xfrm>
            <a:off x="4548188" y="3391285"/>
            <a:ext cx="9525000" cy="4191000"/>
            <a:chOff x="0" y="0"/>
            <a:chExt cx="12700000" cy="5588000"/>
          </a:xfrm>
        </p:grpSpPr>
        <p:sp>
          <p:nvSpPr>
            <p:cNvPr id="4" name="Freeform 4"/>
            <p:cNvSpPr/>
            <p:nvPr/>
          </p:nvSpPr>
          <p:spPr>
            <a:xfrm>
              <a:off x="0" y="0"/>
              <a:ext cx="12700000" cy="5588000"/>
            </a:xfrm>
            <a:custGeom>
              <a:avLst/>
              <a:gdLst/>
              <a:ahLst/>
              <a:cxnLst/>
              <a:rect l="l" t="t" r="r" b="b"/>
              <a:pathLst>
                <a:path w="12700000" h="5588000">
                  <a:moveTo>
                    <a:pt x="0" y="0"/>
                  </a:moveTo>
                  <a:lnTo>
                    <a:pt x="12700000" y="0"/>
                  </a:lnTo>
                  <a:lnTo>
                    <a:pt x="12700000" y="5588000"/>
                  </a:lnTo>
                  <a:lnTo>
                    <a:pt x="0" y="5588000"/>
                  </a:lnTo>
                  <a:close/>
                </a:path>
              </a:pathLst>
            </a:custGeom>
            <a:solidFill>
              <a:srgbClr val="E7F3EF"/>
            </a:solidFill>
            <a:ln cap="sq">
              <a:noFill/>
              <a:prstDash val="solid"/>
              <a:miter/>
            </a:ln>
          </p:spPr>
        </p:sp>
        <p:sp>
          <p:nvSpPr>
            <p:cNvPr id="5" name="TextBox 5"/>
            <p:cNvSpPr txBox="1"/>
            <p:nvPr/>
          </p:nvSpPr>
          <p:spPr>
            <a:xfrm>
              <a:off x="0" y="-38100"/>
              <a:ext cx="12700000" cy="56261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5024438" y="3581785"/>
            <a:ext cx="8572500" cy="374015"/>
          </a:xfrm>
          <a:prstGeom prst="rect">
            <a:avLst/>
          </a:prstGeom>
        </p:spPr>
        <p:txBody>
          <a:bodyPr lIns="0" tIns="0" rIns="0" bIns="0" rtlCol="0" anchor="t">
            <a:spAutoFit/>
          </a:bodyPr>
          <a:lstStyle/>
          <a:p>
            <a:pPr algn="ctr">
              <a:lnSpc>
                <a:spcPts val="3009"/>
              </a:lnSpc>
            </a:pPr>
            <a:r>
              <a:rPr lang="en-US" sz="2149" b="1">
                <a:solidFill>
                  <a:srgbClr val="536777"/>
                </a:solidFill>
                <a:latin typeface="Montserrat Bold"/>
                <a:ea typeface="Montserrat Bold"/>
                <a:cs typeface="Montserrat Bold"/>
                <a:sym typeface="Montserrat Bold"/>
              </a:rPr>
              <a:t>ONE COMPANY'S INTERNAL EXCEPTION WORKFLOW</a:t>
            </a:r>
          </a:p>
        </p:txBody>
      </p:sp>
      <p:grpSp>
        <p:nvGrpSpPr>
          <p:cNvPr id="7" name="Group 7"/>
          <p:cNvGrpSpPr/>
          <p:nvPr/>
        </p:nvGrpSpPr>
        <p:grpSpPr>
          <a:xfrm>
            <a:off x="833438" y="4296160"/>
            <a:ext cx="3000375" cy="1047750"/>
            <a:chOff x="0" y="0"/>
            <a:chExt cx="4000500" cy="1397000"/>
          </a:xfrm>
        </p:grpSpPr>
        <p:sp>
          <p:nvSpPr>
            <p:cNvPr id="8" name="Freeform 8"/>
            <p:cNvSpPr/>
            <p:nvPr/>
          </p:nvSpPr>
          <p:spPr>
            <a:xfrm>
              <a:off x="0" y="0"/>
              <a:ext cx="4000500" cy="1397000"/>
            </a:xfrm>
            <a:custGeom>
              <a:avLst/>
              <a:gdLst/>
              <a:ahLst/>
              <a:cxnLst/>
              <a:rect l="l" t="t" r="r" b="b"/>
              <a:pathLst>
                <a:path w="4000500" h="1397000">
                  <a:moveTo>
                    <a:pt x="0" y="0"/>
                  </a:moveTo>
                  <a:lnTo>
                    <a:pt x="4000500" y="0"/>
                  </a:lnTo>
                  <a:lnTo>
                    <a:pt x="4000500" y="1397000"/>
                  </a:lnTo>
                  <a:lnTo>
                    <a:pt x="0" y="1397000"/>
                  </a:lnTo>
                  <a:close/>
                </a:path>
              </a:pathLst>
            </a:custGeom>
            <a:solidFill>
              <a:srgbClr val="DCE4E5"/>
            </a:solidFill>
            <a:ln cap="sq">
              <a:noFill/>
              <a:prstDash val="solid"/>
              <a:miter/>
            </a:ln>
          </p:spPr>
        </p:sp>
        <p:sp>
          <p:nvSpPr>
            <p:cNvPr id="9" name="TextBox 9"/>
            <p:cNvSpPr txBox="1"/>
            <p:nvPr/>
          </p:nvSpPr>
          <p:spPr>
            <a:xfrm>
              <a:off x="0" y="9525"/>
              <a:ext cx="4000500" cy="1387475"/>
            </a:xfrm>
            <a:prstGeom prst="rect">
              <a:avLst/>
            </a:prstGeom>
          </p:spPr>
          <p:txBody>
            <a:bodyPr lIns="50800" tIns="50800" rIns="50800" bIns="50800" rtlCol="0" anchor="ctr"/>
            <a:lstStyle/>
            <a:p>
              <a:pPr algn="ctr">
                <a:lnSpc>
                  <a:spcPts val="2587"/>
                </a:lnSpc>
              </a:pPr>
              <a:r>
                <a:rPr lang="en-US" sz="2250" b="1">
                  <a:solidFill>
                    <a:srgbClr val="10283F"/>
                  </a:solidFill>
                  <a:latin typeface="DM Sans Bold"/>
                  <a:ea typeface="DM Sans Bold"/>
                  <a:cs typeface="DM Sans Bold"/>
                  <a:sym typeface="DM Sans Bold"/>
                </a:rPr>
                <a:t>Driver portal</a:t>
              </a:r>
            </a:p>
            <a:p>
              <a:pPr algn="ctr">
                <a:lnSpc>
                  <a:spcPts val="2587"/>
                </a:lnSpc>
              </a:pPr>
              <a:r>
                <a:rPr lang="en-US" sz="2250" b="1">
                  <a:solidFill>
                    <a:srgbClr val="10283F"/>
                  </a:solidFill>
                  <a:latin typeface="DM Sans Bold"/>
                  <a:ea typeface="DM Sans Bold"/>
                  <a:cs typeface="DM Sans Bold"/>
                  <a:sym typeface="DM Sans Bold"/>
                </a:rPr>
                <a:t>Structured reports</a:t>
              </a:r>
            </a:p>
          </p:txBody>
        </p:sp>
      </p:grpSp>
      <p:grpSp>
        <p:nvGrpSpPr>
          <p:cNvPr id="10" name="Group 10"/>
          <p:cNvGrpSpPr/>
          <p:nvPr/>
        </p:nvGrpSpPr>
        <p:grpSpPr>
          <a:xfrm>
            <a:off x="833438" y="6105910"/>
            <a:ext cx="3000375" cy="1047750"/>
            <a:chOff x="0" y="0"/>
            <a:chExt cx="4000500" cy="1397000"/>
          </a:xfrm>
        </p:grpSpPr>
        <p:sp>
          <p:nvSpPr>
            <p:cNvPr id="11" name="Freeform 11"/>
            <p:cNvSpPr/>
            <p:nvPr/>
          </p:nvSpPr>
          <p:spPr>
            <a:xfrm>
              <a:off x="0" y="0"/>
              <a:ext cx="4000500" cy="1397000"/>
            </a:xfrm>
            <a:custGeom>
              <a:avLst/>
              <a:gdLst/>
              <a:ahLst/>
              <a:cxnLst/>
              <a:rect l="l" t="t" r="r" b="b"/>
              <a:pathLst>
                <a:path w="4000500" h="1397000">
                  <a:moveTo>
                    <a:pt x="0" y="0"/>
                  </a:moveTo>
                  <a:lnTo>
                    <a:pt x="4000500" y="0"/>
                  </a:lnTo>
                  <a:lnTo>
                    <a:pt x="4000500" y="1397000"/>
                  </a:lnTo>
                  <a:lnTo>
                    <a:pt x="0" y="1397000"/>
                  </a:lnTo>
                  <a:close/>
                </a:path>
              </a:pathLst>
            </a:custGeom>
            <a:solidFill>
              <a:srgbClr val="17B6AB"/>
            </a:solidFill>
            <a:ln cap="sq">
              <a:noFill/>
              <a:prstDash val="solid"/>
              <a:miter/>
            </a:ln>
          </p:spPr>
        </p:sp>
        <p:sp>
          <p:nvSpPr>
            <p:cNvPr id="12" name="TextBox 12"/>
            <p:cNvSpPr txBox="1"/>
            <p:nvPr/>
          </p:nvSpPr>
          <p:spPr>
            <a:xfrm>
              <a:off x="0" y="9525"/>
              <a:ext cx="4000500" cy="1387475"/>
            </a:xfrm>
            <a:prstGeom prst="rect">
              <a:avLst/>
            </a:prstGeom>
          </p:spPr>
          <p:txBody>
            <a:bodyPr lIns="50800" tIns="50800" rIns="50800" bIns="50800" rtlCol="0" anchor="ctr"/>
            <a:lstStyle/>
            <a:p>
              <a:pPr algn="ctr">
                <a:lnSpc>
                  <a:spcPts val="2587"/>
                </a:lnSpc>
              </a:pPr>
              <a:r>
                <a:rPr lang="en-US" sz="2250" b="1">
                  <a:solidFill>
                    <a:srgbClr val="10283F"/>
                  </a:solidFill>
                  <a:latin typeface="DM Sans Bold"/>
                  <a:ea typeface="DM Sans Bold"/>
                  <a:cs typeface="DM Sans Bold"/>
                  <a:sym typeface="DM Sans Bold"/>
                </a:rPr>
                <a:t>Customer portal</a:t>
              </a:r>
            </a:p>
            <a:p>
              <a:pPr algn="ctr">
                <a:lnSpc>
                  <a:spcPts val="2587"/>
                </a:lnSpc>
              </a:pPr>
              <a:r>
                <a:rPr lang="en-US" sz="2250" b="1">
                  <a:solidFill>
                    <a:srgbClr val="10283F"/>
                  </a:solidFill>
                  <a:latin typeface="DM Sans Bold"/>
                  <a:ea typeface="DM Sans Bold"/>
                  <a:cs typeface="DM Sans Bold"/>
                  <a:sym typeface="DM Sans Bold"/>
                </a:rPr>
                <a:t>Complaints</a:t>
              </a:r>
            </a:p>
          </p:txBody>
        </p:sp>
      </p:grpSp>
      <p:grpSp>
        <p:nvGrpSpPr>
          <p:cNvPr id="13" name="Group 13"/>
          <p:cNvGrpSpPr/>
          <p:nvPr/>
        </p:nvGrpSpPr>
        <p:grpSpPr>
          <a:xfrm>
            <a:off x="5453063" y="4486660"/>
            <a:ext cx="7715250" cy="1952625"/>
            <a:chOff x="0" y="0"/>
            <a:chExt cx="10287000" cy="2603500"/>
          </a:xfrm>
        </p:grpSpPr>
        <p:sp>
          <p:nvSpPr>
            <p:cNvPr id="14" name="Freeform 14"/>
            <p:cNvSpPr/>
            <p:nvPr/>
          </p:nvSpPr>
          <p:spPr>
            <a:xfrm>
              <a:off x="0" y="0"/>
              <a:ext cx="10287000" cy="2603500"/>
            </a:xfrm>
            <a:custGeom>
              <a:avLst/>
              <a:gdLst/>
              <a:ahLst/>
              <a:cxnLst/>
              <a:rect l="l" t="t" r="r" b="b"/>
              <a:pathLst>
                <a:path w="10287000" h="2603500">
                  <a:moveTo>
                    <a:pt x="0" y="0"/>
                  </a:moveTo>
                  <a:lnTo>
                    <a:pt x="10287000" y="0"/>
                  </a:lnTo>
                  <a:lnTo>
                    <a:pt x="10287000" y="2603500"/>
                  </a:lnTo>
                  <a:lnTo>
                    <a:pt x="0" y="2603500"/>
                  </a:lnTo>
                  <a:close/>
                </a:path>
              </a:pathLst>
            </a:custGeom>
            <a:solidFill>
              <a:srgbClr val="10283F"/>
            </a:solidFill>
            <a:ln cap="sq">
              <a:noFill/>
              <a:prstDash val="solid"/>
              <a:miter/>
            </a:ln>
          </p:spPr>
        </p:sp>
        <p:sp>
          <p:nvSpPr>
            <p:cNvPr id="15" name="TextBox 15"/>
            <p:cNvSpPr txBox="1"/>
            <p:nvPr/>
          </p:nvSpPr>
          <p:spPr>
            <a:xfrm>
              <a:off x="0" y="9525"/>
              <a:ext cx="10287000" cy="2593975"/>
            </a:xfrm>
            <a:prstGeom prst="rect">
              <a:avLst/>
            </a:prstGeom>
          </p:spPr>
          <p:txBody>
            <a:bodyPr lIns="50800" tIns="50800" rIns="50800" bIns="50800" rtlCol="0" anchor="ctr"/>
            <a:lstStyle/>
            <a:p>
              <a:pPr algn="ctr">
                <a:lnSpc>
                  <a:spcPts val="3450"/>
                </a:lnSpc>
              </a:pPr>
              <a:r>
                <a:rPr lang="en-US" sz="3000" b="1">
                  <a:solidFill>
                    <a:srgbClr val="FAF8F2"/>
                  </a:solidFill>
                  <a:latin typeface="DM Sans Bold"/>
                  <a:ea typeface="DM Sans Bold"/>
                  <a:cs typeface="DM Sans Bold"/>
                  <a:sym typeface="DM Sans Bold"/>
                </a:rPr>
                <a:t>Operations</a:t>
              </a:r>
            </a:p>
            <a:p>
              <a:pPr algn="ctr">
                <a:lnSpc>
                  <a:spcPts val="3450"/>
                </a:lnSpc>
              </a:pPr>
              <a:r>
                <a:rPr lang="en-US" sz="3000" b="1">
                  <a:solidFill>
                    <a:srgbClr val="FAF8F2"/>
                  </a:solidFill>
                  <a:latin typeface="DM Sans Bold"/>
                  <a:ea typeface="DM Sans Bold"/>
                  <a:cs typeface="DM Sans Bold"/>
                  <a:sym typeface="DM Sans Bold"/>
                </a:rPr>
                <a:t>Review • investigate • publish</a:t>
              </a:r>
            </a:p>
          </p:txBody>
        </p:sp>
      </p:grpSp>
      <p:grpSp>
        <p:nvGrpSpPr>
          <p:cNvPr id="16" name="Group 16"/>
          <p:cNvGrpSpPr/>
          <p:nvPr/>
        </p:nvGrpSpPr>
        <p:grpSpPr>
          <a:xfrm>
            <a:off x="14787563" y="4296160"/>
            <a:ext cx="2667000" cy="1047750"/>
            <a:chOff x="0" y="0"/>
            <a:chExt cx="3556000" cy="1397000"/>
          </a:xfrm>
        </p:grpSpPr>
        <p:sp>
          <p:nvSpPr>
            <p:cNvPr id="17" name="Freeform 17"/>
            <p:cNvSpPr/>
            <p:nvPr/>
          </p:nvSpPr>
          <p:spPr>
            <a:xfrm>
              <a:off x="0" y="0"/>
              <a:ext cx="3556000" cy="1397000"/>
            </a:xfrm>
            <a:custGeom>
              <a:avLst/>
              <a:gdLst/>
              <a:ahLst/>
              <a:cxnLst/>
              <a:rect l="l" t="t" r="r" b="b"/>
              <a:pathLst>
                <a:path w="3556000" h="1397000">
                  <a:moveTo>
                    <a:pt x="0" y="0"/>
                  </a:moveTo>
                  <a:lnTo>
                    <a:pt x="3556000" y="0"/>
                  </a:lnTo>
                  <a:lnTo>
                    <a:pt x="3556000" y="1397000"/>
                  </a:lnTo>
                  <a:lnTo>
                    <a:pt x="0" y="1397000"/>
                  </a:lnTo>
                  <a:close/>
                </a:path>
              </a:pathLst>
            </a:custGeom>
            <a:solidFill>
              <a:srgbClr val="17B6AB"/>
            </a:solidFill>
            <a:ln cap="sq">
              <a:noFill/>
              <a:prstDash val="solid"/>
              <a:miter/>
            </a:ln>
          </p:spPr>
        </p:sp>
        <p:sp>
          <p:nvSpPr>
            <p:cNvPr id="18" name="TextBox 18"/>
            <p:cNvSpPr txBox="1"/>
            <p:nvPr/>
          </p:nvSpPr>
          <p:spPr>
            <a:xfrm>
              <a:off x="0" y="9525"/>
              <a:ext cx="3556000" cy="1387475"/>
            </a:xfrm>
            <a:prstGeom prst="rect">
              <a:avLst/>
            </a:prstGeom>
          </p:spPr>
          <p:txBody>
            <a:bodyPr lIns="50800" tIns="50800" rIns="50800" bIns="50800" rtlCol="0" anchor="ctr"/>
            <a:lstStyle/>
            <a:p>
              <a:pPr algn="ctr">
                <a:lnSpc>
                  <a:spcPts val="2587"/>
                </a:lnSpc>
              </a:pPr>
              <a:r>
                <a:rPr lang="en-US" sz="2250" b="1">
                  <a:solidFill>
                    <a:srgbClr val="10283F"/>
                  </a:solidFill>
                  <a:latin typeface="DM Sans Bold"/>
                  <a:ea typeface="DM Sans Bold"/>
                  <a:cs typeface="DM Sans Bold"/>
                  <a:sym typeface="DM Sans Bold"/>
                </a:rPr>
                <a:t>Reviewed</a:t>
              </a:r>
            </a:p>
            <a:p>
              <a:pPr algn="ctr">
                <a:lnSpc>
                  <a:spcPts val="2587"/>
                </a:lnSpc>
              </a:pPr>
              <a:r>
                <a:rPr lang="en-US" sz="2250" b="1">
                  <a:solidFill>
                    <a:srgbClr val="10283F"/>
                  </a:solidFill>
                  <a:latin typeface="DM Sans Bold"/>
                  <a:ea typeface="DM Sans Bold"/>
                  <a:cs typeface="DM Sans Bold"/>
                  <a:sym typeface="DM Sans Bold"/>
                </a:rPr>
                <a:t>customer updates</a:t>
              </a:r>
            </a:p>
          </p:txBody>
        </p:sp>
      </p:grpSp>
      <p:grpSp>
        <p:nvGrpSpPr>
          <p:cNvPr id="19" name="Group 19"/>
          <p:cNvGrpSpPr/>
          <p:nvPr/>
        </p:nvGrpSpPr>
        <p:grpSpPr>
          <a:xfrm>
            <a:off x="14787563" y="6105910"/>
            <a:ext cx="2667000" cy="1047750"/>
            <a:chOff x="0" y="0"/>
            <a:chExt cx="3556000" cy="1397000"/>
          </a:xfrm>
        </p:grpSpPr>
        <p:sp>
          <p:nvSpPr>
            <p:cNvPr id="20" name="Freeform 20"/>
            <p:cNvSpPr/>
            <p:nvPr/>
          </p:nvSpPr>
          <p:spPr>
            <a:xfrm>
              <a:off x="0" y="0"/>
              <a:ext cx="3556000" cy="1397000"/>
            </a:xfrm>
            <a:custGeom>
              <a:avLst/>
              <a:gdLst/>
              <a:ahLst/>
              <a:cxnLst/>
              <a:rect l="l" t="t" r="r" b="b"/>
              <a:pathLst>
                <a:path w="3556000" h="1397000">
                  <a:moveTo>
                    <a:pt x="0" y="0"/>
                  </a:moveTo>
                  <a:lnTo>
                    <a:pt x="3556000" y="0"/>
                  </a:lnTo>
                  <a:lnTo>
                    <a:pt x="3556000" y="1397000"/>
                  </a:lnTo>
                  <a:lnTo>
                    <a:pt x="0" y="1397000"/>
                  </a:lnTo>
                  <a:close/>
                </a:path>
              </a:pathLst>
            </a:custGeom>
            <a:solidFill>
              <a:srgbClr val="E5AE53"/>
            </a:solidFill>
            <a:ln cap="sq">
              <a:noFill/>
              <a:prstDash val="solid"/>
              <a:miter/>
            </a:ln>
          </p:spPr>
        </p:sp>
        <p:sp>
          <p:nvSpPr>
            <p:cNvPr id="21" name="TextBox 21"/>
            <p:cNvSpPr txBox="1"/>
            <p:nvPr/>
          </p:nvSpPr>
          <p:spPr>
            <a:xfrm>
              <a:off x="0" y="9525"/>
              <a:ext cx="3556000" cy="1387475"/>
            </a:xfrm>
            <a:prstGeom prst="rect">
              <a:avLst/>
            </a:prstGeom>
          </p:spPr>
          <p:txBody>
            <a:bodyPr lIns="50800" tIns="50800" rIns="50800" bIns="50800" rtlCol="0" anchor="ctr"/>
            <a:lstStyle/>
            <a:p>
              <a:pPr algn="ctr">
                <a:lnSpc>
                  <a:spcPts val="2587"/>
                </a:lnSpc>
              </a:pPr>
              <a:r>
                <a:rPr lang="en-US" sz="2250" b="1">
                  <a:solidFill>
                    <a:srgbClr val="10283F"/>
                  </a:solidFill>
                  <a:latin typeface="DM Sans Bold"/>
                  <a:ea typeface="DM Sans Bold"/>
                  <a:cs typeface="DM Sans Bold"/>
                  <a:sym typeface="DM Sans Bold"/>
                </a:rPr>
                <a:t>Relevant</a:t>
              </a:r>
            </a:p>
            <a:p>
              <a:pPr algn="ctr">
                <a:lnSpc>
                  <a:spcPts val="2587"/>
                </a:lnSpc>
              </a:pPr>
              <a:r>
                <a:rPr lang="en-US" sz="2250" b="1">
                  <a:solidFill>
                    <a:srgbClr val="10283F"/>
                  </a:solidFill>
                  <a:latin typeface="DM Sans Bold"/>
                  <a:ea typeface="DM Sans Bold"/>
                  <a:cs typeface="DM Sans Bold"/>
                  <a:sym typeface="DM Sans Bold"/>
                </a:rPr>
                <a:t>seller handoffs</a:t>
              </a:r>
            </a:p>
          </p:txBody>
        </p:sp>
      </p:grpSp>
      <p:grpSp>
        <p:nvGrpSpPr>
          <p:cNvPr id="22" name="Group 22"/>
          <p:cNvGrpSpPr/>
          <p:nvPr/>
        </p:nvGrpSpPr>
        <p:grpSpPr>
          <a:xfrm>
            <a:off x="5310188" y="8106160"/>
            <a:ext cx="8001000" cy="714375"/>
            <a:chOff x="0" y="0"/>
            <a:chExt cx="10668000" cy="952500"/>
          </a:xfrm>
        </p:grpSpPr>
        <p:sp>
          <p:nvSpPr>
            <p:cNvPr id="23" name="Freeform 23"/>
            <p:cNvSpPr/>
            <p:nvPr/>
          </p:nvSpPr>
          <p:spPr>
            <a:xfrm>
              <a:off x="0" y="0"/>
              <a:ext cx="10668000" cy="952500"/>
            </a:xfrm>
            <a:custGeom>
              <a:avLst/>
              <a:gdLst/>
              <a:ahLst/>
              <a:cxnLst/>
              <a:rect l="l" t="t" r="r" b="b"/>
              <a:pathLst>
                <a:path w="10668000" h="952500">
                  <a:moveTo>
                    <a:pt x="0" y="0"/>
                  </a:moveTo>
                  <a:lnTo>
                    <a:pt x="10668000" y="0"/>
                  </a:lnTo>
                  <a:lnTo>
                    <a:pt x="10668000" y="952500"/>
                  </a:lnTo>
                  <a:lnTo>
                    <a:pt x="0" y="952500"/>
                  </a:lnTo>
                  <a:close/>
                </a:path>
              </a:pathLst>
            </a:custGeom>
            <a:solidFill>
              <a:srgbClr val="DCE4E5"/>
            </a:solidFill>
            <a:ln cap="sq">
              <a:noFill/>
              <a:prstDash val="solid"/>
              <a:miter/>
            </a:ln>
          </p:spPr>
        </p:sp>
        <p:sp>
          <p:nvSpPr>
            <p:cNvPr id="24" name="TextBox 24"/>
            <p:cNvSpPr txBox="1"/>
            <p:nvPr/>
          </p:nvSpPr>
          <p:spPr>
            <a:xfrm>
              <a:off x="0" y="0"/>
              <a:ext cx="10668000" cy="952500"/>
            </a:xfrm>
            <a:prstGeom prst="rect">
              <a:avLst/>
            </a:prstGeom>
          </p:spPr>
          <p:txBody>
            <a:bodyPr lIns="50800" tIns="50800" rIns="50800" bIns="50800" rtlCol="0" anchor="ctr"/>
            <a:lstStyle/>
            <a:p>
              <a:pPr algn="ctr">
                <a:lnSpc>
                  <a:spcPts val="2415"/>
                </a:lnSpc>
              </a:pPr>
              <a:r>
                <a:rPr lang="en-US" sz="2100" b="1">
                  <a:solidFill>
                    <a:srgbClr val="10283F"/>
                  </a:solidFill>
                  <a:latin typeface="DM Sans Bold"/>
                  <a:ea typeface="DM Sans Bold"/>
                  <a:cs typeface="DM Sans Bold"/>
                  <a:sym typeface="DM Sans Bold"/>
                </a:rPr>
                <a:t>Existing delivery management</a:t>
              </a:r>
            </a:p>
          </p:txBody>
        </p:sp>
      </p:grpSp>
      <p:sp>
        <p:nvSpPr>
          <p:cNvPr id="25" name="AutoShape 25"/>
          <p:cNvSpPr/>
          <p:nvPr/>
        </p:nvSpPr>
        <p:spPr>
          <a:xfrm>
            <a:off x="3976688" y="4820035"/>
            <a:ext cx="1333500" cy="238125"/>
          </a:xfrm>
          <a:prstGeom prst="line">
            <a:avLst/>
          </a:prstGeom>
          <a:ln w="28575" cap="flat">
            <a:solidFill>
              <a:srgbClr val="17B6AB"/>
            </a:solidFill>
            <a:prstDash val="solid"/>
            <a:headEnd type="none" w="sm" len="sm"/>
            <a:tailEnd type="arrow" w="med" len="sm"/>
          </a:ln>
        </p:spPr>
      </p:sp>
      <p:sp>
        <p:nvSpPr>
          <p:cNvPr id="26" name="AutoShape 26"/>
          <p:cNvSpPr/>
          <p:nvPr/>
        </p:nvSpPr>
        <p:spPr>
          <a:xfrm flipV="1">
            <a:off x="3976688" y="5963035"/>
            <a:ext cx="1333500" cy="666750"/>
          </a:xfrm>
          <a:prstGeom prst="line">
            <a:avLst/>
          </a:prstGeom>
          <a:ln w="28575" cap="flat">
            <a:solidFill>
              <a:srgbClr val="17B6AB"/>
            </a:solidFill>
            <a:prstDash val="solid"/>
            <a:headEnd type="none" w="sm" len="sm"/>
            <a:tailEnd type="arrow" w="med" len="sm"/>
          </a:ln>
        </p:spPr>
      </p:sp>
      <p:sp>
        <p:nvSpPr>
          <p:cNvPr id="27" name="AutoShape 27"/>
          <p:cNvSpPr/>
          <p:nvPr/>
        </p:nvSpPr>
        <p:spPr>
          <a:xfrm flipV="1">
            <a:off x="13311188" y="4820035"/>
            <a:ext cx="1333500" cy="238125"/>
          </a:xfrm>
          <a:prstGeom prst="line">
            <a:avLst/>
          </a:prstGeom>
          <a:ln w="28575" cap="flat">
            <a:solidFill>
              <a:srgbClr val="17B6AB"/>
            </a:solidFill>
            <a:prstDash val="solid"/>
            <a:headEnd type="none" w="sm" len="sm"/>
            <a:tailEnd type="arrow" w="med" len="sm"/>
          </a:ln>
        </p:spPr>
      </p:sp>
      <p:sp>
        <p:nvSpPr>
          <p:cNvPr id="28" name="AutoShape 28"/>
          <p:cNvSpPr/>
          <p:nvPr/>
        </p:nvSpPr>
        <p:spPr>
          <a:xfrm>
            <a:off x="13311188" y="5963035"/>
            <a:ext cx="1333500" cy="666750"/>
          </a:xfrm>
          <a:prstGeom prst="line">
            <a:avLst/>
          </a:prstGeom>
          <a:ln w="28575" cap="flat">
            <a:solidFill>
              <a:srgbClr val="E5AE53"/>
            </a:solidFill>
            <a:prstDash val="solid"/>
            <a:headEnd type="none" w="sm" len="sm"/>
            <a:tailEnd type="arrow" w="med" len="sm"/>
          </a:ln>
        </p:spPr>
      </p:sp>
      <p:sp>
        <p:nvSpPr>
          <p:cNvPr id="29" name="AutoShape 29"/>
          <p:cNvSpPr/>
          <p:nvPr/>
        </p:nvSpPr>
        <p:spPr>
          <a:xfrm>
            <a:off x="9144000" y="7648575"/>
            <a:ext cx="0" cy="314325"/>
          </a:xfrm>
          <a:prstGeom prst="line">
            <a:avLst/>
          </a:prstGeom>
          <a:ln w="28575" cap="flat">
            <a:solidFill>
              <a:srgbClr val="536777"/>
            </a:solidFill>
            <a:prstDash val="sysDash"/>
            <a:headEnd type="none" w="sm" len="sm"/>
            <a:tailEnd type="arrow" w="med" len="sm"/>
          </a:ln>
        </p:spPr>
      </p:sp>
      <p:sp>
        <p:nvSpPr>
          <p:cNvPr id="30" name="TextBox 30"/>
          <p:cNvSpPr txBox="1"/>
          <p:nvPr/>
        </p:nvSpPr>
        <p:spPr>
          <a:xfrm>
            <a:off x="3708817" y="1104900"/>
            <a:ext cx="10870365" cy="2550024"/>
          </a:xfrm>
          <a:prstGeom prst="rect">
            <a:avLst/>
          </a:prstGeom>
        </p:spPr>
        <p:txBody>
          <a:bodyPr lIns="0" tIns="0" rIns="0" bIns="0" rtlCol="0" anchor="t">
            <a:spAutoFit/>
          </a:bodyPr>
          <a:lstStyle/>
          <a:p>
            <a:pPr algn="ctr">
              <a:lnSpc>
                <a:spcPts val="6654"/>
              </a:lnSpc>
            </a:pPr>
            <a:r>
              <a:rPr lang="en-US" sz="6278" b="1" spc="-62">
                <a:solidFill>
                  <a:srgbClr val="F18320"/>
                </a:solidFill>
                <a:latin typeface="Roboto Bold"/>
                <a:ea typeface="Roboto Bold"/>
                <a:cs typeface="Roboto Bold"/>
                <a:sym typeface="Roboto Bold"/>
              </a:rPr>
              <a:t>Centralizing Multi-Channel Exception Intake</a:t>
            </a:r>
          </a:p>
          <a:p>
            <a:pPr algn="ctr">
              <a:lnSpc>
                <a:spcPts val="6654"/>
              </a:lnSpc>
            </a:pPr>
            <a:endParaRPr lang="en-US" sz="6278" b="1" spc="-62">
              <a:solidFill>
                <a:srgbClr val="F18320"/>
              </a:solidFill>
              <a:latin typeface="Roboto Bold"/>
              <a:ea typeface="Roboto Bold"/>
              <a:cs typeface="Roboto Bold"/>
              <a:sym typeface="Roboto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sp>
        <p:nvSpPr>
          <p:cNvPr id="2" name="TextBox 2"/>
          <p:cNvSpPr txBox="1"/>
          <p:nvPr/>
        </p:nvSpPr>
        <p:spPr>
          <a:xfrm>
            <a:off x="2617260" y="1019175"/>
            <a:ext cx="13743055" cy="962025"/>
          </a:xfrm>
          <a:prstGeom prst="rect">
            <a:avLst/>
          </a:prstGeom>
        </p:spPr>
        <p:txBody>
          <a:bodyPr lIns="0" tIns="0" rIns="0" bIns="0" rtlCol="0" anchor="t">
            <a:spAutoFit/>
          </a:bodyPr>
          <a:lstStyle/>
          <a:p>
            <a:pPr algn="l">
              <a:lnSpc>
                <a:spcPts val="7514"/>
              </a:lnSpc>
            </a:pPr>
            <a:r>
              <a:rPr lang="en-US" sz="6261" b="1">
                <a:solidFill>
                  <a:srgbClr val="F5821F"/>
                </a:solidFill>
                <a:latin typeface="Roboto Bold"/>
                <a:ea typeface="Roboto Bold"/>
                <a:cs typeface="Roboto Bold"/>
                <a:sym typeface="Roboto Bold"/>
              </a:rPr>
              <a:t>How shared context helps each role?</a:t>
            </a:r>
          </a:p>
        </p:txBody>
      </p:sp>
      <p:grpSp>
        <p:nvGrpSpPr>
          <p:cNvPr id="3" name="Group 3"/>
          <p:cNvGrpSpPr/>
          <p:nvPr/>
        </p:nvGrpSpPr>
        <p:grpSpPr>
          <a:xfrm>
            <a:off x="8031794" y="3580116"/>
            <a:ext cx="1870992" cy="1598848"/>
            <a:chOff x="0" y="0"/>
            <a:chExt cx="2514600" cy="2148840"/>
          </a:xfrm>
        </p:grpSpPr>
        <p:sp>
          <p:nvSpPr>
            <p:cNvPr id="4" name="Freeform 4"/>
            <p:cNvSpPr/>
            <p:nvPr/>
          </p:nvSpPr>
          <p:spPr>
            <a:xfrm>
              <a:off x="0" y="0"/>
              <a:ext cx="2514600" cy="2148840"/>
            </a:xfrm>
            <a:custGeom>
              <a:avLst/>
              <a:gdLst/>
              <a:ahLst/>
              <a:cxnLst/>
              <a:rect l="l" t="t" r="r" b="b"/>
              <a:pathLst>
                <a:path w="2514600" h="2148840">
                  <a:moveTo>
                    <a:pt x="0" y="0"/>
                  </a:moveTo>
                  <a:cubicBezTo>
                    <a:pt x="2011680" y="0"/>
                    <a:pt x="2514600" y="758444"/>
                    <a:pt x="2514600" y="2148840"/>
                  </a:cubicBezTo>
                </a:path>
              </a:pathLst>
            </a:custGeom>
            <a:blipFill>
              <a:blip r:embed="rId3">
                <a:alphaModFix amt="0"/>
              </a:blip>
              <a:stretch>
                <a:fillRect l="-59641" r="-59641"/>
              </a:stretch>
            </a:blipFill>
            <a:ln w="57150" cap="sq">
              <a:solidFill>
                <a:srgbClr val="5BBFA8"/>
              </a:solidFill>
              <a:prstDash val="solid"/>
              <a:miter/>
            </a:ln>
          </p:spPr>
        </p:sp>
      </p:grpSp>
      <p:grpSp>
        <p:nvGrpSpPr>
          <p:cNvPr id="5" name="Group 5"/>
          <p:cNvGrpSpPr/>
          <p:nvPr/>
        </p:nvGrpSpPr>
        <p:grpSpPr>
          <a:xfrm>
            <a:off x="8031794" y="6936563"/>
            <a:ext cx="1870992" cy="1598848"/>
            <a:chOff x="0" y="0"/>
            <a:chExt cx="2514600" cy="2148840"/>
          </a:xfrm>
        </p:grpSpPr>
        <p:sp>
          <p:nvSpPr>
            <p:cNvPr id="6" name="Freeform 6"/>
            <p:cNvSpPr/>
            <p:nvPr/>
          </p:nvSpPr>
          <p:spPr>
            <a:xfrm>
              <a:off x="0" y="0"/>
              <a:ext cx="2514600" cy="2148840"/>
            </a:xfrm>
            <a:custGeom>
              <a:avLst/>
              <a:gdLst/>
              <a:ahLst/>
              <a:cxnLst/>
              <a:rect l="l" t="t" r="r" b="b"/>
              <a:pathLst>
                <a:path w="2514600" h="2148840">
                  <a:moveTo>
                    <a:pt x="2514600" y="0"/>
                  </a:moveTo>
                  <a:cubicBezTo>
                    <a:pt x="2514600" y="1504188"/>
                    <a:pt x="1760220" y="2148840"/>
                    <a:pt x="0" y="2148840"/>
                  </a:cubicBezTo>
                </a:path>
              </a:pathLst>
            </a:custGeom>
            <a:blipFill>
              <a:blip r:embed="rId3">
                <a:alphaModFix amt="0"/>
              </a:blip>
              <a:stretch>
                <a:fillRect l="-59641" r="-59641"/>
              </a:stretch>
            </a:blipFill>
            <a:ln w="57150" cap="sq">
              <a:solidFill>
                <a:srgbClr val="5BBFA8"/>
              </a:solidFill>
              <a:prstDash val="solid"/>
              <a:miter/>
            </a:ln>
          </p:spPr>
        </p:sp>
      </p:grpSp>
      <p:grpSp>
        <p:nvGrpSpPr>
          <p:cNvPr id="7" name="Group 7"/>
          <p:cNvGrpSpPr/>
          <p:nvPr/>
        </p:nvGrpSpPr>
        <p:grpSpPr>
          <a:xfrm>
            <a:off x="2588907" y="6936563"/>
            <a:ext cx="1870992" cy="1598848"/>
            <a:chOff x="0" y="0"/>
            <a:chExt cx="2514600" cy="2148840"/>
          </a:xfrm>
        </p:grpSpPr>
        <p:sp>
          <p:nvSpPr>
            <p:cNvPr id="8" name="Freeform 8"/>
            <p:cNvSpPr/>
            <p:nvPr/>
          </p:nvSpPr>
          <p:spPr>
            <a:xfrm>
              <a:off x="0" y="0"/>
              <a:ext cx="2514600" cy="2148840"/>
            </a:xfrm>
            <a:custGeom>
              <a:avLst/>
              <a:gdLst/>
              <a:ahLst/>
              <a:cxnLst/>
              <a:rect l="l" t="t" r="r" b="b"/>
              <a:pathLst>
                <a:path w="2514600" h="2148840">
                  <a:moveTo>
                    <a:pt x="2514600" y="2148840"/>
                  </a:moveTo>
                  <a:cubicBezTo>
                    <a:pt x="754380" y="2148840"/>
                    <a:pt x="0" y="644652"/>
                    <a:pt x="0" y="0"/>
                  </a:cubicBezTo>
                </a:path>
              </a:pathLst>
            </a:custGeom>
            <a:blipFill>
              <a:blip r:embed="rId3">
                <a:alphaModFix amt="0"/>
              </a:blip>
              <a:stretch>
                <a:fillRect l="-59641" r="-59641"/>
              </a:stretch>
            </a:blipFill>
            <a:ln w="57150" cap="sq">
              <a:solidFill>
                <a:srgbClr val="5BBFA8"/>
              </a:solidFill>
              <a:prstDash val="solid"/>
              <a:miter/>
            </a:ln>
          </p:spPr>
        </p:sp>
      </p:grpSp>
      <p:grpSp>
        <p:nvGrpSpPr>
          <p:cNvPr id="9" name="Group 9"/>
          <p:cNvGrpSpPr/>
          <p:nvPr/>
        </p:nvGrpSpPr>
        <p:grpSpPr>
          <a:xfrm>
            <a:off x="2588907" y="3580116"/>
            <a:ext cx="1870992" cy="1598848"/>
            <a:chOff x="0" y="0"/>
            <a:chExt cx="2514600" cy="2148840"/>
          </a:xfrm>
        </p:grpSpPr>
        <p:sp>
          <p:nvSpPr>
            <p:cNvPr id="10" name="Freeform 10"/>
            <p:cNvSpPr/>
            <p:nvPr/>
          </p:nvSpPr>
          <p:spPr>
            <a:xfrm>
              <a:off x="0" y="0"/>
              <a:ext cx="2514600" cy="2148840"/>
            </a:xfrm>
            <a:custGeom>
              <a:avLst/>
              <a:gdLst/>
              <a:ahLst/>
              <a:cxnLst/>
              <a:rect l="l" t="t" r="r" b="b"/>
              <a:pathLst>
                <a:path w="2514600" h="2148840">
                  <a:moveTo>
                    <a:pt x="0" y="2148840"/>
                  </a:moveTo>
                  <a:cubicBezTo>
                    <a:pt x="0" y="644652"/>
                    <a:pt x="754380" y="0"/>
                    <a:pt x="2514600" y="0"/>
                  </a:cubicBezTo>
                </a:path>
              </a:pathLst>
            </a:custGeom>
            <a:blipFill>
              <a:blip r:embed="rId3">
                <a:alphaModFix amt="0"/>
              </a:blip>
              <a:stretch>
                <a:fillRect l="-59641" r="-59641"/>
              </a:stretch>
            </a:blipFill>
            <a:ln w="57150" cap="sq">
              <a:solidFill>
                <a:srgbClr val="5BBFA8"/>
              </a:solidFill>
              <a:prstDash val="solid"/>
              <a:miter/>
            </a:ln>
          </p:spPr>
        </p:sp>
      </p:grpSp>
      <p:grpSp>
        <p:nvGrpSpPr>
          <p:cNvPr id="11" name="Group 11"/>
          <p:cNvGrpSpPr/>
          <p:nvPr/>
        </p:nvGrpSpPr>
        <p:grpSpPr>
          <a:xfrm>
            <a:off x="4409506" y="2679271"/>
            <a:ext cx="3672692" cy="1858396"/>
            <a:chOff x="0" y="0"/>
            <a:chExt cx="4936071" cy="2497671"/>
          </a:xfrm>
        </p:grpSpPr>
        <p:sp>
          <p:nvSpPr>
            <p:cNvPr id="12" name="Freeform 12"/>
            <p:cNvSpPr/>
            <p:nvPr/>
          </p:nvSpPr>
          <p:spPr>
            <a:xfrm>
              <a:off x="0" y="0"/>
              <a:ext cx="4936109" cy="2497709"/>
            </a:xfrm>
            <a:custGeom>
              <a:avLst/>
              <a:gdLst/>
              <a:ahLst/>
              <a:cxnLst/>
              <a:rect l="l" t="t" r="r" b="b"/>
              <a:pathLst>
                <a:path w="4936109" h="2497709">
                  <a:moveTo>
                    <a:pt x="0" y="299720"/>
                  </a:moveTo>
                  <a:cubicBezTo>
                    <a:pt x="0" y="134239"/>
                    <a:pt x="134239" y="0"/>
                    <a:pt x="299720" y="0"/>
                  </a:cubicBezTo>
                  <a:lnTo>
                    <a:pt x="4636389" y="0"/>
                  </a:lnTo>
                  <a:cubicBezTo>
                    <a:pt x="4801870" y="0"/>
                    <a:pt x="4936109" y="134239"/>
                    <a:pt x="4936109" y="299720"/>
                  </a:cubicBezTo>
                  <a:lnTo>
                    <a:pt x="4936109" y="2197989"/>
                  </a:lnTo>
                  <a:cubicBezTo>
                    <a:pt x="4936109" y="2363470"/>
                    <a:pt x="4801870" y="2497709"/>
                    <a:pt x="4636389" y="2497709"/>
                  </a:cubicBezTo>
                  <a:lnTo>
                    <a:pt x="299720" y="2497709"/>
                  </a:lnTo>
                  <a:cubicBezTo>
                    <a:pt x="134239" y="2497709"/>
                    <a:pt x="0" y="2363470"/>
                    <a:pt x="0" y="2197989"/>
                  </a:cubicBezTo>
                  <a:close/>
                </a:path>
              </a:pathLst>
            </a:custGeom>
            <a:solidFill>
              <a:srgbClr val="0A2F34"/>
            </a:solidFill>
            <a:ln w="44450" cap="sq">
              <a:solidFill>
                <a:srgbClr val="5BBFA8"/>
              </a:solidFill>
              <a:prstDash val="solid"/>
              <a:miter/>
            </a:ln>
          </p:spPr>
        </p:sp>
      </p:grpSp>
      <p:grpSp>
        <p:nvGrpSpPr>
          <p:cNvPr id="13" name="Group 13"/>
          <p:cNvGrpSpPr/>
          <p:nvPr/>
        </p:nvGrpSpPr>
        <p:grpSpPr>
          <a:xfrm>
            <a:off x="4612981" y="2701316"/>
            <a:ext cx="3265732" cy="1814296"/>
            <a:chOff x="0" y="0"/>
            <a:chExt cx="4389120" cy="2438400"/>
          </a:xfrm>
        </p:grpSpPr>
        <p:sp>
          <p:nvSpPr>
            <p:cNvPr id="14" name="Freeform 14"/>
            <p:cNvSpPr/>
            <p:nvPr/>
          </p:nvSpPr>
          <p:spPr>
            <a:xfrm>
              <a:off x="0" y="0"/>
              <a:ext cx="4389120" cy="2438400"/>
            </a:xfrm>
            <a:custGeom>
              <a:avLst/>
              <a:gdLst/>
              <a:ahLst/>
              <a:cxnLst/>
              <a:rect l="l" t="t" r="r" b="b"/>
              <a:pathLst>
                <a:path w="4389120" h="2438400">
                  <a:moveTo>
                    <a:pt x="0" y="0"/>
                  </a:moveTo>
                  <a:lnTo>
                    <a:pt x="4389120" y="0"/>
                  </a:lnTo>
                  <a:lnTo>
                    <a:pt x="4389120" y="2438400"/>
                  </a:lnTo>
                  <a:lnTo>
                    <a:pt x="0" y="2438400"/>
                  </a:lnTo>
                  <a:close/>
                </a:path>
              </a:pathLst>
            </a:custGeom>
            <a:blipFill>
              <a:blip r:embed="rId3">
                <a:alphaModFix amt="0"/>
              </a:blip>
              <a:stretch>
                <a:fillRect l="-21279" r="-21279"/>
              </a:stretch>
            </a:blipFill>
          </p:spPr>
        </p:sp>
        <p:sp>
          <p:nvSpPr>
            <p:cNvPr id="15" name="TextBox 15"/>
            <p:cNvSpPr txBox="1"/>
            <p:nvPr/>
          </p:nvSpPr>
          <p:spPr>
            <a:xfrm>
              <a:off x="0" y="-57150"/>
              <a:ext cx="4389120" cy="2495550"/>
            </a:xfrm>
            <a:prstGeom prst="rect">
              <a:avLst/>
            </a:prstGeom>
          </p:spPr>
          <p:txBody>
            <a:bodyPr lIns="0" tIns="0" rIns="0" bIns="0" rtlCol="0" anchor="ctr"/>
            <a:lstStyle/>
            <a:p>
              <a:pPr algn="ctr">
                <a:lnSpc>
                  <a:spcPts val="3119"/>
                </a:lnSpc>
              </a:pPr>
              <a:r>
                <a:rPr lang="en-US" sz="2599" b="1">
                  <a:solidFill>
                    <a:srgbClr val="FFFFFF"/>
                  </a:solidFill>
                  <a:latin typeface="Calibri (MS) Bold"/>
                  <a:ea typeface="Calibri (MS) Bold"/>
                  <a:cs typeface="Calibri (MS) Bold"/>
                  <a:sym typeface="Calibri (MS) Bold"/>
                </a:rPr>
                <a:t>May · Customer</a:t>
              </a:r>
            </a:p>
            <a:p>
              <a:pPr algn="ctr">
                <a:lnSpc>
                  <a:spcPts val="2280"/>
                </a:lnSpc>
              </a:pPr>
              <a:r>
                <a:rPr lang="en-US" sz="1900">
                  <a:solidFill>
                    <a:srgbClr val="F2A08F"/>
                  </a:solidFill>
                  <a:latin typeface="Calibri (MS)"/>
                  <a:ea typeface="Calibri (MS)"/>
                  <a:cs typeface="Calibri (MS)"/>
                  <a:sym typeface="Calibri (MS)"/>
                </a:rPr>
                <a:t>Before: Repeated enquiries</a:t>
              </a:r>
            </a:p>
            <a:p>
              <a:pPr algn="ctr">
                <a:lnSpc>
                  <a:spcPts val="2280"/>
                </a:lnSpc>
              </a:pPr>
              <a:r>
                <a:rPr lang="en-US" sz="1900" b="1">
                  <a:solidFill>
                    <a:srgbClr val="7FD8C3"/>
                  </a:solidFill>
                  <a:latin typeface="Calibri (MS) Bold"/>
                  <a:ea typeface="Calibri (MS) Bold"/>
                  <a:cs typeface="Calibri (MS) Bold"/>
                  <a:sym typeface="Calibri (MS) Bold"/>
                </a:rPr>
                <a:t>After: Visible response</a:t>
              </a:r>
            </a:p>
          </p:txBody>
        </p:sp>
      </p:grpSp>
      <p:grpSp>
        <p:nvGrpSpPr>
          <p:cNvPr id="16" name="Group 16"/>
          <p:cNvGrpSpPr/>
          <p:nvPr/>
        </p:nvGrpSpPr>
        <p:grpSpPr>
          <a:xfrm>
            <a:off x="8038097" y="5128570"/>
            <a:ext cx="3672692" cy="1858396"/>
            <a:chOff x="0" y="0"/>
            <a:chExt cx="4936071" cy="2497671"/>
          </a:xfrm>
        </p:grpSpPr>
        <p:sp>
          <p:nvSpPr>
            <p:cNvPr id="17" name="Freeform 17"/>
            <p:cNvSpPr/>
            <p:nvPr/>
          </p:nvSpPr>
          <p:spPr>
            <a:xfrm>
              <a:off x="0" y="0"/>
              <a:ext cx="4936109" cy="2497709"/>
            </a:xfrm>
            <a:custGeom>
              <a:avLst/>
              <a:gdLst/>
              <a:ahLst/>
              <a:cxnLst/>
              <a:rect l="l" t="t" r="r" b="b"/>
              <a:pathLst>
                <a:path w="4936109" h="2497709">
                  <a:moveTo>
                    <a:pt x="0" y="299720"/>
                  </a:moveTo>
                  <a:cubicBezTo>
                    <a:pt x="0" y="134239"/>
                    <a:pt x="134239" y="0"/>
                    <a:pt x="299720" y="0"/>
                  </a:cubicBezTo>
                  <a:lnTo>
                    <a:pt x="4636389" y="0"/>
                  </a:lnTo>
                  <a:cubicBezTo>
                    <a:pt x="4801870" y="0"/>
                    <a:pt x="4936109" y="134239"/>
                    <a:pt x="4936109" y="299720"/>
                  </a:cubicBezTo>
                  <a:lnTo>
                    <a:pt x="4936109" y="2197989"/>
                  </a:lnTo>
                  <a:cubicBezTo>
                    <a:pt x="4936109" y="2363470"/>
                    <a:pt x="4801870" y="2497709"/>
                    <a:pt x="4636389" y="2497709"/>
                  </a:cubicBezTo>
                  <a:lnTo>
                    <a:pt x="299720" y="2497709"/>
                  </a:lnTo>
                  <a:cubicBezTo>
                    <a:pt x="134239" y="2497709"/>
                    <a:pt x="0" y="2363470"/>
                    <a:pt x="0" y="2197989"/>
                  </a:cubicBezTo>
                  <a:close/>
                </a:path>
              </a:pathLst>
            </a:custGeom>
            <a:solidFill>
              <a:srgbClr val="0A2F34"/>
            </a:solidFill>
            <a:ln w="44450" cap="sq">
              <a:solidFill>
                <a:srgbClr val="5BBFA8"/>
              </a:solidFill>
              <a:prstDash val="solid"/>
              <a:miter/>
            </a:ln>
          </p:spPr>
        </p:sp>
      </p:grpSp>
      <p:grpSp>
        <p:nvGrpSpPr>
          <p:cNvPr id="18" name="Group 18"/>
          <p:cNvGrpSpPr/>
          <p:nvPr/>
        </p:nvGrpSpPr>
        <p:grpSpPr>
          <a:xfrm>
            <a:off x="8241572" y="5150615"/>
            <a:ext cx="3265732" cy="1814296"/>
            <a:chOff x="0" y="0"/>
            <a:chExt cx="4389120" cy="2438400"/>
          </a:xfrm>
        </p:grpSpPr>
        <p:sp>
          <p:nvSpPr>
            <p:cNvPr id="19" name="Freeform 19"/>
            <p:cNvSpPr/>
            <p:nvPr/>
          </p:nvSpPr>
          <p:spPr>
            <a:xfrm>
              <a:off x="0" y="0"/>
              <a:ext cx="4389120" cy="2438400"/>
            </a:xfrm>
            <a:custGeom>
              <a:avLst/>
              <a:gdLst/>
              <a:ahLst/>
              <a:cxnLst/>
              <a:rect l="l" t="t" r="r" b="b"/>
              <a:pathLst>
                <a:path w="4389120" h="2438400">
                  <a:moveTo>
                    <a:pt x="0" y="0"/>
                  </a:moveTo>
                  <a:lnTo>
                    <a:pt x="4389120" y="0"/>
                  </a:lnTo>
                  <a:lnTo>
                    <a:pt x="4389120" y="2438400"/>
                  </a:lnTo>
                  <a:lnTo>
                    <a:pt x="0" y="2438400"/>
                  </a:lnTo>
                  <a:close/>
                </a:path>
              </a:pathLst>
            </a:custGeom>
            <a:blipFill>
              <a:blip r:embed="rId3">
                <a:alphaModFix amt="0"/>
              </a:blip>
              <a:stretch>
                <a:fillRect l="-21279" r="-21279"/>
              </a:stretch>
            </a:blipFill>
          </p:spPr>
        </p:sp>
        <p:sp>
          <p:nvSpPr>
            <p:cNvPr id="20" name="TextBox 20"/>
            <p:cNvSpPr txBox="1"/>
            <p:nvPr/>
          </p:nvSpPr>
          <p:spPr>
            <a:xfrm>
              <a:off x="0" y="-57150"/>
              <a:ext cx="4389120" cy="2495550"/>
            </a:xfrm>
            <a:prstGeom prst="rect">
              <a:avLst/>
            </a:prstGeom>
          </p:spPr>
          <p:txBody>
            <a:bodyPr lIns="0" tIns="0" rIns="0" bIns="0" rtlCol="0" anchor="ctr"/>
            <a:lstStyle/>
            <a:p>
              <a:pPr algn="ctr">
                <a:lnSpc>
                  <a:spcPts val="3119"/>
                </a:lnSpc>
              </a:pPr>
              <a:r>
                <a:rPr lang="en-US" sz="2599" b="1">
                  <a:solidFill>
                    <a:srgbClr val="FFFFFF"/>
                  </a:solidFill>
                  <a:latin typeface="Calibri (MS) Bold"/>
                  <a:ea typeface="Calibri (MS) Bold"/>
                  <a:cs typeface="Calibri (MS) Bold"/>
                  <a:sym typeface="Calibri (MS) Bold"/>
                </a:rPr>
                <a:t>Seller</a:t>
              </a:r>
            </a:p>
            <a:p>
              <a:pPr algn="ctr">
                <a:lnSpc>
                  <a:spcPts val="2280"/>
                </a:lnSpc>
              </a:pPr>
              <a:r>
                <a:rPr lang="en-US" sz="1900">
                  <a:solidFill>
                    <a:srgbClr val="F2A08F"/>
                  </a:solidFill>
                  <a:latin typeface="Calibri (MS)"/>
                  <a:ea typeface="Calibri (MS)"/>
                  <a:cs typeface="Calibri (MS)"/>
                  <a:sym typeface="Calibri (MS)"/>
                </a:rPr>
                <a:t>Before: Calls + relays</a:t>
              </a:r>
            </a:p>
            <a:p>
              <a:pPr algn="ctr">
                <a:lnSpc>
                  <a:spcPts val="2280"/>
                </a:lnSpc>
              </a:pPr>
              <a:r>
                <a:rPr lang="en-US" sz="1900" b="1">
                  <a:solidFill>
                    <a:srgbClr val="7FD8C3"/>
                  </a:solidFill>
                  <a:latin typeface="Calibri (MS) Bold"/>
                  <a:ea typeface="Calibri (MS) Bold"/>
                  <a:cs typeface="Calibri (MS) Bold"/>
                  <a:sym typeface="Calibri (MS) Bold"/>
                </a:rPr>
                <a:t>After: Relevant handoff</a:t>
              </a:r>
            </a:p>
          </p:txBody>
        </p:sp>
      </p:grpSp>
      <p:grpSp>
        <p:nvGrpSpPr>
          <p:cNvPr id="21" name="Group 21"/>
          <p:cNvGrpSpPr/>
          <p:nvPr/>
        </p:nvGrpSpPr>
        <p:grpSpPr>
          <a:xfrm>
            <a:off x="4409506" y="7577869"/>
            <a:ext cx="3672692" cy="1858396"/>
            <a:chOff x="0" y="0"/>
            <a:chExt cx="4936071" cy="2497671"/>
          </a:xfrm>
        </p:grpSpPr>
        <p:sp>
          <p:nvSpPr>
            <p:cNvPr id="22" name="Freeform 22"/>
            <p:cNvSpPr/>
            <p:nvPr/>
          </p:nvSpPr>
          <p:spPr>
            <a:xfrm>
              <a:off x="0" y="0"/>
              <a:ext cx="4936109" cy="2497709"/>
            </a:xfrm>
            <a:custGeom>
              <a:avLst/>
              <a:gdLst/>
              <a:ahLst/>
              <a:cxnLst/>
              <a:rect l="l" t="t" r="r" b="b"/>
              <a:pathLst>
                <a:path w="4936109" h="2497709">
                  <a:moveTo>
                    <a:pt x="0" y="299720"/>
                  </a:moveTo>
                  <a:cubicBezTo>
                    <a:pt x="0" y="134239"/>
                    <a:pt x="134239" y="0"/>
                    <a:pt x="299720" y="0"/>
                  </a:cubicBezTo>
                  <a:lnTo>
                    <a:pt x="4636389" y="0"/>
                  </a:lnTo>
                  <a:cubicBezTo>
                    <a:pt x="4801870" y="0"/>
                    <a:pt x="4936109" y="134239"/>
                    <a:pt x="4936109" y="299720"/>
                  </a:cubicBezTo>
                  <a:lnTo>
                    <a:pt x="4936109" y="2197989"/>
                  </a:lnTo>
                  <a:cubicBezTo>
                    <a:pt x="4936109" y="2363470"/>
                    <a:pt x="4801870" y="2497709"/>
                    <a:pt x="4636389" y="2497709"/>
                  </a:cubicBezTo>
                  <a:lnTo>
                    <a:pt x="299720" y="2497709"/>
                  </a:lnTo>
                  <a:cubicBezTo>
                    <a:pt x="134239" y="2497709"/>
                    <a:pt x="0" y="2363470"/>
                    <a:pt x="0" y="2197989"/>
                  </a:cubicBezTo>
                  <a:close/>
                </a:path>
              </a:pathLst>
            </a:custGeom>
            <a:solidFill>
              <a:srgbClr val="0A2F34"/>
            </a:solidFill>
            <a:ln w="44450" cap="sq">
              <a:solidFill>
                <a:srgbClr val="5BBFA8"/>
              </a:solidFill>
              <a:prstDash val="solid"/>
              <a:miter/>
            </a:ln>
          </p:spPr>
        </p:sp>
      </p:grpSp>
      <p:grpSp>
        <p:nvGrpSpPr>
          <p:cNvPr id="23" name="Group 23"/>
          <p:cNvGrpSpPr/>
          <p:nvPr/>
        </p:nvGrpSpPr>
        <p:grpSpPr>
          <a:xfrm>
            <a:off x="4612981" y="7599915"/>
            <a:ext cx="3265732" cy="1814296"/>
            <a:chOff x="0" y="0"/>
            <a:chExt cx="4389120" cy="2438400"/>
          </a:xfrm>
        </p:grpSpPr>
        <p:sp>
          <p:nvSpPr>
            <p:cNvPr id="24" name="Freeform 24"/>
            <p:cNvSpPr/>
            <p:nvPr/>
          </p:nvSpPr>
          <p:spPr>
            <a:xfrm>
              <a:off x="0" y="0"/>
              <a:ext cx="4389120" cy="2438400"/>
            </a:xfrm>
            <a:custGeom>
              <a:avLst/>
              <a:gdLst/>
              <a:ahLst/>
              <a:cxnLst/>
              <a:rect l="l" t="t" r="r" b="b"/>
              <a:pathLst>
                <a:path w="4389120" h="2438400">
                  <a:moveTo>
                    <a:pt x="0" y="0"/>
                  </a:moveTo>
                  <a:lnTo>
                    <a:pt x="4389120" y="0"/>
                  </a:lnTo>
                  <a:lnTo>
                    <a:pt x="4389120" y="2438400"/>
                  </a:lnTo>
                  <a:lnTo>
                    <a:pt x="0" y="2438400"/>
                  </a:lnTo>
                  <a:close/>
                </a:path>
              </a:pathLst>
            </a:custGeom>
            <a:blipFill>
              <a:blip r:embed="rId3">
                <a:alphaModFix amt="0"/>
              </a:blip>
              <a:stretch>
                <a:fillRect l="-21279" r="-21279"/>
              </a:stretch>
            </a:blipFill>
          </p:spPr>
        </p:sp>
        <p:sp>
          <p:nvSpPr>
            <p:cNvPr id="25" name="TextBox 25"/>
            <p:cNvSpPr txBox="1"/>
            <p:nvPr/>
          </p:nvSpPr>
          <p:spPr>
            <a:xfrm>
              <a:off x="0" y="-57150"/>
              <a:ext cx="4389120" cy="2495550"/>
            </a:xfrm>
            <a:prstGeom prst="rect">
              <a:avLst/>
            </a:prstGeom>
          </p:spPr>
          <p:txBody>
            <a:bodyPr lIns="0" tIns="0" rIns="0" bIns="0" rtlCol="0" anchor="ctr"/>
            <a:lstStyle/>
            <a:p>
              <a:pPr algn="ctr">
                <a:lnSpc>
                  <a:spcPts val="3119"/>
                </a:lnSpc>
              </a:pPr>
              <a:r>
                <a:rPr lang="en-US" sz="2599" b="1">
                  <a:solidFill>
                    <a:srgbClr val="FFFFFF"/>
                  </a:solidFill>
                  <a:latin typeface="Calibri (MS) Bold"/>
                  <a:ea typeface="Calibri (MS) Bold"/>
                  <a:cs typeface="Calibri (MS) Bold"/>
                  <a:sym typeface="Calibri (MS) Bold"/>
                </a:rPr>
                <a:t>Aye · Operations</a:t>
              </a:r>
            </a:p>
            <a:p>
              <a:pPr algn="ctr">
                <a:lnSpc>
                  <a:spcPts val="2280"/>
                </a:lnSpc>
              </a:pPr>
              <a:r>
                <a:rPr lang="en-US" sz="1900">
                  <a:solidFill>
                    <a:srgbClr val="F2A08F"/>
                  </a:solidFill>
                  <a:latin typeface="Calibri (MS)"/>
                  <a:ea typeface="Calibri (MS)"/>
                  <a:cs typeface="Calibri (MS)"/>
                  <a:sym typeface="Calibri (MS)"/>
                </a:rPr>
                <a:t>Before: Lookup + chasing</a:t>
              </a:r>
            </a:p>
            <a:p>
              <a:pPr algn="ctr">
                <a:lnSpc>
                  <a:spcPts val="2280"/>
                </a:lnSpc>
              </a:pPr>
              <a:r>
                <a:rPr lang="en-US" sz="1900" b="1">
                  <a:solidFill>
                    <a:srgbClr val="7FD8C3"/>
                  </a:solidFill>
                  <a:latin typeface="Calibri (MS) Bold"/>
                  <a:ea typeface="Calibri (MS) Bold"/>
                  <a:cs typeface="Calibri (MS) Bold"/>
                  <a:sym typeface="Calibri (MS) Bold"/>
                </a:rPr>
                <a:t>After: Shared workspace,</a:t>
              </a:r>
            </a:p>
            <a:p>
              <a:pPr algn="ctr">
                <a:lnSpc>
                  <a:spcPts val="2280"/>
                </a:lnSpc>
              </a:pPr>
              <a:r>
                <a:rPr lang="en-US" sz="1900" b="1">
                  <a:solidFill>
                    <a:srgbClr val="7FD8C3"/>
                  </a:solidFill>
                  <a:latin typeface="Calibri (MS) Bold"/>
                  <a:ea typeface="Calibri (MS) Bold"/>
                  <a:cs typeface="Calibri (MS) Bold"/>
                  <a:sym typeface="Calibri (MS) Bold"/>
                </a:rPr>
                <a:t>Aye owns</a:t>
              </a:r>
            </a:p>
          </p:txBody>
        </p:sp>
      </p:grpSp>
      <p:grpSp>
        <p:nvGrpSpPr>
          <p:cNvPr id="26" name="Group 26"/>
          <p:cNvGrpSpPr/>
          <p:nvPr/>
        </p:nvGrpSpPr>
        <p:grpSpPr>
          <a:xfrm>
            <a:off x="780914" y="5128570"/>
            <a:ext cx="3672692" cy="1858396"/>
            <a:chOff x="0" y="0"/>
            <a:chExt cx="4936071" cy="2497671"/>
          </a:xfrm>
        </p:grpSpPr>
        <p:sp>
          <p:nvSpPr>
            <p:cNvPr id="27" name="Freeform 27"/>
            <p:cNvSpPr/>
            <p:nvPr/>
          </p:nvSpPr>
          <p:spPr>
            <a:xfrm>
              <a:off x="0" y="0"/>
              <a:ext cx="4936109" cy="2497709"/>
            </a:xfrm>
            <a:custGeom>
              <a:avLst/>
              <a:gdLst/>
              <a:ahLst/>
              <a:cxnLst/>
              <a:rect l="l" t="t" r="r" b="b"/>
              <a:pathLst>
                <a:path w="4936109" h="2497709">
                  <a:moveTo>
                    <a:pt x="0" y="299720"/>
                  </a:moveTo>
                  <a:cubicBezTo>
                    <a:pt x="0" y="134239"/>
                    <a:pt x="134239" y="0"/>
                    <a:pt x="299720" y="0"/>
                  </a:cubicBezTo>
                  <a:lnTo>
                    <a:pt x="4636389" y="0"/>
                  </a:lnTo>
                  <a:cubicBezTo>
                    <a:pt x="4801870" y="0"/>
                    <a:pt x="4936109" y="134239"/>
                    <a:pt x="4936109" y="299720"/>
                  </a:cubicBezTo>
                  <a:lnTo>
                    <a:pt x="4936109" y="2197989"/>
                  </a:lnTo>
                  <a:cubicBezTo>
                    <a:pt x="4936109" y="2363470"/>
                    <a:pt x="4801870" y="2497709"/>
                    <a:pt x="4636389" y="2497709"/>
                  </a:cubicBezTo>
                  <a:lnTo>
                    <a:pt x="299720" y="2497709"/>
                  </a:lnTo>
                  <a:cubicBezTo>
                    <a:pt x="134239" y="2497709"/>
                    <a:pt x="0" y="2363470"/>
                    <a:pt x="0" y="2197989"/>
                  </a:cubicBezTo>
                  <a:close/>
                </a:path>
              </a:pathLst>
            </a:custGeom>
            <a:solidFill>
              <a:srgbClr val="0A2F34"/>
            </a:solidFill>
            <a:ln w="44450" cap="sq">
              <a:solidFill>
                <a:srgbClr val="5BBFA8"/>
              </a:solidFill>
              <a:prstDash val="solid"/>
              <a:miter/>
            </a:ln>
          </p:spPr>
        </p:sp>
      </p:grpSp>
      <p:grpSp>
        <p:nvGrpSpPr>
          <p:cNvPr id="28" name="Group 28"/>
          <p:cNvGrpSpPr/>
          <p:nvPr/>
        </p:nvGrpSpPr>
        <p:grpSpPr>
          <a:xfrm>
            <a:off x="984389" y="5150615"/>
            <a:ext cx="3265732" cy="1814296"/>
            <a:chOff x="0" y="0"/>
            <a:chExt cx="4389120" cy="2438400"/>
          </a:xfrm>
        </p:grpSpPr>
        <p:sp>
          <p:nvSpPr>
            <p:cNvPr id="29" name="Freeform 29"/>
            <p:cNvSpPr/>
            <p:nvPr/>
          </p:nvSpPr>
          <p:spPr>
            <a:xfrm>
              <a:off x="0" y="0"/>
              <a:ext cx="4389120" cy="2438400"/>
            </a:xfrm>
            <a:custGeom>
              <a:avLst/>
              <a:gdLst/>
              <a:ahLst/>
              <a:cxnLst/>
              <a:rect l="l" t="t" r="r" b="b"/>
              <a:pathLst>
                <a:path w="4389120" h="2438400">
                  <a:moveTo>
                    <a:pt x="0" y="0"/>
                  </a:moveTo>
                  <a:lnTo>
                    <a:pt x="4389120" y="0"/>
                  </a:lnTo>
                  <a:lnTo>
                    <a:pt x="4389120" y="2438400"/>
                  </a:lnTo>
                  <a:lnTo>
                    <a:pt x="0" y="2438400"/>
                  </a:lnTo>
                  <a:close/>
                </a:path>
              </a:pathLst>
            </a:custGeom>
            <a:blipFill>
              <a:blip r:embed="rId3">
                <a:alphaModFix amt="0"/>
              </a:blip>
              <a:stretch>
                <a:fillRect l="-21279" r="-21279"/>
              </a:stretch>
            </a:blipFill>
          </p:spPr>
        </p:sp>
        <p:sp>
          <p:nvSpPr>
            <p:cNvPr id="30" name="TextBox 30"/>
            <p:cNvSpPr txBox="1"/>
            <p:nvPr/>
          </p:nvSpPr>
          <p:spPr>
            <a:xfrm>
              <a:off x="0" y="-57150"/>
              <a:ext cx="4389120" cy="2495550"/>
            </a:xfrm>
            <a:prstGeom prst="rect">
              <a:avLst/>
            </a:prstGeom>
          </p:spPr>
          <p:txBody>
            <a:bodyPr lIns="0" tIns="0" rIns="0" bIns="0" rtlCol="0" anchor="ctr"/>
            <a:lstStyle/>
            <a:p>
              <a:pPr algn="ctr">
                <a:lnSpc>
                  <a:spcPts val="3119"/>
                </a:lnSpc>
              </a:pPr>
              <a:r>
                <a:rPr lang="en-US" sz="2599" b="1">
                  <a:solidFill>
                    <a:srgbClr val="FFFFFF"/>
                  </a:solidFill>
                  <a:latin typeface="Calibri (MS) Bold"/>
                  <a:ea typeface="Calibri (MS) Bold"/>
                  <a:cs typeface="Calibri (MS) Bold"/>
                  <a:sym typeface="Calibri (MS) Bold"/>
                </a:rPr>
                <a:t>Driver A</a:t>
              </a:r>
            </a:p>
            <a:p>
              <a:pPr algn="ctr">
                <a:lnSpc>
                  <a:spcPts val="2280"/>
                </a:lnSpc>
              </a:pPr>
              <a:r>
                <a:rPr lang="en-US" sz="1900">
                  <a:solidFill>
                    <a:srgbClr val="F2A08F"/>
                  </a:solidFill>
                  <a:latin typeface="Calibri (MS)"/>
                  <a:ea typeface="Calibri (MS)"/>
                  <a:cs typeface="Calibri (MS)"/>
                  <a:sym typeface="Calibri (MS)"/>
                </a:rPr>
                <a:t>Before: Repeated calls</a:t>
              </a:r>
            </a:p>
            <a:p>
              <a:pPr algn="ctr">
                <a:lnSpc>
                  <a:spcPts val="2280"/>
                </a:lnSpc>
              </a:pPr>
              <a:r>
                <a:rPr lang="en-US" sz="1900" b="1">
                  <a:solidFill>
                    <a:srgbClr val="7FD8C3"/>
                  </a:solidFill>
                  <a:latin typeface="Calibri (MS) Bold"/>
                  <a:ea typeface="Calibri (MS) Bold"/>
                  <a:cs typeface="Calibri (MS) Bold"/>
                  <a:sym typeface="Calibri (MS) Bold"/>
                </a:rPr>
                <a:t>After: One structured report</a:t>
              </a:r>
            </a:p>
          </p:txBody>
        </p:sp>
      </p:grpSp>
      <p:grpSp>
        <p:nvGrpSpPr>
          <p:cNvPr id="31" name="Group 31"/>
          <p:cNvGrpSpPr/>
          <p:nvPr/>
        </p:nvGrpSpPr>
        <p:grpSpPr>
          <a:xfrm>
            <a:off x="4522266" y="4411857"/>
            <a:ext cx="3447162" cy="2203235"/>
            <a:chOff x="0" y="0"/>
            <a:chExt cx="4632960" cy="2961132"/>
          </a:xfrm>
        </p:grpSpPr>
        <p:sp>
          <p:nvSpPr>
            <p:cNvPr id="32" name="Freeform 32"/>
            <p:cNvSpPr/>
            <p:nvPr/>
          </p:nvSpPr>
          <p:spPr>
            <a:xfrm>
              <a:off x="0" y="0"/>
              <a:ext cx="4632960" cy="2961132"/>
            </a:xfrm>
            <a:custGeom>
              <a:avLst/>
              <a:gdLst/>
              <a:ahLst/>
              <a:cxnLst/>
              <a:rect l="l" t="t" r="r" b="b"/>
              <a:pathLst>
                <a:path w="4632960" h="2961132">
                  <a:moveTo>
                    <a:pt x="0" y="0"/>
                  </a:moveTo>
                  <a:lnTo>
                    <a:pt x="4632960" y="0"/>
                  </a:lnTo>
                  <a:lnTo>
                    <a:pt x="4632960" y="2961132"/>
                  </a:lnTo>
                  <a:lnTo>
                    <a:pt x="0" y="2961132"/>
                  </a:lnTo>
                  <a:close/>
                </a:path>
              </a:pathLst>
            </a:custGeom>
            <a:blipFill>
              <a:blip r:embed="rId3">
                <a:alphaModFix amt="0"/>
              </a:blip>
              <a:stretch>
                <a:fillRect l="-17528" r="-17528" b="17653"/>
              </a:stretch>
            </a:blipFill>
          </p:spPr>
        </p:sp>
        <p:sp>
          <p:nvSpPr>
            <p:cNvPr id="33" name="TextBox 33"/>
            <p:cNvSpPr txBox="1"/>
            <p:nvPr/>
          </p:nvSpPr>
          <p:spPr>
            <a:xfrm>
              <a:off x="0" y="-9525"/>
              <a:ext cx="4632960" cy="2970657"/>
            </a:xfrm>
            <a:prstGeom prst="rect">
              <a:avLst/>
            </a:prstGeom>
          </p:spPr>
          <p:txBody>
            <a:bodyPr lIns="0" tIns="0" rIns="0" bIns="0" rtlCol="0" anchor="ctr"/>
            <a:lstStyle/>
            <a:p>
              <a:pPr algn="ctr">
                <a:lnSpc>
                  <a:spcPts val="4080"/>
                </a:lnSpc>
              </a:pPr>
              <a:r>
                <a:rPr lang="en-US" sz="3400" b="1">
                  <a:solidFill>
                    <a:srgbClr val="5BBFA8"/>
                  </a:solidFill>
                  <a:latin typeface="Cambria Bold"/>
                  <a:ea typeface="Cambria Bold"/>
                  <a:cs typeface="Cambria Bold"/>
                  <a:sym typeface="Cambria Bold"/>
                </a:rPr>
                <a:t>Shared context</a:t>
              </a:r>
            </a:p>
            <a:p>
              <a:pPr algn="ctr">
                <a:lnSpc>
                  <a:spcPts val="3119"/>
                </a:lnSpc>
              </a:pPr>
              <a:r>
                <a:rPr lang="en-US" sz="2599">
                  <a:solidFill>
                    <a:srgbClr val="FFFFFF"/>
                  </a:solidFill>
                  <a:latin typeface="Calibri (MS)"/>
                  <a:ea typeface="Calibri (MS)"/>
                  <a:cs typeface="Calibri (MS)"/>
                  <a:sym typeface="Calibri (MS)"/>
                </a:rPr>
                <a:t>Visible owner</a:t>
              </a:r>
            </a:p>
            <a:p>
              <a:pPr algn="ctr">
                <a:lnSpc>
                  <a:spcPts val="2039"/>
                </a:lnSpc>
              </a:pPr>
              <a:r>
                <a:rPr lang="en-US" sz="1699" i="1">
                  <a:solidFill>
                    <a:srgbClr val="F2A08F"/>
                  </a:solidFill>
                  <a:latin typeface="Calibri (MS) Italics"/>
                  <a:ea typeface="Calibri (MS) Italics"/>
                  <a:cs typeface="Calibri (MS) Italics"/>
                  <a:sym typeface="Calibri (MS) Italics"/>
                </a:rPr>
                <a:t>replaces scattered coordination</a:t>
              </a:r>
            </a:p>
          </p:txBody>
        </p:sp>
      </p:grpSp>
      <p:grpSp>
        <p:nvGrpSpPr>
          <p:cNvPr id="34" name="Group 34"/>
          <p:cNvGrpSpPr/>
          <p:nvPr/>
        </p:nvGrpSpPr>
        <p:grpSpPr>
          <a:xfrm>
            <a:off x="12311141" y="2688720"/>
            <a:ext cx="5195944" cy="6738096"/>
            <a:chOff x="0" y="0"/>
            <a:chExt cx="6983311" cy="9055951"/>
          </a:xfrm>
        </p:grpSpPr>
        <p:sp>
          <p:nvSpPr>
            <p:cNvPr id="35" name="Freeform 35"/>
            <p:cNvSpPr/>
            <p:nvPr/>
          </p:nvSpPr>
          <p:spPr>
            <a:xfrm>
              <a:off x="0" y="0"/>
              <a:ext cx="6983223" cy="9055862"/>
            </a:xfrm>
            <a:custGeom>
              <a:avLst/>
              <a:gdLst/>
              <a:ahLst/>
              <a:cxnLst/>
              <a:rect l="l" t="t" r="r" b="b"/>
              <a:pathLst>
                <a:path w="6983223" h="9055862">
                  <a:moveTo>
                    <a:pt x="0" y="294005"/>
                  </a:moveTo>
                  <a:cubicBezTo>
                    <a:pt x="0" y="131699"/>
                    <a:pt x="131699" y="0"/>
                    <a:pt x="294005" y="0"/>
                  </a:cubicBezTo>
                  <a:lnTo>
                    <a:pt x="6689217" y="0"/>
                  </a:lnTo>
                  <a:cubicBezTo>
                    <a:pt x="6851650" y="0"/>
                    <a:pt x="6983223" y="131699"/>
                    <a:pt x="6983223" y="294005"/>
                  </a:cubicBezTo>
                  <a:lnTo>
                    <a:pt x="6983223" y="8761857"/>
                  </a:lnTo>
                  <a:cubicBezTo>
                    <a:pt x="6983223" y="8924289"/>
                    <a:pt x="6851524" y="9055862"/>
                    <a:pt x="6689217" y="9055862"/>
                  </a:cubicBezTo>
                  <a:lnTo>
                    <a:pt x="294005" y="9055862"/>
                  </a:lnTo>
                  <a:cubicBezTo>
                    <a:pt x="131699" y="9055989"/>
                    <a:pt x="0" y="8924290"/>
                    <a:pt x="0" y="8761857"/>
                  </a:cubicBezTo>
                  <a:close/>
                </a:path>
              </a:pathLst>
            </a:custGeom>
            <a:solidFill>
              <a:srgbClr val="0E3C42"/>
            </a:solidFill>
            <a:ln w="25400" cap="sq">
              <a:solidFill>
                <a:srgbClr val="0E3C42"/>
              </a:solidFill>
              <a:prstDash val="solid"/>
              <a:miter/>
            </a:ln>
          </p:spPr>
        </p:sp>
      </p:grpSp>
      <p:grpSp>
        <p:nvGrpSpPr>
          <p:cNvPr id="36" name="Group 36"/>
          <p:cNvGrpSpPr/>
          <p:nvPr/>
        </p:nvGrpSpPr>
        <p:grpSpPr>
          <a:xfrm>
            <a:off x="12777311" y="2919032"/>
            <a:ext cx="4263595" cy="544289"/>
            <a:chOff x="0" y="0"/>
            <a:chExt cx="5730240" cy="731520"/>
          </a:xfrm>
        </p:grpSpPr>
        <p:sp>
          <p:nvSpPr>
            <p:cNvPr id="37" name="Freeform 37"/>
            <p:cNvSpPr/>
            <p:nvPr/>
          </p:nvSpPr>
          <p:spPr>
            <a:xfrm>
              <a:off x="0" y="0"/>
              <a:ext cx="5730240" cy="731520"/>
            </a:xfrm>
            <a:custGeom>
              <a:avLst/>
              <a:gdLst/>
              <a:ahLst/>
              <a:cxnLst/>
              <a:rect l="l" t="t" r="r" b="b"/>
              <a:pathLst>
                <a:path w="5730240" h="731520">
                  <a:moveTo>
                    <a:pt x="0" y="0"/>
                  </a:moveTo>
                  <a:lnTo>
                    <a:pt x="5730240" y="0"/>
                  </a:lnTo>
                  <a:lnTo>
                    <a:pt x="5730240" y="731520"/>
                  </a:lnTo>
                  <a:lnTo>
                    <a:pt x="0" y="731520"/>
                  </a:lnTo>
                  <a:close/>
                </a:path>
              </a:pathLst>
            </a:custGeom>
            <a:blipFill>
              <a:blip r:embed="rId3">
                <a:alphaModFix amt="0"/>
              </a:blip>
              <a:stretch>
                <a:fillRect t="-102632" b="-102632"/>
              </a:stretch>
            </a:blipFill>
          </p:spPr>
        </p:sp>
        <p:sp>
          <p:nvSpPr>
            <p:cNvPr id="38" name="TextBox 38"/>
            <p:cNvSpPr txBox="1"/>
            <p:nvPr/>
          </p:nvSpPr>
          <p:spPr>
            <a:xfrm>
              <a:off x="0" y="-57150"/>
              <a:ext cx="5730240" cy="788670"/>
            </a:xfrm>
            <a:prstGeom prst="rect">
              <a:avLst/>
            </a:prstGeom>
          </p:spPr>
          <p:txBody>
            <a:bodyPr lIns="0" tIns="0" rIns="0" bIns="0" rtlCol="0" anchor="ctr"/>
            <a:lstStyle/>
            <a:p>
              <a:pPr algn="l">
                <a:lnSpc>
                  <a:spcPts val="2879"/>
                </a:lnSpc>
              </a:pPr>
              <a:r>
                <a:rPr lang="en-US" sz="2399" b="1">
                  <a:solidFill>
                    <a:srgbClr val="5BBFA8"/>
                  </a:solidFill>
                  <a:latin typeface="Calibri (MS) Bold"/>
                  <a:ea typeface="Calibri (MS) Bold"/>
                  <a:cs typeface="Calibri (MS) Bold"/>
                  <a:sym typeface="Calibri (MS) Bold"/>
                </a:rPr>
                <a:t>RESULT</a:t>
              </a:r>
            </a:p>
          </p:txBody>
        </p:sp>
      </p:grpSp>
      <p:grpSp>
        <p:nvGrpSpPr>
          <p:cNvPr id="39" name="Group 39"/>
          <p:cNvGrpSpPr/>
          <p:nvPr/>
        </p:nvGrpSpPr>
        <p:grpSpPr>
          <a:xfrm>
            <a:off x="12758412" y="3625851"/>
            <a:ext cx="4301393" cy="944946"/>
            <a:chOff x="0" y="0"/>
            <a:chExt cx="5781040" cy="1270000"/>
          </a:xfrm>
        </p:grpSpPr>
        <p:sp>
          <p:nvSpPr>
            <p:cNvPr id="40" name="Freeform 40"/>
            <p:cNvSpPr/>
            <p:nvPr/>
          </p:nvSpPr>
          <p:spPr>
            <a:xfrm>
              <a:off x="0" y="0"/>
              <a:ext cx="5781040" cy="1270000"/>
            </a:xfrm>
            <a:custGeom>
              <a:avLst/>
              <a:gdLst/>
              <a:ahLst/>
              <a:cxnLst/>
              <a:rect l="l" t="t" r="r" b="b"/>
              <a:pathLst>
                <a:path w="5781040" h="1270000">
                  <a:moveTo>
                    <a:pt x="0" y="254000"/>
                  </a:moveTo>
                  <a:cubicBezTo>
                    <a:pt x="0" y="113665"/>
                    <a:pt x="113665" y="0"/>
                    <a:pt x="254000" y="0"/>
                  </a:cubicBezTo>
                  <a:lnTo>
                    <a:pt x="5527040" y="0"/>
                  </a:lnTo>
                  <a:cubicBezTo>
                    <a:pt x="5667375" y="0"/>
                    <a:pt x="5781040" y="113665"/>
                    <a:pt x="5781040" y="254000"/>
                  </a:cubicBezTo>
                  <a:lnTo>
                    <a:pt x="5781040" y="1016000"/>
                  </a:lnTo>
                  <a:cubicBezTo>
                    <a:pt x="5781040" y="1156335"/>
                    <a:pt x="5667375" y="1270000"/>
                    <a:pt x="5527040" y="1270000"/>
                  </a:cubicBezTo>
                  <a:lnTo>
                    <a:pt x="254000" y="1270000"/>
                  </a:lnTo>
                  <a:cubicBezTo>
                    <a:pt x="113665" y="1270000"/>
                    <a:pt x="0" y="1156335"/>
                    <a:pt x="0" y="1016000"/>
                  </a:cubicBezTo>
                  <a:close/>
                </a:path>
              </a:pathLst>
            </a:custGeom>
            <a:solidFill>
              <a:srgbClr val="0A2F34"/>
            </a:solidFill>
            <a:ln w="38100" cap="sq">
              <a:solidFill>
                <a:srgbClr val="5BBFA8"/>
              </a:solidFill>
              <a:prstDash val="solid"/>
              <a:miter/>
            </a:ln>
          </p:spPr>
        </p:sp>
      </p:grpSp>
      <p:grpSp>
        <p:nvGrpSpPr>
          <p:cNvPr id="41" name="Group 41"/>
          <p:cNvGrpSpPr/>
          <p:nvPr/>
        </p:nvGrpSpPr>
        <p:grpSpPr>
          <a:xfrm>
            <a:off x="12868026" y="3644750"/>
            <a:ext cx="4082165" cy="907148"/>
            <a:chOff x="0" y="0"/>
            <a:chExt cx="5486400" cy="1219200"/>
          </a:xfrm>
        </p:grpSpPr>
        <p:sp>
          <p:nvSpPr>
            <p:cNvPr id="42" name="Freeform 42"/>
            <p:cNvSpPr/>
            <p:nvPr/>
          </p:nvSpPr>
          <p:spPr>
            <a:xfrm>
              <a:off x="0" y="0"/>
              <a:ext cx="5486400" cy="1219200"/>
            </a:xfrm>
            <a:custGeom>
              <a:avLst/>
              <a:gdLst/>
              <a:ahLst/>
              <a:cxnLst/>
              <a:rect l="l" t="t" r="r" b="b"/>
              <a:pathLst>
                <a:path w="5486400" h="1219200">
                  <a:moveTo>
                    <a:pt x="0" y="0"/>
                  </a:moveTo>
                  <a:lnTo>
                    <a:pt x="5486400" y="0"/>
                  </a:lnTo>
                  <a:lnTo>
                    <a:pt x="5486400" y="1219200"/>
                  </a:lnTo>
                  <a:lnTo>
                    <a:pt x="0" y="1219200"/>
                  </a:lnTo>
                  <a:close/>
                </a:path>
              </a:pathLst>
            </a:custGeom>
            <a:blipFill>
              <a:blip r:embed="rId3">
                <a:alphaModFix amt="0"/>
              </a:blip>
              <a:stretch>
                <a:fillRect t="-37682" b="-37682"/>
              </a:stretch>
            </a:blipFill>
          </p:spPr>
        </p:sp>
        <p:sp>
          <p:nvSpPr>
            <p:cNvPr id="43" name="TextBox 43"/>
            <p:cNvSpPr txBox="1"/>
            <p:nvPr/>
          </p:nvSpPr>
          <p:spPr>
            <a:xfrm>
              <a:off x="0" y="-57150"/>
              <a:ext cx="5486400" cy="1276350"/>
            </a:xfrm>
            <a:prstGeom prst="rect">
              <a:avLst/>
            </a:prstGeom>
          </p:spPr>
          <p:txBody>
            <a:bodyPr lIns="0" tIns="0" rIns="0" bIns="0" rtlCol="0" anchor="ctr"/>
            <a:lstStyle/>
            <a:p>
              <a:pPr algn="ctr">
                <a:lnSpc>
                  <a:spcPts val="2879"/>
                </a:lnSpc>
              </a:pPr>
              <a:r>
                <a:rPr lang="en-US" sz="2399" b="1">
                  <a:solidFill>
                    <a:srgbClr val="FFFFFF"/>
                  </a:solidFill>
                  <a:latin typeface="Calibri (MS) Bold"/>
                  <a:ea typeface="Calibri (MS) Bold"/>
                  <a:cs typeface="Calibri (MS) Bold"/>
                  <a:sym typeface="Calibri (MS) Bold"/>
                </a:rPr>
                <a:t>Less manual coordination</a:t>
              </a:r>
            </a:p>
          </p:txBody>
        </p:sp>
      </p:grpSp>
      <p:grpSp>
        <p:nvGrpSpPr>
          <p:cNvPr id="44" name="Group 44"/>
          <p:cNvGrpSpPr/>
          <p:nvPr/>
        </p:nvGrpSpPr>
        <p:grpSpPr>
          <a:xfrm>
            <a:off x="14696940" y="4684445"/>
            <a:ext cx="424347" cy="261060"/>
            <a:chOff x="0" y="0"/>
            <a:chExt cx="570319" cy="350863"/>
          </a:xfrm>
        </p:grpSpPr>
        <p:sp>
          <p:nvSpPr>
            <p:cNvPr id="45" name="Freeform 45"/>
            <p:cNvSpPr/>
            <p:nvPr/>
          </p:nvSpPr>
          <p:spPr>
            <a:xfrm>
              <a:off x="0" y="0"/>
              <a:ext cx="570357" cy="350901"/>
            </a:xfrm>
            <a:custGeom>
              <a:avLst/>
              <a:gdLst/>
              <a:ahLst/>
              <a:cxnLst/>
              <a:rect l="l" t="t" r="r" b="b"/>
              <a:pathLst>
                <a:path w="570357" h="350901">
                  <a:moveTo>
                    <a:pt x="0" y="0"/>
                  </a:moveTo>
                  <a:lnTo>
                    <a:pt x="285115" y="350901"/>
                  </a:lnTo>
                  <a:lnTo>
                    <a:pt x="570357" y="0"/>
                  </a:lnTo>
                  <a:close/>
                </a:path>
              </a:pathLst>
            </a:custGeom>
            <a:solidFill>
              <a:srgbClr val="5BBFA8"/>
            </a:solidFill>
            <a:ln w="25400" cap="sq">
              <a:solidFill>
                <a:srgbClr val="5BBFA8"/>
              </a:solidFill>
              <a:prstDash val="solid"/>
              <a:miter/>
            </a:ln>
          </p:spPr>
        </p:sp>
      </p:grpSp>
      <p:grpSp>
        <p:nvGrpSpPr>
          <p:cNvPr id="46" name="Group 46"/>
          <p:cNvGrpSpPr/>
          <p:nvPr/>
        </p:nvGrpSpPr>
        <p:grpSpPr>
          <a:xfrm>
            <a:off x="12758412" y="5041002"/>
            <a:ext cx="4301393" cy="944946"/>
            <a:chOff x="0" y="0"/>
            <a:chExt cx="5781040" cy="1270000"/>
          </a:xfrm>
        </p:grpSpPr>
        <p:sp>
          <p:nvSpPr>
            <p:cNvPr id="47" name="Freeform 47"/>
            <p:cNvSpPr/>
            <p:nvPr/>
          </p:nvSpPr>
          <p:spPr>
            <a:xfrm>
              <a:off x="0" y="0"/>
              <a:ext cx="5781040" cy="1270000"/>
            </a:xfrm>
            <a:custGeom>
              <a:avLst/>
              <a:gdLst/>
              <a:ahLst/>
              <a:cxnLst/>
              <a:rect l="l" t="t" r="r" b="b"/>
              <a:pathLst>
                <a:path w="5781040" h="1270000">
                  <a:moveTo>
                    <a:pt x="0" y="254000"/>
                  </a:moveTo>
                  <a:cubicBezTo>
                    <a:pt x="0" y="113665"/>
                    <a:pt x="113665" y="0"/>
                    <a:pt x="254000" y="0"/>
                  </a:cubicBezTo>
                  <a:lnTo>
                    <a:pt x="5527040" y="0"/>
                  </a:lnTo>
                  <a:cubicBezTo>
                    <a:pt x="5667375" y="0"/>
                    <a:pt x="5781040" y="113665"/>
                    <a:pt x="5781040" y="254000"/>
                  </a:cubicBezTo>
                  <a:lnTo>
                    <a:pt x="5781040" y="1016000"/>
                  </a:lnTo>
                  <a:cubicBezTo>
                    <a:pt x="5781040" y="1156335"/>
                    <a:pt x="5667375" y="1270000"/>
                    <a:pt x="5527040" y="1270000"/>
                  </a:cubicBezTo>
                  <a:lnTo>
                    <a:pt x="254000" y="1270000"/>
                  </a:lnTo>
                  <a:cubicBezTo>
                    <a:pt x="113665" y="1270000"/>
                    <a:pt x="0" y="1156335"/>
                    <a:pt x="0" y="1016000"/>
                  </a:cubicBezTo>
                  <a:close/>
                </a:path>
              </a:pathLst>
            </a:custGeom>
            <a:solidFill>
              <a:srgbClr val="0A2F34"/>
            </a:solidFill>
            <a:ln w="38100" cap="sq">
              <a:solidFill>
                <a:srgbClr val="5BBFA8"/>
              </a:solidFill>
              <a:prstDash val="solid"/>
              <a:miter/>
            </a:ln>
          </p:spPr>
        </p:sp>
      </p:grpSp>
      <p:grpSp>
        <p:nvGrpSpPr>
          <p:cNvPr id="48" name="Group 48"/>
          <p:cNvGrpSpPr/>
          <p:nvPr/>
        </p:nvGrpSpPr>
        <p:grpSpPr>
          <a:xfrm>
            <a:off x="12868026" y="5059901"/>
            <a:ext cx="4082165" cy="907148"/>
            <a:chOff x="0" y="0"/>
            <a:chExt cx="5486400" cy="1219200"/>
          </a:xfrm>
        </p:grpSpPr>
        <p:sp>
          <p:nvSpPr>
            <p:cNvPr id="49" name="Freeform 49"/>
            <p:cNvSpPr/>
            <p:nvPr/>
          </p:nvSpPr>
          <p:spPr>
            <a:xfrm>
              <a:off x="0" y="0"/>
              <a:ext cx="5486400" cy="1219200"/>
            </a:xfrm>
            <a:custGeom>
              <a:avLst/>
              <a:gdLst/>
              <a:ahLst/>
              <a:cxnLst/>
              <a:rect l="l" t="t" r="r" b="b"/>
              <a:pathLst>
                <a:path w="5486400" h="1219200">
                  <a:moveTo>
                    <a:pt x="0" y="0"/>
                  </a:moveTo>
                  <a:lnTo>
                    <a:pt x="5486400" y="0"/>
                  </a:lnTo>
                  <a:lnTo>
                    <a:pt x="5486400" y="1219200"/>
                  </a:lnTo>
                  <a:lnTo>
                    <a:pt x="0" y="1219200"/>
                  </a:lnTo>
                  <a:close/>
                </a:path>
              </a:pathLst>
            </a:custGeom>
            <a:blipFill>
              <a:blip r:embed="rId3">
                <a:alphaModFix amt="0"/>
              </a:blip>
              <a:stretch>
                <a:fillRect t="-37682" b="-37682"/>
              </a:stretch>
            </a:blipFill>
          </p:spPr>
        </p:sp>
        <p:sp>
          <p:nvSpPr>
            <p:cNvPr id="50" name="TextBox 50"/>
            <p:cNvSpPr txBox="1"/>
            <p:nvPr/>
          </p:nvSpPr>
          <p:spPr>
            <a:xfrm>
              <a:off x="0" y="-57150"/>
              <a:ext cx="5486400" cy="1276350"/>
            </a:xfrm>
            <a:prstGeom prst="rect">
              <a:avLst/>
            </a:prstGeom>
          </p:spPr>
          <p:txBody>
            <a:bodyPr lIns="0" tIns="0" rIns="0" bIns="0" rtlCol="0" anchor="ctr"/>
            <a:lstStyle/>
            <a:p>
              <a:pPr algn="ctr">
                <a:lnSpc>
                  <a:spcPts val="2879"/>
                </a:lnSpc>
              </a:pPr>
              <a:r>
                <a:rPr lang="en-US" sz="2399" b="1">
                  <a:solidFill>
                    <a:srgbClr val="FFFFFF"/>
                  </a:solidFill>
                  <a:latin typeface="Calibri (MS) Bold"/>
                  <a:ea typeface="Calibri (MS) Bold"/>
                  <a:cs typeface="Calibri (MS) Bold"/>
                  <a:sym typeface="Calibri (MS) Bold"/>
                </a:rPr>
                <a:t>Clearer responses</a:t>
              </a:r>
            </a:p>
          </p:txBody>
        </p:sp>
      </p:grpSp>
      <p:grpSp>
        <p:nvGrpSpPr>
          <p:cNvPr id="51" name="Group 51"/>
          <p:cNvGrpSpPr/>
          <p:nvPr/>
        </p:nvGrpSpPr>
        <p:grpSpPr>
          <a:xfrm>
            <a:off x="14696940" y="6099596"/>
            <a:ext cx="424347" cy="261060"/>
            <a:chOff x="0" y="0"/>
            <a:chExt cx="570319" cy="350863"/>
          </a:xfrm>
        </p:grpSpPr>
        <p:sp>
          <p:nvSpPr>
            <p:cNvPr id="52" name="Freeform 52"/>
            <p:cNvSpPr/>
            <p:nvPr/>
          </p:nvSpPr>
          <p:spPr>
            <a:xfrm>
              <a:off x="0" y="0"/>
              <a:ext cx="570357" cy="350901"/>
            </a:xfrm>
            <a:custGeom>
              <a:avLst/>
              <a:gdLst/>
              <a:ahLst/>
              <a:cxnLst/>
              <a:rect l="l" t="t" r="r" b="b"/>
              <a:pathLst>
                <a:path w="570357" h="350901">
                  <a:moveTo>
                    <a:pt x="0" y="0"/>
                  </a:moveTo>
                  <a:lnTo>
                    <a:pt x="285115" y="350901"/>
                  </a:lnTo>
                  <a:lnTo>
                    <a:pt x="570357" y="0"/>
                  </a:lnTo>
                  <a:close/>
                </a:path>
              </a:pathLst>
            </a:custGeom>
            <a:solidFill>
              <a:srgbClr val="5BBFA8"/>
            </a:solidFill>
            <a:ln w="25400" cap="sq">
              <a:solidFill>
                <a:srgbClr val="5BBFA8"/>
              </a:solidFill>
              <a:prstDash val="solid"/>
              <a:miter/>
            </a:ln>
          </p:spPr>
        </p:sp>
      </p:grpSp>
      <p:grpSp>
        <p:nvGrpSpPr>
          <p:cNvPr id="53" name="Group 53"/>
          <p:cNvGrpSpPr/>
          <p:nvPr/>
        </p:nvGrpSpPr>
        <p:grpSpPr>
          <a:xfrm>
            <a:off x="12758412" y="6456152"/>
            <a:ext cx="4301393" cy="944946"/>
            <a:chOff x="0" y="0"/>
            <a:chExt cx="5781040" cy="1270000"/>
          </a:xfrm>
        </p:grpSpPr>
        <p:sp>
          <p:nvSpPr>
            <p:cNvPr id="54" name="Freeform 54"/>
            <p:cNvSpPr/>
            <p:nvPr/>
          </p:nvSpPr>
          <p:spPr>
            <a:xfrm>
              <a:off x="0" y="0"/>
              <a:ext cx="5781040" cy="1270000"/>
            </a:xfrm>
            <a:custGeom>
              <a:avLst/>
              <a:gdLst/>
              <a:ahLst/>
              <a:cxnLst/>
              <a:rect l="l" t="t" r="r" b="b"/>
              <a:pathLst>
                <a:path w="5781040" h="1270000">
                  <a:moveTo>
                    <a:pt x="0" y="254000"/>
                  </a:moveTo>
                  <a:cubicBezTo>
                    <a:pt x="0" y="113665"/>
                    <a:pt x="113665" y="0"/>
                    <a:pt x="254000" y="0"/>
                  </a:cubicBezTo>
                  <a:lnTo>
                    <a:pt x="5527040" y="0"/>
                  </a:lnTo>
                  <a:cubicBezTo>
                    <a:pt x="5667375" y="0"/>
                    <a:pt x="5781040" y="113665"/>
                    <a:pt x="5781040" y="254000"/>
                  </a:cubicBezTo>
                  <a:lnTo>
                    <a:pt x="5781040" y="1016000"/>
                  </a:lnTo>
                  <a:cubicBezTo>
                    <a:pt x="5781040" y="1156335"/>
                    <a:pt x="5667375" y="1270000"/>
                    <a:pt x="5527040" y="1270000"/>
                  </a:cubicBezTo>
                  <a:lnTo>
                    <a:pt x="254000" y="1270000"/>
                  </a:lnTo>
                  <a:cubicBezTo>
                    <a:pt x="113665" y="1270000"/>
                    <a:pt x="0" y="1156335"/>
                    <a:pt x="0" y="1016000"/>
                  </a:cubicBezTo>
                  <a:close/>
                </a:path>
              </a:pathLst>
            </a:custGeom>
            <a:solidFill>
              <a:srgbClr val="0A2F34"/>
            </a:solidFill>
            <a:ln w="38100" cap="sq">
              <a:solidFill>
                <a:srgbClr val="5BBFA8"/>
              </a:solidFill>
              <a:prstDash val="solid"/>
              <a:miter/>
            </a:ln>
          </p:spPr>
        </p:sp>
      </p:grpSp>
      <p:grpSp>
        <p:nvGrpSpPr>
          <p:cNvPr id="55" name="Group 55"/>
          <p:cNvGrpSpPr/>
          <p:nvPr/>
        </p:nvGrpSpPr>
        <p:grpSpPr>
          <a:xfrm>
            <a:off x="12868026" y="6475051"/>
            <a:ext cx="4082165" cy="907148"/>
            <a:chOff x="0" y="0"/>
            <a:chExt cx="5486400" cy="1219200"/>
          </a:xfrm>
        </p:grpSpPr>
        <p:sp>
          <p:nvSpPr>
            <p:cNvPr id="56" name="Freeform 56"/>
            <p:cNvSpPr/>
            <p:nvPr/>
          </p:nvSpPr>
          <p:spPr>
            <a:xfrm>
              <a:off x="0" y="0"/>
              <a:ext cx="5486400" cy="1219200"/>
            </a:xfrm>
            <a:custGeom>
              <a:avLst/>
              <a:gdLst/>
              <a:ahLst/>
              <a:cxnLst/>
              <a:rect l="l" t="t" r="r" b="b"/>
              <a:pathLst>
                <a:path w="5486400" h="1219200">
                  <a:moveTo>
                    <a:pt x="0" y="0"/>
                  </a:moveTo>
                  <a:lnTo>
                    <a:pt x="5486400" y="0"/>
                  </a:lnTo>
                  <a:lnTo>
                    <a:pt x="5486400" y="1219200"/>
                  </a:lnTo>
                  <a:lnTo>
                    <a:pt x="0" y="1219200"/>
                  </a:lnTo>
                  <a:close/>
                </a:path>
              </a:pathLst>
            </a:custGeom>
            <a:blipFill>
              <a:blip r:embed="rId3">
                <a:alphaModFix amt="0"/>
              </a:blip>
              <a:stretch>
                <a:fillRect t="-37682" b="-37682"/>
              </a:stretch>
            </a:blipFill>
          </p:spPr>
        </p:sp>
        <p:sp>
          <p:nvSpPr>
            <p:cNvPr id="57" name="TextBox 57"/>
            <p:cNvSpPr txBox="1"/>
            <p:nvPr/>
          </p:nvSpPr>
          <p:spPr>
            <a:xfrm>
              <a:off x="0" y="-57150"/>
              <a:ext cx="5486400" cy="1276350"/>
            </a:xfrm>
            <a:prstGeom prst="rect">
              <a:avLst/>
            </a:prstGeom>
          </p:spPr>
          <p:txBody>
            <a:bodyPr lIns="0" tIns="0" rIns="0" bIns="0" rtlCol="0" anchor="ctr"/>
            <a:lstStyle/>
            <a:p>
              <a:pPr algn="ctr">
                <a:lnSpc>
                  <a:spcPts val="2879"/>
                </a:lnSpc>
              </a:pPr>
              <a:r>
                <a:rPr lang="en-US" sz="2399" b="1">
                  <a:solidFill>
                    <a:srgbClr val="FFFFFF"/>
                  </a:solidFill>
                  <a:latin typeface="Calibri (MS) Bold"/>
                  <a:ea typeface="Calibri (MS) Bold"/>
                  <a:cs typeface="Calibri (MS) Bold"/>
                  <a:sym typeface="Calibri (MS) Bold"/>
                </a:rPr>
                <a:t>Less frustration</a:t>
              </a:r>
            </a:p>
          </p:txBody>
        </p:sp>
      </p:grpSp>
      <p:grpSp>
        <p:nvGrpSpPr>
          <p:cNvPr id="58" name="Group 58"/>
          <p:cNvGrpSpPr/>
          <p:nvPr/>
        </p:nvGrpSpPr>
        <p:grpSpPr>
          <a:xfrm>
            <a:off x="14696940" y="7514747"/>
            <a:ext cx="424347" cy="261060"/>
            <a:chOff x="0" y="0"/>
            <a:chExt cx="570319" cy="350863"/>
          </a:xfrm>
        </p:grpSpPr>
        <p:sp>
          <p:nvSpPr>
            <p:cNvPr id="59" name="Freeform 59"/>
            <p:cNvSpPr/>
            <p:nvPr/>
          </p:nvSpPr>
          <p:spPr>
            <a:xfrm>
              <a:off x="0" y="0"/>
              <a:ext cx="570357" cy="350901"/>
            </a:xfrm>
            <a:custGeom>
              <a:avLst/>
              <a:gdLst/>
              <a:ahLst/>
              <a:cxnLst/>
              <a:rect l="l" t="t" r="r" b="b"/>
              <a:pathLst>
                <a:path w="570357" h="350901">
                  <a:moveTo>
                    <a:pt x="0" y="0"/>
                  </a:moveTo>
                  <a:lnTo>
                    <a:pt x="285115" y="350901"/>
                  </a:lnTo>
                  <a:lnTo>
                    <a:pt x="570357" y="0"/>
                  </a:lnTo>
                  <a:close/>
                </a:path>
              </a:pathLst>
            </a:custGeom>
            <a:solidFill>
              <a:srgbClr val="5BBFA8"/>
            </a:solidFill>
            <a:ln w="25400" cap="sq">
              <a:solidFill>
                <a:srgbClr val="5BBFA8"/>
              </a:solidFill>
              <a:prstDash val="solid"/>
              <a:miter/>
            </a:ln>
          </p:spPr>
        </p:sp>
      </p:grpSp>
      <p:grpSp>
        <p:nvGrpSpPr>
          <p:cNvPr id="60" name="Group 60"/>
          <p:cNvGrpSpPr/>
          <p:nvPr/>
        </p:nvGrpSpPr>
        <p:grpSpPr>
          <a:xfrm>
            <a:off x="12758412" y="7871303"/>
            <a:ext cx="4301393" cy="944946"/>
            <a:chOff x="0" y="0"/>
            <a:chExt cx="5781040" cy="1270000"/>
          </a:xfrm>
        </p:grpSpPr>
        <p:sp>
          <p:nvSpPr>
            <p:cNvPr id="61" name="Freeform 61"/>
            <p:cNvSpPr/>
            <p:nvPr/>
          </p:nvSpPr>
          <p:spPr>
            <a:xfrm>
              <a:off x="0" y="0"/>
              <a:ext cx="5781040" cy="1270000"/>
            </a:xfrm>
            <a:custGeom>
              <a:avLst/>
              <a:gdLst/>
              <a:ahLst/>
              <a:cxnLst/>
              <a:rect l="l" t="t" r="r" b="b"/>
              <a:pathLst>
                <a:path w="5781040" h="1270000">
                  <a:moveTo>
                    <a:pt x="0" y="254000"/>
                  </a:moveTo>
                  <a:cubicBezTo>
                    <a:pt x="0" y="113665"/>
                    <a:pt x="113665" y="0"/>
                    <a:pt x="254000" y="0"/>
                  </a:cubicBezTo>
                  <a:lnTo>
                    <a:pt x="5527040" y="0"/>
                  </a:lnTo>
                  <a:cubicBezTo>
                    <a:pt x="5667375" y="0"/>
                    <a:pt x="5781040" y="113665"/>
                    <a:pt x="5781040" y="254000"/>
                  </a:cubicBezTo>
                  <a:lnTo>
                    <a:pt x="5781040" y="1016000"/>
                  </a:lnTo>
                  <a:cubicBezTo>
                    <a:pt x="5781040" y="1156335"/>
                    <a:pt x="5667375" y="1270000"/>
                    <a:pt x="5527040" y="1270000"/>
                  </a:cubicBezTo>
                  <a:lnTo>
                    <a:pt x="254000" y="1270000"/>
                  </a:lnTo>
                  <a:cubicBezTo>
                    <a:pt x="113665" y="1270000"/>
                    <a:pt x="0" y="1156335"/>
                    <a:pt x="0" y="1016000"/>
                  </a:cubicBezTo>
                  <a:close/>
                </a:path>
              </a:pathLst>
            </a:custGeom>
            <a:solidFill>
              <a:srgbClr val="0A2F34"/>
            </a:solidFill>
            <a:ln w="38100" cap="sq">
              <a:solidFill>
                <a:srgbClr val="5BBFA8"/>
              </a:solidFill>
              <a:prstDash val="solid"/>
              <a:miter/>
            </a:ln>
          </p:spPr>
        </p:sp>
      </p:grpSp>
      <p:grpSp>
        <p:nvGrpSpPr>
          <p:cNvPr id="62" name="Group 62"/>
          <p:cNvGrpSpPr/>
          <p:nvPr/>
        </p:nvGrpSpPr>
        <p:grpSpPr>
          <a:xfrm>
            <a:off x="12868026" y="7890202"/>
            <a:ext cx="4082165" cy="907148"/>
            <a:chOff x="0" y="0"/>
            <a:chExt cx="5486400" cy="1219200"/>
          </a:xfrm>
        </p:grpSpPr>
        <p:sp>
          <p:nvSpPr>
            <p:cNvPr id="63" name="Freeform 63"/>
            <p:cNvSpPr/>
            <p:nvPr/>
          </p:nvSpPr>
          <p:spPr>
            <a:xfrm>
              <a:off x="0" y="0"/>
              <a:ext cx="5486400" cy="1219200"/>
            </a:xfrm>
            <a:custGeom>
              <a:avLst/>
              <a:gdLst/>
              <a:ahLst/>
              <a:cxnLst/>
              <a:rect l="l" t="t" r="r" b="b"/>
              <a:pathLst>
                <a:path w="5486400" h="1219200">
                  <a:moveTo>
                    <a:pt x="0" y="0"/>
                  </a:moveTo>
                  <a:lnTo>
                    <a:pt x="5486400" y="0"/>
                  </a:lnTo>
                  <a:lnTo>
                    <a:pt x="5486400" y="1219200"/>
                  </a:lnTo>
                  <a:lnTo>
                    <a:pt x="0" y="1219200"/>
                  </a:lnTo>
                  <a:close/>
                </a:path>
              </a:pathLst>
            </a:custGeom>
            <a:blipFill>
              <a:blip r:embed="rId3">
                <a:alphaModFix amt="0"/>
              </a:blip>
              <a:stretch>
                <a:fillRect t="-37682" b="-37682"/>
              </a:stretch>
            </a:blipFill>
          </p:spPr>
        </p:sp>
        <p:sp>
          <p:nvSpPr>
            <p:cNvPr id="64" name="TextBox 64"/>
            <p:cNvSpPr txBox="1"/>
            <p:nvPr/>
          </p:nvSpPr>
          <p:spPr>
            <a:xfrm>
              <a:off x="0" y="-57150"/>
              <a:ext cx="5486400" cy="1276350"/>
            </a:xfrm>
            <a:prstGeom prst="rect">
              <a:avLst/>
            </a:prstGeom>
          </p:spPr>
          <p:txBody>
            <a:bodyPr lIns="0" tIns="0" rIns="0" bIns="0" rtlCol="0" anchor="ctr"/>
            <a:lstStyle/>
            <a:p>
              <a:pPr algn="ctr">
                <a:lnSpc>
                  <a:spcPts val="2879"/>
                </a:lnSpc>
              </a:pPr>
              <a:r>
                <a:rPr lang="en-US" sz="2399" b="1">
                  <a:solidFill>
                    <a:srgbClr val="FFFFFF"/>
                  </a:solidFill>
                  <a:latin typeface="Calibri (MS) Bold"/>
                  <a:ea typeface="Calibri (MS) Bold"/>
                  <a:cs typeface="Calibri (MS) Bold"/>
                  <a:sym typeface="Calibri (MS) Bold"/>
                </a:rPr>
                <a:t>Stronger trust / brand reputation</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122B3F"/>
          </a:solidFill>
        </p:spPr>
      </p:sp>
      <p:grpSp>
        <p:nvGrpSpPr>
          <p:cNvPr id="3" name="Group 3"/>
          <p:cNvGrpSpPr/>
          <p:nvPr/>
        </p:nvGrpSpPr>
        <p:grpSpPr>
          <a:xfrm>
            <a:off x="1000125" y="2408968"/>
            <a:ext cx="16306800" cy="5729507"/>
            <a:chOff x="0" y="0"/>
            <a:chExt cx="21742400" cy="7639343"/>
          </a:xfrm>
        </p:grpSpPr>
        <p:sp>
          <p:nvSpPr>
            <p:cNvPr id="4" name="AutoShape 4"/>
            <p:cNvSpPr/>
            <p:nvPr/>
          </p:nvSpPr>
          <p:spPr>
            <a:xfrm>
              <a:off x="0" y="0"/>
              <a:ext cx="21742400" cy="986663"/>
            </a:xfrm>
            <a:prstGeom prst="rect">
              <a:avLst/>
            </a:prstGeom>
            <a:solidFill>
              <a:srgbClr val="124247"/>
            </a:solidFill>
          </p:spPr>
        </p:sp>
        <p:grpSp>
          <p:nvGrpSpPr>
            <p:cNvPr id="5" name="Group 5"/>
            <p:cNvGrpSpPr/>
            <p:nvPr/>
          </p:nvGrpSpPr>
          <p:grpSpPr>
            <a:xfrm>
              <a:off x="0" y="0"/>
              <a:ext cx="4699000" cy="1342790"/>
              <a:chOff x="0" y="0"/>
              <a:chExt cx="4699000" cy="1342790"/>
            </a:xfrm>
          </p:grpSpPr>
          <p:sp>
            <p:nvSpPr>
              <p:cNvPr id="6" name="Freeform 6"/>
              <p:cNvSpPr/>
              <p:nvPr/>
            </p:nvSpPr>
            <p:spPr>
              <a:xfrm>
                <a:off x="0" y="0"/>
                <a:ext cx="4699000" cy="1342791"/>
              </a:xfrm>
              <a:custGeom>
                <a:avLst/>
                <a:gdLst/>
                <a:ahLst/>
                <a:cxnLst/>
                <a:rect l="l" t="t" r="r" b="b"/>
                <a:pathLst>
                  <a:path w="4699000" h="1342791">
                    <a:moveTo>
                      <a:pt x="0" y="0"/>
                    </a:moveTo>
                    <a:lnTo>
                      <a:pt x="4699000" y="0"/>
                    </a:lnTo>
                    <a:lnTo>
                      <a:pt x="4699000" y="1342791"/>
                    </a:lnTo>
                    <a:lnTo>
                      <a:pt x="0" y="1342791"/>
                    </a:lnTo>
                    <a:lnTo>
                      <a:pt x="0" y="0"/>
                    </a:lnTo>
                    <a:close/>
                  </a:path>
                </a:pathLst>
              </a:custGeom>
              <a:solidFill>
                <a:srgbClr val="000000">
                  <a:alpha val="0"/>
                </a:srgbClr>
              </a:solidFill>
              <a:ln w="19050" cap="sq">
                <a:solidFill>
                  <a:srgbClr val="53BFA9"/>
                </a:solidFill>
                <a:prstDash val="solid"/>
                <a:miter/>
              </a:ln>
            </p:spPr>
          </p:sp>
          <p:sp>
            <p:nvSpPr>
              <p:cNvPr id="7" name="TextBox 7"/>
              <p:cNvSpPr txBox="1"/>
              <p:nvPr/>
            </p:nvSpPr>
            <p:spPr>
              <a:xfrm>
                <a:off x="0" y="-38100"/>
                <a:ext cx="4699000" cy="1380890"/>
              </a:xfrm>
              <a:prstGeom prst="rect">
                <a:avLst/>
              </a:prstGeom>
            </p:spPr>
            <p:txBody>
              <a:bodyPr lIns="254000" tIns="254000" rIns="254000" bIns="254000" rtlCol="0" anchor="t"/>
              <a:lstStyle/>
              <a:p>
                <a:pPr algn="l">
                  <a:lnSpc>
                    <a:spcPts val="3737"/>
                  </a:lnSpc>
                </a:pPr>
                <a:r>
                  <a:rPr lang="en-US" sz="2874" b="1">
                    <a:solidFill>
                      <a:srgbClr val="65CCB7"/>
                    </a:solidFill>
                    <a:latin typeface="Arial Bold"/>
                    <a:ea typeface="Arial Bold"/>
                    <a:cs typeface="Arial Bold"/>
                    <a:sym typeface="Arial Bold"/>
                  </a:rPr>
                  <a:t>AREA</a:t>
                </a:r>
              </a:p>
            </p:txBody>
          </p:sp>
        </p:grpSp>
        <p:grpSp>
          <p:nvGrpSpPr>
            <p:cNvPr id="8" name="Group 8"/>
            <p:cNvGrpSpPr/>
            <p:nvPr/>
          </p:nvGrpSpPr>
          <p:grpSpPr>
            <a:xfrm>
              <a:off x="4699000" y="0"/>
              <a:ext cx="17043400" cy="1342790"/>
              <a:chOff x="0" y="0"/>
              <a:chExt cx="17043400" cy="1342790"/>
            </a:xfrm>
          </p:grpSpPr>
          <p:sp>
            <p:nvSpPr>
              <p:cNvPr id="9" name="Freeform 9"/>
              <p:cNvSpPr/>
              <p:nvPr/>
            </p:nvSpPr>
            <p:spPr>
              <a:xfrm>
                <a:off x="0" y="0"/>
                <a:ext cx="17043400" cy="1342791"/>
              </a:xfrm>
              <a:custGeom>
                <a:avLst/>
                <a:gdLst/>
                <a:ahLst/>
                <a:cxnLst/>
                <a:rect l="l" t="t" r="r" b="b"/>
                <a:pathLst>
                  <a:path w="17043400" h="1342791">
                    <a:moveTo>
                      <a:pt x="0" y="0"/>
                    </a:moveTo>
                    <a:lnTo>
                      <a:pt x="17043400" y="0"/>
                    </a:lnTo>
                    <a:lnTo>
                      <a:pt x="17043400" y="1342791"/>
                    </a:lnTo>
                    <a:lnTo>
                      <a:pt x="0" y="1342791"/>
                    </a:lnTo>
                    <a:lnTo>
                      <a:pt x="0" y="0"/>
                    </a:lnTo>
                    <a:close/>
                  </a:path>
                </a:pathLst>
              </a:custGeom>
              <a:solidFill>
                <a:srgbClr val="000000">
                  <a:alpha val="0"/>
                </a:srgbClr>
              </a:solidFill>
              <a:ln w="19050" cap="sq">
                <a:solidFill>
                  <a:srgbClr val="53BFA9"/>
                </a:solidFill>
                <a:prstDash val="solid"/>
                <a:miter/>
              </a:ln>
            </p:spPr>
          </p:sp>
          <p:sp>
            <p:nvSpPr>
              <p:cNvPr id="10" name="TextBox 10"/>
              <p:cNvSpPr txBox="1"/>
              <p:nvPr/>
            </p:nvSpPr>
            <p:spPr>
              <a:xfrm>
                <a:off x="0" y="-38100"/>
                <a:ext cx="17043400" cy="1380890"/>
              </a:xfrm>
              <a:prstGeom prst="rect">
                <a:avLst/>
              </a:prstGeom>
            </p:spPr>
            <p:txBody>
              <a:bodyPr lIns="254000" tIns="254000" rIns="254000" bIns="254000" rtlCol="0" anchor="t"/>
              <a:lstStyle/>
              <a:p>
                <a:pPr algn="l">
                  <a:lnSpc>
                    <a:spcPts val="3737"/>
                  </a:lnSpc>
                </a:pPr>
                <a:r>
                  <a:rPr lang="en-US" sz="2874" b="1">
                    <a:solidFill>
                      <a:srgbClr val="65CCB7"/>
                    </a:solidFill>
                    <a:latin typeface="Arial Bold"/>
                    <a:ea typeface="Arial Bold"/>
                    <a:cs typeface="Arial Bold"/>
                    <a:sym typeface="Arial Bold"/>
                  </a:rPr>
                  <a:t>STRATEGY</a:t>
                </a:r>
              </a:p>
            </p:txBody>
          </p:sp>
        </p:grpSp>
        <p:sp>
          <p:nvSpPr>
            <p:cNvPr id="11" name="AutoShape 11"/>
            <p:cNvSpPr/>
            <p:nvPr/>
          </p:nvSpPr>
          <p:spPr>
            <a:xfrm>
              <a:off x="0" y="986536"/>
              <a:ext cx="21742400" cy="1062863"/>
            </a:xfrm>
            <a:prstGeom prst="rect">
              <a:avLst/>
            </a:prstGeom>
            <a:solidFill>
              <a:srgbClr val="10383F"/>
            </a:solidFill>
          </p:spPr>
        </p:sp>
        <p:grpSp>
          <p:nvGrpSpPr>
            <p:cNvPr id="12" name="Group 12"/>
            <p:cNvGrpSpPr/>
            <p:nvPr/>
          </p:nvGrpSpPr>
          <p:grpSpPr>
            <a:xfrm>
              <a:off x="0" y="986536"/>
              <a:ext cx="4699000" cy="1338619"/>
              <a:chOff x="0" y="0"/>
              <a:chExt cx="4699000" cy="1338619"/>
            </a:xfrm>
          </p:grpSpPr>
          <p:sp>
            <p:nvSpPr>
              <p:cNvPr id="13" name="Freeform 13"/>
              <p:cNvSpPr/>
              <p:nvPr/>
            </p:nvSpPr>
            <p:spPr>
              <a:xfrm>
                <a:off x="0" y="0"/>
                <a:ext cx="4699000" cy="1338619"/>
              </a:xfrm>
              <a:custGeom>
                <a:avLst/>
                <a:gdLst/>
                <a:ahLst/>
                <a:cxnLst/>
                <a:rect l="l" t="t" r="r" b="b"/>
                <a:pathLst>
                  <a:path w="4699000" h="1338619">
                    <a:moveTo>
                      <a:pt x="0" y="0"/>
                    </a:moveTo>
                    <a:lnTo>
                      <a:pt x="4699000" y="0"/>
                    </a:lnTo>
                    <a:lnTo>
                      <a:pt x="46990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14" name="TextBox 14"/>
              <p:cNvSpPr txBox="1"/>
              <p:nvPr/>
            </p:nvSpPr>
            <p:spPr>
              <a:xfrm>
                <a:off x="0" y="-38100"/>
                <a:ext cx="4699000" cy="1376719"/>
              </a:xfrm>
              <a:prstGeom prst="rect">
                <a:avLst/>
              </a:prstGeom>
            </p:spPr>
            <p:txBody>
              <a:bodyPr lIns="292100" tIns="292100" rIns="292100" bIns="292100" rtlCol="0" anchor="t"/>
              <a:lstStyle/>
              <a:p>
                <a:pPr algn="l">
                  <a:lnSpc>
                    <a:spcPts val="3347"/>
                  </a:lnSpc>
                </a:pPr>
                <a:r>
                  <a:rPr lang="en-US" sz="2574" b="1">
                    <a:solidFill>
                      <a:srgbClr val="FFFFFF"/>
                    </a:solidFill>
                    <a:latin typeface="Arial Bold"/>
                    <a:ea typeface="Arial Bold"/>
                    <a:cs typeface="Arial Bold"/>
                    <a:sym typeface="Arial Bold"/>
                  </a:rPr>
                  <a:t>Target customer</a:t>
                </a:r>
              </a:p>
            </p:txBody>
          </p:sp>
        </p:grpSp>
        <p:grpSp>
          <p:nvGrpSpPr>
            <p:cNvPr id="15" name="Group 15"/>
            <p:cNvGrpSpPr/>
            <p:nvPr/>
          </p:nvGrpSpPr>
          <p:grpSpPr>
            <a:xfrm>
              <a:off x="4699000" y="986536"/>
              <a:ext cx="17043400" cy="1338619"/>
              <a:chOff x="0" y="0"/>
              <a:chExt cx="17043400" cy="1338619"/>
            </a:xfrm>
          </p:grpSpPr>
          <p:sp>
            <p:nvSpPr>
              <p:cNvPr id="16" name="Freeform 16"/>
              <p:cNvSpPr/>
              <p:nvPr/>
            </p:nvSpPr>
            <p:spPr>
              <a:xfrm>
                <a:off x="0" y="0"/>
                <a:ext cx="17043400" cy="1338619"/>
              </a:xfrm>
              <a:custGeom>
                <a:avLst/>
                <a:gdLst/>
                <a:ahLst/>
                <a:cxnLst/>
                <a:rect l="l" t="t" r="r" b="b"/>
                <a:pathLst>
                  <a:path w="17043400" h="1338619">
                    <a:moveTo>
                      <a:pt x="0" y="0"/>
                    </a:moveTo>
                    <a:lnTo>
                      <a:pt x="17043400" y="0"/>
                    </a:lnTo>
                    <a:lnTo>
                      <a:pt x="170434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17" name="TextBox 17"/>
              <p:cNvSpPr txBox="1"/>
              <p:nvPr/>
            </p:nvSpPr>
            <p:spPr>
              <a:xfrm>
                <a:off x="0" y="-38100"/>
                <a:ext cx="17043400" cy="1376719"/>
              </a:xfrm>
              <a:prstGeom prst="rect">
                <a:avLst/>
              </a:prstGeom>
            </p:spPr>
            <p:txBody>
              <a:bodyPr lIns="292100" tIns="292100" rIns="292100" bIns="292100" rtlCol="0" anchor="t"/>
              <a:lstStyle/>
              <a:p>
                <a:pPr algn="l">
                  <a:lnSpc>
                    <a:spcPts val="3347"/>
                  </a:lnSpc>
                </a:pPr>
                <a:r>
                  <a:rPr lang="en-US" sz="2574">
                    <a:solidFill>
                      <a:srgbClr val="FFFFFF"/>
                    </a:solidFill>
                    <a:latin typeface="Arial"/>
                    <a:ea typeface="Arial"/>
                    <a:cs typeface="Arial"/>
                    <a:sym typeface="Arial"/>
                  </a:rPr>
                  <a:t>Myanmar </a:t>
                </a:r>
                <a:r>
                  <a:rPr lang="en-US" sz="2574" b="1">
                    <a:solidFill>
                      <a:srgbClr val="FFBD59"/>
                    </a:solidFill>
                    <a:latin typeface="Arial Bold"/>
                    <a:ea typeface="Arial Bold"/>
                    <a:cs typeface="Arial Bold"/>
                    <a:sym typeface="Arial Bold"/>
                  </a:rPr>
                  <a:t>courier companies</a:t>
                </a:r>
                <a:r>
                  <a:rPr lang="en-US" sz="2574">
                    <a:solidFill>
                      <a:srgbClr val="FFFFFF"/>
                    </a:solidFill>
                    <a:latin typeface="Arial"/>
                    <a:ea typeface="Arial"/>
                    <a:cs typeface="Arial"/>
                    <a:sym typeface="Arial"/>
                  </a:rPr>
                  <a:t> with dedicated support teams</a:t>
                </a:r>
              </a:p>
            </p:txBody>
          </p:sp>
        </p:grpSp>
        <p:sp>
          <p:nvSpPr>
            <p:cNvPr id="18" name="AutoShape 18"/>
            <p:cNvSpPr/>
            <p:nvPr/>
          </p:nvSpPr>
          <p:spPr>
            <a:xfrm>
              <a:off x="0" y="2049399"/>
              <a:ext cx="21742400" cy="1062863"/>
            </a:xfrm>
            <a:prstGeom prst="rect">
              <a:avLst/>
            </a:prstGeom>
            <a:solidFill>
              <a:srgbClr val="0B3038"/>
            </a:solidFill>
          </p:spPr>
        </p:sp>
        <p:grpSp>
          <p:nvGrpSpPr>
            <p:cNvPr id="19" name="Group 19"/>
            <p:cNvGrpSpPr/>
            <p:nvPr/>
          </p:nvGrpSpPr>
          <p:grpSpPr>
            <a:xfrm>
              <a:off x="0" y="2049399"/>
              <a:ext cx="4699000" cy="1338619"/>
              <a:chOff x="0" y="0"/>
              <a:chExt cx="4699000" cy="1338619"/>
            </a:xfrm>
          </p:grpSpPr>
          <p:sp>
            <p:nvSpPr>
              <p:cNvPr id="20" name="Freeform 20"/>
              <p:cNvSpPr/>
              <p:nvPr/>
            </p:nvSpPr>
            <p:spPr>
              <a:xfrm>
                <a:off x="0" y="0"/>
                <a:ext cx="4699000" cy="1338619"/>
              </a:xfrm>
              <a:custGeom>
                <a:avLst/>
                <a:gdLst/>
                <a:ahLst/>
                <a:cxnLst/>
                <a:rect l="l" t="t" r="r" b="b"/>
                <a:pathLst>
                  <a:path w="4699000" h="1338619">
                    <a:moveTo>
                      <a:pt x="0" y="0"/>
                    </a:moveTo>
                    <a:lnTo>
                      <a:pt x="4699000" y="0"/>
                    </a:lnTo>
                    <a:lnTo>
                      <a:pt x="46990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21" name="TextBox 21"/>
              <p:cNvSpPr txBox="1"/>
              <p:nvPr/>
            </p:nvSpPr>
            <p:spPr>
              <a:xfrm>
                <a:off x="0" y="-38100"/>
                <a:ext cx="4699000" cy="1376719"/>
              </a:xfrm>
              <a:prstGeom prst="rect">
                <a:avLst/>
              </a:prstGeom>
            </p:spPr>
            <p:txBody>
              <a:bodyPr lIns="292100" tIns="292100" rIns="292100" bIns="292100" rtlCol="0" anchor="t"/>
              <a:lstStyle/>
              <a:p>
                <a:pPr algn="l">
                  <a:lnSpc>
                    <a:spcPts val="3347"/>
                  </a:lnSpc>
                </a:pPr>
                <a:r>
                  <a:rPr lang="en-US" sz="2574" b="1">
                    <a:solidFill>
                      <a:srgbClr val="FFFFFF"/>
                    </a:solidFill>
                    <a:latin typeface="Arial Bold"/>
                    <a:ea typeface="Arial Bold"/>
                    <a:cs typeface="Arial Bold"/>
                    <a:sym typeface="Arial Bold"/>
                  </a:rPr>
                  <a:t>Value proposition</a:t>
                </a:r>
              </a:p>
            </p:txBody>
          </p:sp>
        </p:grpSp>
        <p:grpSp>
          <p:nvGrpSpPr>
            <p:cNvPr id="22" name="Group 22"/>
            <p:cNvGrpSpPr/>
            <p:nvPr/>
          </p:nvGrpSpPr>
          <p:grpSpPr>
            <a:xfrm>
              <a:off x="4699000" y="2049399"/>
              <a:ext cx="17043400" cy="1338619"/>
              <a:chOff x="0" y="0"/>
              <a:chExt cx="17043400" cy="1338619"/>
            </a:xfrm>
          </p:grpSpPr>
          <p:sp>
            <p:nvSpPr>
              <p:cNvPr id="23" name="Freeform 23"/>
              <p:cNvSpPr/>
              <p:nvPr/>
            </p:nvSpPr>
            <p:spPr>
              <a:xfrm>
                <a:off x="0" y="0"/>
                <a:ext cx="17043400" cy="1338619"/>
              </a:xfrm>
              <a:custGeom>
                <a:avLst/>
                <a:gdLst/>
                <a:ahLst/>
                <a:cxnLst/>
                <a:rect l="l" t="t" r="r" b="b"/>
                <a:pathLst>
                  <a:path w="17043400" h="1338619">
                    <a:moveTo>
                      <a:pt x="0" y="0"/>
                    </a:moveTo>
                    <a:lnTo>
                      <a:pt x="17043400" y="0"/>
                    </a:lnTo>
                    <a:lnTo>
                      <a:pt x="170434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24" name="TextBox 24"/>
              <p:cNvSpPr txBox="1"/>
              <p:nvPr/>
            </p:nvSpPr>
            <p:spPr>
              <a:xfrm>
                <a:off x="0" y="-38100"/>
                <a:ext cx="17043400" cy="1376719"/>
              </a:xfrm>
              <a:prstGeom prst="rect">
                <a:avLst/>
              </a:prstGeom>
            </p:spPr>
            <p:txBody>
              <a:bodyPr lIns="292100" tIns="292100" rIns="292100" bIns="292100" rtlCol="0" anchor="t"/>
              <a:lstStyle/>
              <a:p>
                <a:pPr algn="l">
                  <a:lnSpc>
                    <a:spcPts val="3347"/>
                  </a:lnSpc>
                </a:pPr>
                <a:r>
                  <a:rPr lang="en-US" sz="2574">
                    <a:solidFill>
                      <a:srgbClr val="FFFFFF"/>
                    </a:solidFill>
                    <a:latin typeface="Arial"/>
                    <a:ea typeface="Arial"/>
                    <a:cs typeface="Arial"/>
                    <a:sym typeface="Arial"/>
                  </a:rPr>
                  <a:t>One workspace for </a:t>
                </a:r>
                <a:r>
                  <a:rPr lang="en-US" sz="2574" b="1">
                    <a:solidFill>
                      <a:srgbClr val="FFBD59"/>
                    </a:solidFill>
                    <a:latin typeface="Arial Bold"/>
                    <a:ea typeface="Arial Bold"/>
                    <a:cs typeface="Arial Bold"/>
                    <a:sym typeface="Arial Bold"/>
                  </a:rPr>
                  <a:t>complaints</a:t>
                </a:r>
                <a:r>
                  <a:rPr lang="en-US" sz="2574">
                    <a:solidFill>
                      <a:srgbClr val="FFFFFF"/>
                    </a:solidFill>
                    <a:latin typeface="Arial"/>
                    <a:ea typeface="Arial"/>
                    <a:cs typeface="Arial"/>
                    <a:sym typeface="Arial"/>
                  </a:rPr>
                  <a:t>, </a:t>
                </a:r>
                <a:r>
                  <a:rPr lang="en-US" sz="2574" b="1">
                    <a:solidFill>
                      <a:srgbClr val="FFBD59"/>
                    </a:solidFill>
                    <a:latin typeface="Arial Bold"/>
                    <a:ea typeface="Arial Bold"/>
                    <a:cs typeface="Arial Bold"/>
                    <a:sym typeface="Arial Bold"/>
                  </a:rPr>
                  <a:t>AI-assisted triage</a:t>
                </a:r>
                <a:r>
                  <a:rPr lang="en-US" sz="2574">
                    <a:solidFill>
                      <a:srgbClr val="FFFFFF"/>
                    </a:solidFill>
                    <a:latin typeface="Arial"/>
                    <a:ea typeface="Arial"/>
                    <a:cs typeface="Arial"/>
                    <a:sym typeface="Arial"/>
                  </a:rPr>
                  <a:t>, and </a:t>
                </a:r>
                <a:r>
                  <a:rPr lang="en-US" sz="2574" b="1">
                    <a:solidFill>
                      <a:srgbClr val="FFBD59"/>
                    </a:solidFill>
                    <a:latin typeface="Arial Bold"/>
                    <a:ea typeface="Arial Bold"/>
                    <a:cs typeface="Arial Bold"/>
                    <a:sym typeface="Arial Bold"/>
                  </a:rPr>
                  <a:t>seller escalation</a:t>
                </a:r>
              </a:p>
            </p:txBody>
          </p:sp>
        </p:grpSp>
        <p:sp>
          <p:nvSpPr>
            <p:cNvPr id="25" name="AutoShape 25"/>
            <p:cNvSpPr/>
            <p:nvPr/>
          </p:nvSpPr>
          <p:spPr>
            <a:xfrm>
              <a:off x="0" y="3112262"/>
              <a:ext cx="21742400" cy="1062863"/>
            </a:xfrm>
            <a:prstGeom prst="rect">
              <a:avLst/>
            </a:prstGeom>
            <a:solidFill>
              <a:srgbClr val="10383F"/>
            </a:solidFill>
          </p:spPr>
        </p:sp>
        <p:grpSp>
          <p:nvGrpSpPr>
            <p:cNvPr id="26" name="Group 26"/>
            <p:cNvGrpSpPr/>
            <p:nvPr/>
          </p:nvGrpSpPr>
          <p:grpSpPr>
            <a:xfrm>
              <a:off x="0" y="3112262"/>
              <a:ext cx="4699000" cy="1338619"/>
              <a:chOff x="0" y="0"/>
              <a:chExt cx="4699000" cy="1338619"/>
            </a:xfrm>
          </p:grpSpPr>
          <p:sp>
            <p:nvSpPr>
              <p:cNvPr id="27" name="Freeform 27"/>
              <p:cNvSpPr/>
              <p:nvPr/>
            </p:nvSpPr>
            <p:spPr>
              <a:xfrm>
                <a:off x="0" y="0"/>
                <a:ext cx="4699000" cy="1338619"/>
              </a:xfrm>
              <a:custGeom>
                <a:avLst/>
                <a:gdLst/>
                <a:ahLst/>
                <a:cxnLst/>
                <a:rect l="l" t="t" r="r" b="b"/>
                <a:pathLst>
                  <a:path w="4699000" h="1338619">
                    <a:moveTo>
                      <a:pt x="0" y="0"/>
                    </a:moveTo>
                    <a:lnTo>
                      <a:pt x="4699000" y="0"/>
                    </a:lnTo>
                    <a:lnTo>
                      <a:pt x="46990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28" name="TextBox 28"/>
              <p:cNvSpPr txBox="1"/>
              <p:nvPr/>
            </p:nvSpPr>
            <p:spPr>
              <a:xfrm>
                <a:off x="0" y="-38100"/>
                <a:ext cx="4699000" cy="1376719"/>
              </a:xfrm>
              <a:prstGeom prst="rect">
                <a:avLst/>
              </a:prstGeom>
            </p:spPr>
            <p:txBody>
              <a:bodyPr lIns="292100" tIns="292100" rIns="292100" bIns="292100" rtlCol="0" anchor="t"/>
              <a:lstStyle/>
              <a:p>
                <a:pPr algn="l">
                  <a:lnSpc>
                    <a:spcPts val="3347"/>
                  </a:lnSpc>
                </a:pPr>
                <a:r>
                  <a:rPr lang="en-US" sz="2574" b="1">
                    <a:solidFill>
                      <a:srgbClr val="FFFFFF"/>
                    </a:solidFill>
                    <a:latin typeface="Arial Bold"/>
                    <a:ea typeface="Arial Bold"/>
                    <a:cs typeface="Arial Bold"/>
                    <a:sym typeface="Arial Bold"/>
                  </a:rPr>
                  <a:t>Revenue model</a:t>
                </a:r>
              </a:p>
            </p:txBody>
          </p:sp>
        </p:grpSp>
        <p:grpSp>
          <p:nvGrpSpPr>
            <p:cNvPr id="29" name="Group 29"/>
            <p:cNvGrpSpPr/>
            <p:nvPr/>
          </p:nvGrpSpPr>
          <p:grpSpPr>
            <a:xfrm>
              <a:off x="4699000" y="3112262"/>
              <a:ext cx="17043400" cy="1338619"/>
              <a:chOff x="0" y="0"/>
              <a:chExt cx="17043400" cy="1338619"/>
            </a:xfrm>
          </p:grpSpPr>
          <p:sp>
            <p:nvSpPr>
              <p:cNvPr id="30" name="Freeform 30"/>
              <p:cNvSpPr/>
              <p:nvPr/>
            </p:nvSpPr>
            <p:spPr>
              <a:xfrm>
                <a:off x="0" y="0"/>
                <a:ext cx="17043400" cy="1338619"/>
              </a:xfrm>
              <a:custGeom>
                <a:avLst/>
                <a:gdLst/>
                <a:ahLst/>
                <a:cxnLst/>
                <a:rect l="l" t="t" r="r" b="b"/>
                <a:pathLst>
                  <a:path w="17043400" h="1338619">
                    <a:moveTo>
                      <a:pt x="0" y="0"/>
                    </a:moveTo>
                    <a:lnTo>
                      <a:pt x="17043400" y="0"/>
                    </a:lnTo>
                    <a:lnTo>
                      <a:pt x="170434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31" name="TextBox 31"/>
              <p:cNvSpPr txBox="1"/>
              <p:nvPr/>
            </p:nvSpPr>
            <p:spPr>
              <a:xfrm>
                <a:off x="0" y="-38100"/>
                <a:ext cx="17043400" cy="1376719"/>
              </a:xfrm>
              <a:prstGeom prst="rect">
                <a:avLst/>
              </a:prstGeom>
            </p:spPr>
            <p:txBody>
              <a:bodyPr lIns="292100" tIns="292100" rIns="292100" bIns="292100" rtlCol="0" anchor="t"/>
              <a:lstStyle/>
              <a:p>
                <a:pPr algn="l">
                  <a:lnSpc>
                    <a:spcPts val="3347"/>
                  </a:lnSpc>
                </a:pPr>
                <a:r>
                  <a:rPr lang="en-US" sz="2574" b="1">
                    <a:solidFill>
                      <a:srgbClr val="FFBD59"/>
                    </a:solidFill>
                    <a:latin typeface="Arial Bold"/>
                    <a:ea typeface="Arial Bold"/>
                    <a:cs typeface="Arial Bold"/>
                    <a:sym typeface="Arial Bold"/>
                  </a:rPr>
                  <a:t>Monthly </a:t>
                </a:r>
                <a:r>
                  <a:rPr lang="en-US" sz="2574">
                    <a:solidFill>
                      <a:srgbClr val="FFFFFF"/>
                    </a:solidFill>
                    <a:latin typeface="Arial"/>
                    <a:ea typeface="Arial"/>
                    <a:cs typeface="Arial"/>
                    <a:sym typeface="Arial"/>
                  </a:rPr>
                  <a:t>company subscription plus a </a:t>
                </a:r>
                <a:r>
                  <a:rPr lang="en-US" sz="2574" b="1">
                    <a:solidFill>
                      <a:srgbClr val="FFBD59"/>
                    </a:solidFill>
                    <a:latin typeface="Arial Bold"/>
                    <a:ea typeface="Arial Bold"/>
                    <a:cs typeface="Arial Bold"/>
                    <a:sym typeface="Arial Bold"/>
                  </a:rPr>
                  <a:t>one-time setup fee</a:t>
                </a:r>
              </a:p>
            </p:txBody>
          </p:sp>
        </p:grpSp>
        <p:sp>
          <p:nvSpPr>
            <p:cNvPr id="32" name="AutoShape 32"/>
            <p:cNvSpPr/>
            <p:nvPr/>
          </p:nvSpPr>
          <p:spPr>
            <a:xfrm>
              <a:off x="0" y="4175125"/>
              <a:ext cx="21742400" cy="1062863"/>
            </a:xfrm>
            <a:prstGeom prst="rect">
              <a:avLst/>
            </a:prstGeom>
            <a:solidFill>
              <a:srgbClr val="0B3038"/>
            </a:solidFill>
          </p:spPr>
        </p:sp>
        <p:grpSp>
          <p:nvGrpSpPr>
            <p:cNvPr id="33" name="Group 33"/>
            <p:cNvGrpSpPr/>
            <p:nvPr/>
          </p:nvGrpSpPr>
          <p:grpSpPr>
            <a:xfrm>
              <a:off x="0" y="4175125"/>
              <a:ext cx="4699000" cy="1338619"/>
              <a:chOff x="0" y="0"/>
              <a:chExt cx="4699000" cy="1338619"/>
            </a:xfrm>
          </p:grpSpPr>
          <p:sp>
            <p:nvSpPr>
              <p:cNvPr id="34" name="Freeform 34"/>
              <p:cNvSpPr/>
              <p:nvPr/>
            </p:nvSpPr>
            <p:spPr>
              <a:xfrm>
                <a:off x="0" y="0"/>
                <a:ext cx="4699000" cy="1338619"/>
              </a:xfrm>
              <a:custGeom>
                <a:avLst/>
                <a:gdLst/>
                <a:ahLst/>
                <a:cxnLst/>
                <a:rect l="l" t="t" r="r" b="b"/>
                <a:pathLst>
                  <a:path w="4699000" h="1338619">
                    <a:moveTo>
                      <a:pt x="0" y="0"/>
                    </a:moveTo>
                    <a:lnTo>
                      <a:pt x="4699000" y="0"/>
                    </a:lnTo>
                    <a:lnTo>
                      <a:pt x="46990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35" name="TextBox 35"/>
              <p:cNvSpPr txBox="1"/>
              <p:nvPr/>
            </p:nvSpPr>
            <p:spPr>
              <a:xfrm>
                <a:off x="0" y="-38100"/>
                <a:ext cx="4699000" cy="1376719"/>
              </a:xfrm>
              <a:prstGeom prst="rect">
                <a:avLst/>
              </a:prstGeom>
            </p:spPr>
            <p:txBody>
              <a:bodyPr lIns="292100" tIns="292100" rIns="292100" bIns="292100" rtlCol="0" anchor="t"/>
              <a:lstStyle/>
              <a:p>
                <a:pPr algn="l">
                  <a:lnSpc>
                    <a:spcPts val="3347"/>
                  </a:lnSpc>
                </a:pPr>
                <a:r>
                  <a:rPr lang="en-US" sz="2574" b="1">
                    <a:solidFill>
                      <a:srgbClr val="FFFFFF"/>
                    </a:solidFill>
                    <a:latin typeface="Arial Bold"/>
                    <a:ea typeface="Arial Bold"/>
                    <a:cs typeface="Arial Bold"/>
                    <a:sym typeface="Arial Bold"/>
                  </a:rPr>
                  <a:t>Market entry</a:t>
                </a:r>
              </a:p>
            </p:txBody>
          </p:sp>
        </p:grpSp>
        <p:grpSp>
          <p:nvGrpSpPr>
            <p:cNvPr id="36" name="Group 36"/>
            <p:cNvGrpSpPr/>
            <p:nvPr/>
          </p:nvGrpSpPr>
          <p:grpSpPr>
            <a:xfrm>
              <a:off x="4699000" y="4175125"/>
              <a:ext cx="17043400" cy="1338619"/>
              <a:chOff x="0" y="0"/>
              <a:chExt cx="17043400" cy="1338619"/>
            </a:xfrm>
          </p:grpSpPr>
          <p:sp>
            <p:nvSpPr>
              <p:cNvPr id="37" name="Freeform 37"/>
              <p:cNvSpPr/>
              <p:nvPr/>
            </p:nvSpPr>
            <p:spPr>
              <a:xfrm>
                <a:off x="0" y="0"/>
                <a:ext cx="17043400" cy="1338619"/>
              </a:xfrm>
              <a:custGeom>
                <a:avLst/>
                <a:gdLst/>
                <a:ahLst/>
                <a:cxnLst/>
                <a:rect l="l" t="t" r="r" b="b"/>
                <a:pathLst>
                  <a:path w="17043400" h="1338619">
                    <a:moveTo>
                      <a:pt x="0" y="0"/>
                    </a:moveTo>
                    <a:lnTo>
                      <a:pt x="17043400" y="0"/>
                    </a:lnTo>
                    <a:lnTo>
                      <a:pt x="170434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38" name="TextBox 38"/>
              <p:cNvSpPr txBox="1"/>
              <p:nvPr/>
            </p:nvSpPr>
            <p:spPr>
              <a:xfrm>
                <a:off x="0" y="-38100"/>
                <a:ext cx="17043400" cy="1376719"/>
              </a:xfrm>
              <a:prstGeom prst="rect">
                <a:avLst/>
              </a:prstGeom>
            </p:spPr>
            <p:txBody>
              <a:bodyPr lIns="292100" tIns="292100" rIns="292100" bIns="292100" rtlCol="0" anchor="t"/>
              <a:lstStyle/>
              <a:p>
                <a:pPr algn="l">
                  <a:lnSpc>
                    <a:spcPts val="3347"/>
                  </a:lnSpc>
                </a:pPr>
                <a:r>
                  <a:rPr lang="en-US" sz="2574" b="1">
                    <a:solidFill>
                      <a:srgbClr val="FFBD59"/>
                    </a:solidFill>
                    <a:latin typeface="Arial Bold"/>
                    <a:ea typeface="Arial Bold"/>
                    <a:cs typeface="Arial Bold"/>
                    <a:sym typeface="Arial Bold"/>
                  </a:rPr>
                  <a:t>Pilot </a:t>
                </a:r>
                <a:r>
                  <a:rPr lang="en-US" sz="2574">
                    <a:solidFill>
                      <a:srgbClr val="FFFFFF"/>
                    </a:solidFill>
                    <a:latin typeface="Arial"/>
                    <a:ea typeface="Arial"/>
                    <a:cs typeface="Arial"/>
                    <a:sym typeface="Arial"/>
                  </a:rPr>
                  <a:t>with one courier team, </a:t>
                </a:r>
                <a:r>
                  <a:rPr lang="en-US" sz="2574" b="1">
                    <a:solidFill>
                      <a:srgbClr val="FFBD59"/>
                    </a:solidFill>
                    <a:latin typeface="Arial Bold"/>
                    <a:ea typeface="Arial Bold"/>
                    <a:cs typeface="Arial Bold"/>
                    <a:sym typeface="Arial Bold"/>
                  </a:rPr>
                  <a:t>measure </a:t>
                </a:r>
                <a:r>
                  <a:rPr lang="en-US" sz="2574">
                    <a:solidFill>
                      <a:srgbClr val="FFFFFF"/>
                    </a:solidFill>
                    <a:latin typeface="Arial"/>
                    <a:ea typeface="Arial"/>
                    <a:cs typeface="Arial"/>
                    <a:sym typeface="Arial"/>
                  </a:rPr>
                  <a:t>results, then </a:t>
                </a:r>
                <a:r>
                  <a:rPr lang="en-US" sz="2574" b="1">
                    <a:solidFill>
                      <a:srgbClr val="FFBD59"/>
                    </a:solidFill>
                    <a:latin typeface="Arial Bold"/>
                    <a:ea typeface="Arial Bold"/>
                    <a:cs typeface="Arial Bold"/>
                    <a:sym typeface="Arial Bold"/>
                  </a:rPr>
                  <a:t>expand </a:t>
                </a:r>
                <a:r>
                  <a:rPr lang="en-US" sz="2574">
                    <a:solidFill>
                      <a:srgbClr val="FFFFFF"/>
                    </a:solidFill>
                    <a:latin typeface="Arial"/>
                    <a:ea typeface="Arial"/>
                    <a:cs typeface="Arial"/>
                    <a:sym typeface="Arial"/>
                  </a:rPr>
                  <a:t>across branches</a:t>
                </a:r>
              </a:p>
            </p:txBody>
          </p:sp>
        </p:grpSp>
        <p:sp>
          <p:nvSpPr>
            <p:cNvPr id="39" name="AutoShape 39"/>
            <p:cNvSpPr/>
            <p:nvPr/>
          </p:nvSpPr>
          <p:spPr>
            <a:xfrm>
              <a:off x="0" y="5237861"/>
              <a:ext cx="21742400" cy="1062863"/>
            </a:xfrm>
            <a:prstGeom prst="rect">
              <a:avLst/>
            </a:prstGeom>
            <a:solidFill>
              <a:srgbClr val="10383F"/>
            </a:solidFill>
          </p:spPr>
        </p:sp>
        <p:grpSp>
          <p:nvGrpSpPr>
            <p:cNvPr id="40" name="Group 40"/>
            <p:cNvGrpSpPr/>
            <p:nvPr/>
          </p:nvGrpSpPr>
          <p:grpSpPr>
            <a:xfrm>
              <a:off x="0" y="5237861"/>
              <a:ext cx="4699000" cy="1338619"/>
              <a:chOff x="0" y="0"/>
              <a:chExt cx="4699000" cy="1338619"/>
            </a:xfrm>
          </p:grpSpPr>
          <p:sp>
            <p:nvSpPr>
              <p:cNvPr id="41" name="Freeform 41"/>
              <p:cNvSpPr/>
              <p:nvPr/>
            </p:nvSpPr>
            <p:spPr>
              <a:xfrm>
                <a:off x="0" y="0"/>
                <a:ext cx="4699000" cy="1338619"/>
              </a:xfrm>
              <a:custGeom>
                <a:avLst/>
                <a:gdLst/>
                <a:ahLst/>
                <a:cxnLst/>
                <a:rect l="l" t="t" r="r" b="b"/>
                <a:pathLst>
                  <a:path w="4699000" h="1338619">
                    <a:moveTo>
                      <a:pt x="0" y="0"/>
                    </a:moveTo>
                    <a:lnTo>
                      <a:pt x="4699000" y="0"/>
                    </a:lnTo>
                    <a:lnTo>
                      <a:pt x="46990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42" name="TextBox 42"/>
              <p:cNvSpPr txBox="1"/>
              <p:nvPr/>
            </p:nvSpPr>
            <p:spPr>
              <a:xfrm>
                <a:off x="0" y="-38100"/>
                <a:ext cx="4699000" cy="1376719"/>
              </a:xfrm>
              <a:prstGeom prst="rect">
                <a:avLst/>
              </a:prstGeom>
            </p:spPr>
            <p:txBody>
              <a:bodyPr lIns="292100" tIns="292100" rIns="292100" bIns="292100" rtlCol="0" anchor="t"/>
              <a:lstStyle/>
              <a:p>
                <a:pPr algn="l">
                  <a:lnSpc>
                    <a:spcPts val="3347"/>
                  </a:lnSpc>
                </a:pPr>
                <a:r>
                  <a:rPr lang="en-US" sz="2574" b="1">
                    <a:solidFill>
                      <a:srgbClr val="FFFFFF"/>
                    </a:solidFill>
                    <a:latin typeface="Arial Bold"/>
                    <a:ea typeface="Arial Bold"/>
                    <a:cs typeface="Arial Bold"/>
                    <a:sym typeface="Arial Bold"/>
                  </a:rPr>
                  <a:t>Competitive focus</a:t>
                </a:r>
              </a:p>
            </p:txBody>
          </p:sp>
        </p:grpSp>
        <p:grpSp>
          <p:nvGrpSpPr>
            <p:cNvPr id="43" name="Group 43"/>
            <p:cNvGrpSpPr/>
            <p:nvPr/>
          </p:nvGrpSpPr>
          <p:grpSpPr>
            <a:xfrm>
              <a:off x="4699000" y="5237861"/>
              <a:ext cx="17043400" cy="1338619"/>
              <a:chOff x="0" y="0"/>
              <a:chExt cx="17043400" cy="1338619"/>
            </a:xfrm>
          </p:grpSpPr>
          <p:sp>
            <p:nvSpPr>
              <p:cNvPr id="44" name="Freeform 44"/>
              <p:cNvSpPr/>
              <p:nvPr/>
            </p:nvSpPr>
            <p:spPr>
              <a:xfrm>
                <a:off x="0" y="0"/>
                <a:ext cx="17043400" cy="1338619"/>
              </a:xfrm>
              <a:custGeom>
                <a:avLst/>
                <a:gdLst/>
                <a:ahLst/>
                <a:cxnLst/>
                <a:rect l="l" t="t" r="r" b="b"/>
                <a:pathLst>
                  <a:path w="17043400" h="1338619">
                    <a:moveTo>
                      <a:pt x="0" y="0"/>
                    </a:moveTo>
                    <a:lnTo>
                      <a:pt x="17043400" y="0"/>
                    </a:lnTo>
                    <a:lnTo>
                      <a:pt x="170434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45" name="TextBox 45"/>
              <p:cNvSpPr txBox="1"/>
              <p:nvPr/>
            </p:nvSpPr>
            <p:spPr>
              <a:xfrm>
                <a:off x="0" y="-38100"/>
                <a:ext cx="17043400" cy="1376719"/>
              </a:xfrm>
              <a:prstGeom prst="rect">
                <a:avLst/>
              </a:prstGeom>
            </p:spPr>
            <p:txBody>
              <a:bodyPr lIns="292100" tIns="292100" rIns="292100" bIns="292100" rtlCol="0" anchor="t"/>
              <a:lstStyle/>
              <a:p>
                <a:pPr algn="l">
                  <a:lnSpc>
                    <a:spcPts val="3347"/>
                  </a:lnSpc>
                </a:pPr>
                <a:r>
                  <a:rPr lang="en-US" sz="2574">
                    <a:solidFill>
                      <a:srgbClr val="FFFFFF"/>
                    </a:solidFill>
                    <a:latin typeface="Arial"/>
                    <a:ea typeface="Arial"/>
                    <a:cs typeface="Arial"/>
                    <a:sym typeface="Arial"/>
                  </a:rPr>
                  <a:t>Courier-specific workflows, local onboarding, and company-specific policies</a:t>
                </a:r>
              </a:p>
            </p:txBody>
          </p:sp>
        </p:grpSp>
        <p:sp>
          <p:nvSpPr>
            <p:cNvPr id="46" name="AutoShape 46"/>
            <p:cNvSpPr/>
            <p:nvPr/>
          </p:nvSpPr>
          <p:spPr>
            <a:xfrm>
              <a:off x="0" y="6300724"/>
              <a:ext cx="21742400" cy="1062863"/>
            </a:xfrm>
            <a:prstGeom prst="rect">
              <a:avLst/>
            </a:prstGeom>
            <a:solidFill>
              <a:srgbClr val="0B3038"/>
            </a:solidFill>
          </p:spPr>
        </p:sp>
        <p:grpSp>
          <p:nvGrpSpPr>
            <p:cNvPr id="47" name="Group 47"/>
            <p:cNvGrpSpPr/>
            <p:nvPr/>
          </p:nvGrpSpPr>
          <p:grpSpPr>
            <a:xfrm>
              <a:off x="0" y="6300724"/>
              <a:ext cx="4699000" cy="1338619"/>
              <a:chOff x="0" y="0"/>
              <a:chExt cx="4699000" cy="1338619"/>
            </a:xfrm>
          </p:grpSpPr>
          <p:sp>
            <p:nvSpPr>
              <p:cNvPr id="48" name="Freeform 48"/>
              <p:cNvSpPr/>
              <p:nvPr/>
            </p:nvSpPr>
            <p:spPr>
              <a:xfrm>
                <a:off x="0" y="0"/>
                <a:ext cx="4699000" cy="1338619"/>
              </a:xfrm>
              <a:custGeom>
                <a:avLst/>
                <a:gdLst/>
                <a:ahLst/>
                <a:cxnLst/>
                <a:rect l="l" t="t" r="r" b="b"/>
                <a:pathLst>
                  <a:path w="4699000" h="1338619">
                    <a:moveTo>
                      <a:pt x="0" y="0"/>
                    </a:moveTo>
                    <a:lnTo>
                      <a:pt x="4699000" y="0"/>
                    </a:lnTo>
                    <a:lnTo>
                      <a:pt x="46990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49" name="TextBox 49"/>
              <p:cNvSpPr txBox="1"/>
              <p:nvPr/>
            </p:nvSpPr>
            <p:spPr>
              <a:xfrm>
                <a:off x="0" y="-38100"/>
                <a:ext cx="4699000" cy="1376719"/>
              </a:xfrm>
              <a:prstGeom prst="rect">
                <a:avLst/>
              </a:prstGeom>
            </p:spPr>
            <p:txBody>
              <a:bodyPr lIns="292100" tIns="292100" rIns="292100" bIns="292100" rtlCol="0" anchor="t"/>
              <a:lstStyle/>
              <a:p>
                <a:pPr algn="l">
                  <a:lnSpc>
                    <a:spcPts val="3347"/>
                  </a:lnSpc>
                </a:pPr>
                <a:r>
                  <a:rPr lang="en-US" sz="2574" b="1">
                    <a:solidFill>
                      <a:srgbClr val="FFFFFF"/>
                    </a:solidFill>
                    <a:latin typeface="Arial Bold"/>
                    <a:ea typeface="Arial Bold"/>
                    <a:cs typeface="Arial Bold"/>
                    <a:sym typeface="Arial Bold"/>
                  </a:rPr>
                  <a:t>Success measures</a:t>
                </a:r>
              </a:p>
            </p:txBody>
          </p:sp>
        </p:grpSp>
        <p:grpSp>
          <p:nvGrpSpPr>
            <p:cNvPr id="50" name="Group 50"/>
            <p:cNvGrpSpPr/>
            <p:nvPr/>
          </p:nvGrpSpPr>
          <p:grpSpPr>
            <a:xfrm>
              <a:off x="4699000" y="6300724"/>
              <a:ext cx="17043400" cy="1338619"/>
              <a:chOff x="0" y="0"/>
              <a:chExt cx="17043400" cy="1338619"/>
            </a:xfrm>
          </p:grpSpPr>
          <p:sp>
            <p:nvSpPr>
              <p:cNvPr id="51" name="Freeform 51"/>
              <p:cNvSpPr/>
              <p:nvPr/>
            </p:nvSpPr>
            <p:spPr>
              <a:xfrm>
                <a:off x="0" y="0"/>
                <a:ext cx="17043400" cy="1338619"/>
              </a:xfrm>
              <a:custGeom>
                <a:avLst/>
                <a:gdLst/>
                <a:ahLst/>
                <a:cxnLst/>
                <a:rect l="l" t="t" r="r" b="b"/>
                <a:pathLst>
                  <a:path w="17043400" h="1338619">
                    <a:moveTo>
                      <a:pt x="0" y="0"/>
                    </a:moveTo>
                    <a:lnTo>
                      <a:pt x="17043400" y="0"/>
                    </a:lnTo>
                    <a:lnTo>
                      <a:pt x="17043400" y="1338619"/>
                    </a:lnTo>
                    <a:lnTo>
                      <a:pt x="0" y="1338619"/>
                    </a:lnTo>
                    <a:lnTo>
                      <a:pt x="0" y="0"/>
                    </a:lnTo>
                    <a:close/>
                  </a:path>
                </a:pathLst>
              </a:custGeom>
              <a:solidFill>
                <a:srgbClr val="000000">
                  <a:alpha val="0"/>
                </a:srgbClr>
              </a:solidFill>
              <a:ln w="19050" cap="sq">
                <a:solidFill>
                  <a:srgbClr val="53BFA9"/>
                </a:solidFill>
                <a:prstDash val="solid"/>
                <a:miter/>
              </a:ln>
            </p:spPr>
          </p:sp>
          <p:sp>
            <p:nvSpPr>
              <p:cNvPr id="52" name="TextBox 52"/>
              <p:cNvSpPr txBox="1"/>
              <p:nvPr/>
            </p:nvSpPr>
            <p:spPr>
              <a:xfrm>
                <a:off x="0" y="-38100"/>
                <a:ext cx="17043400" cy="1376719"/>
              </a:xfrm>
              <a:prstGeom prst="rect">
                <a:avLst/>
              </a:prstGeom>
            </p:spPr>
            <p:txBody>
              <a:bodyPr lIns="292100" tIns="292100" rIns="292100" bIns="292100" rtlCol="0" anchor="t"/>
              <a:lstStyle/>
              <a:p>
                <a:pPr algn="l">
                  <a:lnSpc>
                    <a:spcPts val="3347"/>
                  </a:lnSpc>
                </a:pPr>
                <a:r>
                  <a:rPr lang="en-US" sz="2574">
                    <a:solidFill>
                      <a:srgbClr val="FFFFFF"/>
                    </a:solidFill>
                    <a:latin typeface="Arial"/>
                    <a:ea typeface="Arial"/>
                    <a:cs typeface="Arial"/>
                    <a:sym typeface="Arial"/>
                  </a:rPr>
                  <a:t>Less handling time, faster responses, and conversion to a paid subscription</a:t>
                </a:r>
              </a:p>
            </p:txBody>
          </p:sp>
        </p:grpSp>
      </p:grpSp>
      <p:sp>
        <p:nvSpPr>
          <p:cNvPr id="53" name="TextBox 53"/>
          <p:cNvSpPr txBox="1"/>
          <p:nvPr/>
        </p:nvSpPr>
        <p:spPr>
          <a:xfrm>
            <a:off x="1028700" y="1066800"/>
            <a:ext cx="6191746" cy="880618"/>
          </a:xfrm>
          <a:prstGeom prst="rect">
            <a:avLst/>
          </a:prstGeom>
        </p:spPr>
        <p:txBody>
          <a:bodyPr lIns="0" tIns="0" rIns="0" bIns="0" rtlCol="0" anchor="t">
            <a:spAutoFit/>
          </a:bodyPr>
          <a:lstStyle/>
          <a:p>
            <a:pPr algn="l">
              <a:lnSpc>
                <a:spcPts val="6775"/>
              </a:lnSpc>
            </a:pPr>
            <a:r>
              <a:rPr lang="en-US" sz="6049" b="1">
                <a:solidFill>
                  <a:srgbClr val="F5821F"/>
                </a:solidFill>
                <a:latin typeface="Roboto Bold"/>
                <a:ea typeface="Roboto Bold"/>
                <a:cs typeface="Roboto Bold"/>
                <a:sym typeface="Roboto Bold"/>
              </a:rPr>
              <a:t>Business strategy</a:t>
            </a:r>
          </a:p>
        </p:txBody>
      </p:sp>
      <p:sp>
        <p:nvSpPr>
          <p:cNvPr id="54" name="TextBox 54"/>
          <p:cNvSpPr txBox="1"/>
          <p:nvPr/>
        </p:nvSpPr>
        <p:spPr>
          <a:xfrm>
            <a:off x="1028700" y="8471563"/>
            <a:ext cx="16306800" cy="371475"/>
          </a:xfrm>
          <a:prstGeom prst="rect">
            <a:avLst/>
          </a:prstGeom>
        </p:spPr>
        <p:txBody>
          <a:bodyPr lIns="0" tIns="0" rIns="0" bIns="0" rtlCol="0" anchor="t">
            <a:spAutoFit/>
          </a:bodyPr>
          <a:lstStyle/>
          <a:p>
            <a:pPr algn="l">
              <a:lnSpc>
                <a:spcPts val="3045"/>
              </a:lnSpc>
            </a:pPr>
            <a:r>
              <a:rPr lang="en-US" sz="2175" b="1">
                <a:solidFill>
                  <a:srgbClr val="65CCB7"/>
                </a:solidFill>
                <a:latin typeface="Arial Bold"/>
                <a:ea typeface="Arial Bold"/>
                <a:cs typeface="Arial Bold"/>
                <a:sym typeface="Arial Bold"/>
              </a:rPr>
              <a:t>Next milestone: Secure one pilot partner and prove measurable value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122B3F"/>
          </a:solidFill>
        </p:spPr>
      </p:sp>
      <p:sp>
        <p:nvSpPr>
          <p:cNvPr id="3" name="TextBox 3"/>
          <p:cNvSpPr txBox="1"/>
          <p:nvPr/>
        </p:nvSpPr>
        <p:spPr>
          <a:xfrm>
            <a:off x="2452142" y="1066800"/>
            <a:ext cx="12412167" cy="829945"/>
          </a:xfrm>
          <a:prstGeom prst="rect">
            <a:avLst/>
          </a:prstGeom>
        </p:spPr>
        <p:txBody>
          <a:bodyPr lIns="0" tIns="0" rIns="0" bIns="0" rtlCol="0" anchor="t">
            <a:spAutoFit/>
          </a:bodyPr>
          <a:lstStyle/>
          <a:p>
            <a:pPr algn="l">
              <a:lnSpc>
                <a:spcPts val="6439"/>
              </a:lnSpc>
            </a:pPr>
            <a:r>
              <a:rPr lang="en-US" sz="5749" b="1">
                <a:solidFill>
                  <a:srgbClr val="F5821F"/>
                </a:solidFill>
                <a:latin typeface="Roboto Bold"/>
                <a:ea typeface="Roboto Bold"/>
                <a:cs typeface="Roboto Bold"/>
                <a:sym typeface="Roboto Bold"/>
              </a:rPr>
              <a:t>Future implementation and expansion</a:t>
            </a:r>
          </a:p>
        </p:txBody>
      </p:sp>
      <p:sp>
        <p:nvSpPr>
          <p:cNvPr id="4" name="AutoShape 4"/>
          <p:cNvSpPr/>
          <p:nvPr/>
        </p:nvSpPr>
        <p:spPr>
          <a:xfrm>
            <a:off x="1466850" y="3409950"/>
            <a:ext cx="14382750" cy="38100"/>
          </a:xfrm>
          <a:prstGeom prst="rect">
            <a:avLst/>
          </a:prstGeom>
          <a:solidFill>
            <a:srgbClr val="53BFA9"/>
          </a:solidFill>
        </p:spPr>
      </p:sp>
      <p:sp>
        <p:nvSpPr>
          <p:cNvPr id="6" name="Freeform 6"/>
          <p:cNvSpPr/>
          <p:nvPr/>
        </p:nvSpPr>
        <p:spPr>
          <a:xfrm>
            <a:off x="851161" y="2920151"/>
            <a:ext cx="1028700" cy="1028700"/>
          </a:xfrm>
          <a:custGeom>
            <a:avLst/>
            <a:gdLst/>
            <a:ahLst/>
            <a:cxnLst/>
            <a:rect l="l" t="t" r="r" b="b"/>
            <a:pathLst>
              <a:path w="1371600" h="1371600">
                <a:moveTo>
                  <a:pt x="685800" y="0"/>
                </a:moveTo>
                <a:cubicBezTo>
                  <a:pt x="1064514" y="0"/>
                  <a:pt x="1371600" y="307086"/>
                  <a:pt x="1371600" y="685800"/>
                </a:cubicBezTo>
                <a:cubicBezTo>
                  <a:pt x="1371600" y="1064514"/>
                  <a:pt x="1064514" y="1371600"/>
                  <a:pt x="685800" y="1371600"/>
                </a:cubicBezTo>
                <a:cubicBezTo>
                  <a:pt x="307086" y="1371600"/>
                  <a:pt x="0" y="1064514"/>
                  <a:pt x="0" y="685800"/>
                </a:cubicBezTo>
                <a:cubicBezTo>
                  <a:pt x="0" y="307086"/>
                  <a:pt x="307086" y="0"/>
                  <a:pt x="685800" y="0"/>
                </a:cubicBezTo>
                <a:close/>
              </a:path>
            </a:pathLst>
          </a:custGeom>
          <a:solidFill>
            <a:srgbClr val="124247"/>
          </a:solidFill>
        </p:spPr>
      </p:sp>
      <p:sp>
        <p:nvSpPr>
          <p:cNvPr id="7" name="Freeform 7"/>
          <p:cNvSpPr/>
          <p:nvPr/>
        </p:nvSpPr>
        <p:spPr>
          <a:xfrm>
            <a:off x="859399" y="2952218"/>
            <a:ext cx="1028700" cy="1028700"/>
          </a:xfrm>
          <a:custGeom>
            <a:avLst/>
            <a:gdLst/>
            <a:ahLst/>
            <a:cxnLst/>
            <a:rect l="l" t="t" r="r" b="b"/>
            <a:pathLst>
              <a:path w="1371600" h="1371600">
                <a:moveTo>
                  <a:pt x="685800" y="0"/>
                </a:moveTo>
                <a:cubicBezTo>
                  <a:pt x="1064514" y="0"/>
                  <a:pt x="1371600" y="307086"/>
                  <a:pt x="1371600" y="685800"/>
                </a:cubicBezTo>
                <a:cubicBezTo>
                  <a:pt x="1371600" y="1064514"/>
                  <a:pt x="1064514" y="1371600"/>
                  <a:pt x="685800" y="1371600"/>
                </a:cubicBezTo>
                <a:cubicBezTo>
                  <a:pt x="307086" y="1371600"/>
                  <a:pt x="0" y="1064514"/>
                  <a:pt x="0" y="685800"/>
                </a:cubicBezTo>
                <a:cubicBezTo>
                  <a:pt x="0" y="307086"/>
                  <a:pt x="307086" y="0"/>
                  <a:pt x="685800" y="0"/>
                </a:cubicBezTo>
                <a:close/>
              </a:path>
            </a:pathLst>
          </a:custGeom>
          <a:solidFill>
            <a:srgbClr val="000000">
              <a:alpha val="0"/>
            </a:srgbClr>
          </a:solidFill>
          <a:ln w="28575" cap="sq">
            <a:solidFill>
              <a:srgbClr val="62C9B4"/>
            </a:solidFill>
            <a:prstDash val="solid"/>
            <a:miter/>
          </a:ln>
        </p:spPr>
        <p:txBody>
          <a:bodyPr/>
          <a:lstStyle/>
          <a:p>
            <a:endParaRPr lang="en-US" dirty="0"/>
          </a:p>
        </p:txBody>
      </p:sp>
      <p:sp>
        <p:nvSpPr>
          <p:cNvPr id="8" name="TextBox 8"/>
          <p:cNvSpPr txBox="1"/>
          <p:nvPr/>
        </p:nvSpPr>
        <p:spPr>
          <a:xfrm>
            <a:off x="851161" y="2849824"/>
            <a:ext cx="1028700" cy="1092994"/>
          </a:xfrm>
          <a:prstGeom prst="rect">
            <a:avLst/>
          </a:prstGeom>
        </p:spPr>
        <p:txBody>
          <a:bodyPr lIns="336550" tIns="336550" rIns="336550" bIns="336550" rtlCol="0" anchor="t"/>
          <a:lstStyle/>
          <a:p>
            <a:pPr algn="ctr">
              <a:lnSpc>
                <a:spcPts val="4515"/>
              </a:lnSpc>
            </a:pPr>
            <a:r>
              <a:rPr lang="en-US" sz="3225" b="1" dirty="0">
                <a:solidFill>
                  <a:srgbClr val="62C9B4"/>
                </a:solidFill>
                <a:latin typeface="Arial Bold"/>
                <a:ea typeface="Arial Bold"/>
                <a:cs typeface="Arial Bold"/>
                <a:sym typeface="Arial Bold"/>
              </a:rPr>
              <a:t>1</a:t>
            </a:r>
          </a:p>
        </p:txBody>
      </p:sp>
      <p:grpSp>
        <p:nvGrpSpPr>
          <p:cNvPr id="9" name="Group 9"/>
          <p:cNvGrpSpPr/>
          <p:nvPr/>
        </p:nvGrpSpPr>
        <p:grpSpPr>
          <a:xfrm>
            <a:off x="6391275" y="2877598"/>
            <a:ext cx="1028700" cy="1028700"/>
            <a:chOff x="0" y="0"/>
            <a:chExt cx="1371600" cy="1371600"/>
          </a:xfrm>
        </p:grpSpPr>
        <p:sp>
          <p:nvSpPr>
            <p:cNvPr id="10" name="Freeform 10"/>
            <p:cNvSpPr/>
            <p:nvPr/>
          </p:nvSpPr>
          <p:spPr>
            <a:xfrm>
              <a:off x="0" y="0"/>
              <a:ext cx="1371600" cy="1371600"/>
            </a:xfrm>
            <a:custGeom>
              <a:avLst/>
              <a:gdLst/>
              <a:ahLst/>
              <a:cxnLst/>
              <a:rect l="l" t="t" r="r" b="b"/>
              <a:pathLst>
                <a:path w="1371600" h="1371600">
                  <a:moveTo>
                    <a:pt x="685800" y="0"/>
                  </a:moveTo>
                  <a:cubicBezTo>
                    <a:pt x="1064514" y="0"/>
                    <a:pt x="1371600" y="307086"/>
                    <a:pt x="1371600" y="685800"/>
                  </a:cubicBezTo>
                  <a:cubicBezTo>
                    <a:pt x="1371600" y="1064514"/>
                    <a:pt x="1064514" y="1371600"/>
                    <a:pt x="685800" y="1371600"/>
                  </a:cubicBezTo>
                  <a:cubicBezTo>
                    <a:pt x="307086" y="1371600"/>
                    <a:pt x="0" y="1064514"/>
                    <a:pt x="0" y="685800"/>
                  </a:cubicBezTo>
                  <a:cubicBezTo>
                    <a:pt x="0" y="307086"/>
                    <a:pt x="307086" y="0"/>
                    <a:pt x="685800" y="0"/>
                  </a:cubicBezTo>
                  <a:close/>
                </a:path>
              </a:pathLst>
            </a:custGeom>
            <a:solidFill>
              <a:srgbClr val="124247"/>
            </a:solidFill>
          </p:spPr>
        </p:sp>
        <p:sp>
          <p:nvSpPr>
            <p:cNvPr id="11" name="Freeform 11"/>
            <p:cNvSpPr/>
            <p:nvPr/>
          </p:nvSpPr>
          <p:spPr>
            <a:xfrm>
              <a:off x="0" y="0"/>
              <a:ext cx="1371600" cy="1371600"/>
            </a:xfrm>
            <a:custGeom>
              <a:avLst/>
              <a:gdLst/>
              <a:ahLst/>
              <a:cxnLst/>
              <a:rect l="l" t="t" r="r" b="b"/>
              <a:pathLst>
                <a:path w="1371600" h="1371600">
                  <a:moveTo>
                    <a:pt x="685800" y="0"/>
                  </a:moveTo>
                  <a:cubicBezTo>
                    <a:pt x="1064514" y="0"/>
                    <a:pt x="1371600" y="307086"/>
                    <a:pt x="1371600" y="685800"/>
                  </a:cubicBezTo>
                  <a:cubicBezTo>
                    <a:pt x="1371600" y="1064514"/>
                    <a:pt x="1064514" y="1371600"/>
                    <a:pt x="685800" y="1371600"/>
                  </a:cubicBezTo>
                  <a:cubicBezTo>
                    <a:pt x="307086" y="1371600"/>
                    <a:pt x="0" y="1064514"/>
                    <a:pt x="0" y="685800"/>
                  </a:cubicBezTo>
                  <a:cubicBezTo>
                    <a:pt x="0" y="307086"/>
                    <a:pt x="307086" y="0"/>
                    <a:pt x="685800" y="0"/>
                  </a:cubicBezTo>
                  <a:close/>
                </a:path>
              </a:pathLst>
            </a:custGeom>
            <a:solidFill>
              <a:srgbClr val="000000">
                <a:alpha val="0"/>
              </a:srgbClr>
            </a:solidFill>
            <a:ln w="28575" cap="sq">
              <a:solidFill>
                <a:srgbClr val="62C9B4"/>
              </a:solidFill>
              <a:prstDash val="solid"/>
              <a:miter/>
            </a:ln>
          </p:spPr>
        </p:sp>
        <p:sp>
          <p:nvSpPr>
            <p:cNvPr id="12" name="TextBox 12"/>
            <p:cNvSpPr txBox="1"/>
            <p:nvPr/>
          </p:nvSpPr>
          <p:spPr>
            <a:xfrm>
              <a:off x="0" y="-85725"/>
              <a:ext cx="1371600" cy="1457325"/>
            </a:xfrm>
            <a:prstGeom prst="rect">
              <a:avLst/>
            </a:prstGeom>
          </p:spPr>
          <p:txBody>
            <a:bodyPr lIns="336550" tIns="336550" rIns="336550" bIns="336550" rtlCol="0" anchor="t"/>
            <a:lstStyle/>
            <a:p>
              <a:pPr algn="ctr">
                <a:lnSpc>
                  <a:spcPts val="4515"/>
                </a:lnSpc>
              </a:pPr>
              <a:r>
                <a:rPr lang="en-US" sz="3225" b="1" dirty="0">
                  <a:solidFill>
                    <a:srgbClr val="62C9B4"/>
                  </a:solidFill>
                  <a:latin typeface="Arial Bold"/>
                  <a:ea typeface="Arial Bold"/>
                  <a:cs typeface="Arial Bold"/>
                  <a:sym typeface="Arial Bold"/>
                </a:rPr>
                <a:t>2</a:t>
              </a:r>
            </a:p>
          </p:txBody>
        </p:sp>
      </p:grpSp>
      <p:grpSp>
        <p:nvGrpSpPr>
          <p:cNvPr id="13" name="Group 13"/>
          <p:cNvGrpSpPr/>
          <p:nvPr/>
        </p:nvGrpSpPr>
        <p:grpSpPr>
          <a:xfrm>
            <a:off x="12420600" y="2895600"/>
            <a:ext cx="1028700" cy="1028700"/>
            <a:chOff x="0" y="0"/>
            <a:chExt cx="1371600" cy="1371600"/>
          </a:xfrm>
        </p:grpSpPr>
        <p:sp>
          <p:nvSpPr>
            <p:cNvPr id="14" name="Freeform 14"/>
            <p:cNvSpPr/>
            <p:nvPr/>
          </p:nvSpPr>
          <p:spPr>
            <a:xfrm>
              <a:off x="0" y="0"/>
              <a:ext cx="1371600" cy="1371600"/>
            </a:xfrm>
            <a:custGeom>
              <a:avLst/>
              <a:gdLst/>
              <a:ahLst/>
              <a:cxnLst/>
              <a:rect l="l" t="t" r="r" b="b"/>
              <a:pathLst>
                <a:path w="1371600" h="1371600">
                  <a:moveTo>
                    <a:pt x="685800" y="0"/>
                  </a:moveTo>
                  <a:cubicBezTo>
                    <a:pt x="1064514" y="0"/>
                    <a:pt x="1371600" y="307086"/>
                    <a:pt x="1371600" y="685800"/>
                  </a:cubicBezTo>
                  <a:cubicBezTo>
                    <a:pt x="1371600" y="1064514"/>
                    <a:pt x="1064514" y="1371600"/>
                    <a:pt x="685800" y="1371600"/>
                  </a:cubicBezTo>
                  <a:cubicBezTo>
                    <a:pt x="307086" y="1371600"/>
                    <a:pt x="0" y="1064514"/>
                    <a:pt x="0" y="685800"/>
                  </a:cubicBezTo>
                  <a:cubicBezTo>
                    <a:pt x="0" y="307086"/>
                    <a:pt x="307086" y="0"/>
                    <a:pt x="685800" y="0"/>
                  </a:cubicBezTo>
                  <a:close/>
                </a:path>
              </a:pathLst>
            </a:custGeom>
            <a:solidFill>
              <a:srgbClr val="124247"/>
            </a:solidFill>
          </p:spPr>
        </p:sp>
        <p:sp>
          <p:nvSpPr>
            <p:cNvPr id="15" name="Freeform 15"/>
            <p:cNvSpPr/>
            <p:nvPr/>
          </p:nvSpPr>
          <p:spPr>
            <a:xfrm>
              <a:off x="0" y="0"/>
              <a:ext cx="1371600" cy="1371600"/>
            </a:xfrm>
            <a:custGeom>
              <a:avLst/>
              <a:gdLst/>
              <a:ahLst/>
              <a:cxnLst/>
              <a:rect l="l" t="t" r="r" b="b"/>
              <a:pathLst>
                <a:path w="1371600" h="1371600">
                  <a:moveTo>
                    <a:pt x="685800" y="0"/>
                  </a:moveTo>
                  <a:cubicBezTo>
                    <a:pt x="1064514" y="0"/>
                    <a:pt x="1371600" y="307086"/>
                    <a:pt x="1371600" y="685800"/>
                  </a:cubicBezTo>
                  <a:cubicBezTo>
                    <a:pt x="1371600" y="1064514"/>
                    <a:pt x="1064514" y="1371600"/>
                    <a:pt x="685800" y="1371600"/>
                  </a:cubicBezTo>
                  <a:cubicBezTo>
                    <a:pt x="307086" y="1371600"/>
                    <a:pt x="0" y="1064514"/>
                    <a:pt x="0" y="685800"/>
                  </a:cubicBezTo>
                  <a:cubicBezTo>
                    <a:pt x="0" y="307086"/>
                    <a:pt x="307086" y="0"/>
                    <a:pt x="685800" y="0"/>
                  </a:cubicBezTo>
                  <a:close/>
                </a:path>
              </a:pathLst>
            </a:custGeom>
            <a:solidFill>
              <a:srgbClr val="000000">
                <a:alpha val="0"/>
              </a:srgbClr>
            </a:solidFill>
            <a:ln w="28575" cap="sq">
              <a:solidFill>
                <a:srgbClr val="62C9B4"/>
              </a:solidFill>
              <a:prstDash val="solid"/>
              <a:miter/>
            </a:ln>
          </p:spPr>
        </p:sp>
        <p:sp>
          <p:nvSpPr>
            <p:cNvPr id="16" name="TextBox 16"/>
            <p:cNvSpPr txBox="1"/>
            <p:nvPr/>
          </p:nvSpPr>
          <p:spPr>
            <a:xfrm>
              <a:off x="0" y="-85725"/>
              <a:ext cx="1371600" cy="1457325"/>
            </a:xfrm>
            <a:prstGeom prst="rect">
              <a:avLst/>
            </a:prstGeom>
          </p:spPr>
          <p:txBody>
            <a:bodyPr lIns="336550" tIns="336550" rIns="336550" bIns="336550" rtlCol="0" anchor="t"/>
            <a:lstStyle/>
            <a:p>
              <a:pPr algn="ctr">
                <a:lnSpc>
                  <a:spcPts val="4515"/>
                </a:lnSpc>
              </a:pPr>
              <a:r>
                <a:rPr lang="en-US" sz="3225" b="1" dirty="0">
                  <a:solidFill>
                    <a:srgbClr val="62C9B4"/>
                  </a:solidFill>
                  <a:latin typeface="Arial Bold"/>
                  <a:ea typeface="Arial Bold"/>
                  <a:cs typeface="Arial Bold"/>
                  <a:sym typeface="Arial Bold"/>
                </a:rPr>
                <a:t>3</a:t>
              </a:r>
            </a:p>
          </p:txBody>
        </p:sp>
      </p:grpSp>
      <p:sp>
        <p:nvSpPr>
          <p:cNvPr id="17" name="TextBox 17"/>
          <p:cNvSpPr txBox="1"/>
          <p:nvPr/>
        </p:nvSpPr>
        <p:spPr>
          <a:xfrm>
            <a:off x="990600" y="4267200"/>
            <a:ext cx="4667250" cy="600075"/>
          </a:xfrm>
          <a:prstGeom prst="rect">
            <a:avLst/>
          </a:prstGeom>
        </p:spPr>
        <p:txBody>
          <a:bodyPr lIns="0" tIns="0" rIns="0" bIns="0" rtlCol="0" anchor="t">
            <a:spAutoFit/>
          </a:bodyPr>
          <a:lstStyle/>
          <a:p>
            <a:pPr algn="l">
              <a:lnSpc>
                <a:spcPts val="5040"/>
              </a:lnSpc>
            </a:pPr>
            <a:r>
              <a:rPr lang="en-US" sz="3600" b="1" dirty="0">
                <a:solidFill>
                  <a:srgbClr val="62C9B4"/>
                </a:solidFill>
                <a:latin typeface="Georgia Bold"/>
                <a:ea typeface="Georgia Bold"/>
                <a:cs typeface="Georgia Bold"/>
                <a:sym typeface="Georgia Bold"/>
              </a:rPr>
              <a:t>Connect</a:t>
            </a:r>
          </a:p>
        </p:txBody>
      </p:sp>
      <p:sp>
        <p:nvSpPr>
          <p:cNvPr id="18" name="TextBox 18"/>
          <p:cNvSpPr txBox="1"/>
          <p:nvPr/>
        </p:nvSpPr>
        <p:spPr>
          <a:xfrm>
            <a:off x="990600" y="5238750"/>
            <a:ext cx="4667250" cy="445294"/>
          </a:xfrm>
          <a:prstGeom prst="rect">
            <a:avLst/>
          </a:prstGeom>
        </p:spPr>
        <p:txBody>
          <a:bodyPr lIns="0" tIns="0" rIns="0" bIns="0" rtlCol="0" anchor="t">
            <a:spAutoFit/>
          </a:bodyPr>
          <a:lstStyle/>
          <a:p>
            <a:pPr algn="l">
              <a:lnSpc>
                <a:spcPts val="3281"/>
              </a:lnSpc>
            </a:pPr>
            <a:r>
              <a:rPr lang="en-US" sz="2625" b="1">
                <a:solidFill>
                  <a:srgbClr val="FFFFFF"/>
                </a:solidFill>
                <a:latin typeface="Arial Bold"/>
                <a:ea typeface="Arial Bold"/>
                <a:cs typeface="Arial Bold"/>
                <a:sym typeface="Arial Bold"/>
              </a:rPr>
              <a:t>Live system integration</a:t>
            </a:r>
          </a:p>
        </p:txBody>
      </p:sp>
      <p:sp>
        <p:nvSpPr>
          <p:cNvPr id="19" name="TextBox 19"/>
          <p:cNvSpPr txBox="1"/>
          <p:nvPr/>
        </p:nvSpPr>
        <p:spPr>
          <a:xfrm>
            <a:off x="990600" y="5760244"/>
            <a:ext cx="4667250" cy="883730"/>
          </a:xfrm>
          <a:prstGeom prst="rect">
            <a:avLst/>
          </a:prstGeom>
        </p:spPr>
        <p:txBody>
          <a:bodyPr lIns="0" tIns="0" rIns="0" bIns="0" rtlCol="0" anchor="t">
            <a:spAutoFit/>
          </a:bodyPr>
          <a:lstStyle/>
          <a:p>
            <a:pPr algn="l">
              <a:lnSpc>
                <a:spcPts val="3254"/>
              </a:lnSpc>
            </a:pPr>
            <a:r>
              <a:rPr lang="en-US" sz="2325">
                <a:solidFill>
                  <a:srgbClr val="C7D7DF"/>
                </a:solidFill>
                <a:latin typeface="Arial"/>
                <a:ea typeface="Arial"/>
                <a:cs typeface="Arial"/>
                <a:sym typeface="Arial"/>
              </a:rPr>
              <a:t>Connect shipment and order data to the courier’s systems.</a:t>
            </a:r>
          </a:p>
        </p:txBody>
      </p:sp>
      <p:sp>
        <p:nvSpPr>
          <p:cNvPr id="20" name="TextBox 20"/>
          <p:cNvSpPr txBox="1"/>
          <p:nvPr/>
        </p:nvSpPr>
        <p:spPr>
          <a:xfrm>
            <a:off x="990600" y="7024973"/>
            <a:ext cx="4667250" cy="445294"/>
          </a:xfrm>
          <a:prstGeom prst="rect">
            <a:avLst/>
          </a:prstGeom>
        </p:spPr>
        <p:txBody>
          <a:bodyPr lIns="0" tIns="0" rIns="0" bIns="0" rtlCol="0" anchor="t">
            <a:spAutoFit/>
          </a:bodyPr>
          <a:lstStyle/>
          <a:p>
            <a:pPr algn="l">
              <a:lnSpc>
                <a:spcPts val="3281"/>
              </a:lnSpc>
            </a:pPr>
            <a:r>
              <a:rPr lang="en-US" sz="2625" b="1">
                <a:solidFill>
                  <a:srgbClr val="FFFFFF"/>
                </a:solidFill>
                <a:latin typeface="Arial Bold"/>
                <a:ea typeface="Arial Bold"/>
                <a:cs typeface="Arial Bold"/>
                <a:sym typeface="Arial Bold"/>
              </a:rPr>
              <a:t>Verified notifications</a:t>
            </a:r>
          </a:p>
        </p:txBody>
      </p:sp>
      <p:sp>
        <p:nvSpPr>
          <p:cNvPr id="21" name="TextBox 21"/>
          <p:cNvSpPr txBox="1"/>
          <p:nvPr/>
        </p:nvSpPr>
        <p:spPr>
          <a:xfrm>
            <a:off x="990600" y="7546467"/>
            <a:ext cx="4667250" cy="883730"/>
          </a:xfrm>
          <a:prstGeom prst="rect">
            <a:avLst/>
          </a:prstGeom>
        </p:spPr>
        <p:txBody>
          <a:bodyPr lIns="0" tIns="0" rIns="0" bIns="0" rtlCol="0" anchor="t">
            <a:spAutoFit/>
          </a:bodyPr>
          <a:lstStyle/>
          <a:p>
            <a:pPr algn="l">
              <a:lnSpc>
                <a:spcPts val="3254"/>
              </a:lnSpc>
            </a:pPr>
            <a:r>
              <a:rPr lang="en-US" sz="2325">
                <a:solidFill>
                  <a:srgbClr val="C7D7DF"/>
                </a:solidFill>
                <a:latin typeface="Arial"/>
                <a:ea typeface="Arial"/>
                <a:cs typeface="Arial"/>
                <a:sym typeface="Arial"/>
              </a:rPr>
              <a:t>Keep customers informed through SMS or messaging.</a:t>
            </a:r>
          </a:p>
        </p:txBody>
      </p:sp>
      <p:sp>
        <p:nvSpPr>
          <p:cNvPr id="22" name="TextBox 22"/>
          <p:cNvSpPr txBox="1"/>
          <p:nvPr/>
        </p:nvSpPr>
        <p:spPr>
          <a:xfrm>
            <a:off x="6391275" y="4279422"/>
            <a:ext cx="5505449" cy="587853"/>
          </a:xfrm>
          <a:prstGeom prst="rect">
            <a:avLst/>
          </a:prstGeom>
        </p:spPr>
        <p:txBody>
          <a:bodyPr wrap="square" lIns="0" tIns="0" rIns="0" bIns="0" rtlCol="0" anchor="t">
            <a:spAutoFit/>
          </a:bodyPr>
          <a:lstStyle/>
          <a:p>
            <a:pPr algn="l">
              <a:lnSpc>
                <a:spcPts val="5040"/>
              </a:lnSpc>
            </a:pPr>
            <a:r>
              <a:rPr lang="en-US" sz="3600" b="1" dirty="0">
                <a:solidFill>
                  <a:srgbClr val="62C9B4"/>
                </a:solidFill>
                <a:latin typeface="Georgia Bold"/>
                <a:ea typeface="Georgia Bold"/>
                <a:cs typeface="Georgia Bold"/>
                <a:sym typeface="Georgia Bold"/>
              </a:rPr>
              <a:t>Improve operations</a:t>
            </a:r>
          </a:p>
        </p:txBody>
      </p:sp>
      <p:grpSp>
        <p:nvGrpSpPr>
          <p:cNvPr id="31" name="Group 30">
            <a:extLst>
              <a:ext uri="{FF2B5EF4-FFF2-40B4-BE49-F238E27FC236}">
                <a16:creationId xmlns:a16="http://schemas.microsoft.com/office/drawing/2014/main" id="{96776F63-B535-4A41-94CC-D7B2EBFE5704}"/>
              </a:ext>
            </a:extLst>
          </p:cNvPr>
          <p:cNvGrpSpPr/>
          <p:nvPr/>
        </p:nvGrpSpPr>
        <p:grpSpPr>
          <a:xfrm>
            <a:off x="6391275" y="5238750"/>
            <a:ext cx="4677547" cy="3191447"/>
            <a:chOff x="6705600" y="5238750"/>
            <a:chExt cx="4677547" cy="3191447"/>
          </a:xfrm>
        </p:grpSpPr>
        <p:sp>
          <p:nvSpPr>
            <p:cNvPr id="23" name="TextBox 23"/>
            <p:cNvSpPr txBox="1"/>
            <p:nvPr/>
          </p:nvSpPr>
          <p:spPr>
            <a:xfrm>
              <a:off x="6705600" y="5238750"/>
              <a:ext cx="4667250" cy="445294"/>
            </a:xfrm>
            <a:prstGeom prst="rect">
              <a:avLst/>
            </a:prstGeom>
          </p:spPr>
          <p:txBody>
            <a:bodyPr lIns="0" tIns="0" rIns="0" bIns="0" rtlCol="0" anchor="t">
              <a:spAutoFit/>
            </a:bodyPr>
            <a:lstStyle/>
            <a:p>
              <a:pPr algn="l">
                <a:lnSpc>
                  <a:spcPts val="3281"/>
                </a:lnSpc>
              </a:pPr>
              <a:r>
                <a:rPr lang="en-US" sz="2625" b="1" dirty="0">
                  <a:solidFill>
                    <a:srgbClr val="FFFFFF"/>
                  </a:solidFill>
                  <a:latin typeface="Arial Bold"/>
                  <a:ea typeface="Arial Bold"/>
                  <a:cs typeface="Arial Bold"/>
                  <a:sym typeface="Arial Bold"/>
                </a:rPr>
                <a:t>SLA and escalation rules</a:t>
              </a:r>
            </a:p>
          </p:txBody>
        </p:sp>
        <p:sp>
          <p:nvSpPr>
            <p:cNvPr id="24" name="TextBox 24"/>
            <p:cNvSpPr txBox="1"/>
            <p:nvPr/>
          </p:nvSpPr>
          <p:spPr>
            <a:xfrm>
              <a:off x="6705600" y="5760244"/>
              <a:ext cx="4667250" cy="883730"/>
            </a:xfrm>
            <a:prstGeom prst="rect">
              <a:avLst/>
            </a:prstGeom>
          </p:spPr>
          <p:txBody>
            <a:bodyPr lIns="0" tIns="0" rIns="0" bIns="0" rtlCol="0" anchor="t">
              <a:spAutoFit/>
            </a:bodyPr>
            <a:lstStyle/>
            <a:p>
              <a:pPr algn="l">
                <a:lnSpc>
                  <a:spcPts val="3254"/>
                </a:lnSpc>
              </a:pPr>
              <a:r>
                <a:rPr lang="en-US" sz="2325" dirty="0">
                  <a:solidFill>
                    <a:srgbClr val="C7D7DF"/>
                  </a:solidFill>
                  <a:latin typeface="Arial"/>
                  <a:ea typeface="Arial"/>
                  <a:cs typeface="Arial"/>
                  <a:sym typeface="Arial"/>
                </a:rPr>
                <a:t>Configure service deadlines and company escalation policies.</a:t>
              </a:r>
            </a:p>
          </p:txBody>
        </p:sp>
        <p:sp>
          <p:nvSpPr>
            <p:cNvPr id="25" name="TextBox 25"/>
            <p:cNvSpPr txBox="1"/>
            <p:nvPr/>
          </p:nvSpPr>
          <p:spPr>
            <a:xfrm>
              <a:off x="6705600" y="7024973"/>
              <a:ext cx="4667250" cy="445294"/>
            </a:xfrm>
            <a:prstGeom prst="rect">
              <a:avLst/>
            </a:prstGeom>
          </p:spPr>
          <p:txBody>
            <a:bodyPr lIns="0" tIns="0" rIns="0" bIns="0" rtlCol="0" anchor="t">
              <a:spAutoFit/>
            </a:bodyPr>
            <a:lstStyle/>
            <a:p>
              <a:pPr algn="l">
                <a:lnSpc>
                  <a:spcPts val="3281"/>
                </a:lnSpc>
              </a:pPr>
              <a:r>
                <a:rPr lang="en-US" sz="2625" b="1" dirty="0">
                  <a:solidFill>
                    <a:srgbClr val="FFFFFF"/>
                  </a:solidFill>
                  <a:latin typeface="Arial Bold"/>
                  <a:ea typeface="Arial Bold"/>
                  <a:cs typeface="Arial Bold"/>
                  <a:sym typeface="Arial Bold"/>
                </a:rPr>
                <a:t>Trend analytics</a:t>
              </a:r>
            </a:p>
          </p:txBody>
        </p:sp>
        <p:sp>
          <p:nvSpPr>
            <p:cNvPr id="26" name="TextBox 26"/>
            <p:cNvSpPr txBox="1"/>
            <p:nvPr/>
          </p:nvSpPr>
          <p:spPr>
            <a:xfrm>
              <a:off x="6715897" y="7546467"/>
              <a:ext cx="4667250" cy="883730"/>
            </a:xfrm>
            <a:prstGeom prst="rect">
              <a:avLst/>
            </a:prstGeom>
          </p:spPr>
          <p:txBody>
            <a:bodyPr lIns="0" tIns="0" rIns="0" bIns="0" rtlCol="0" anchor="t">
              <a:spAutoFit/>
            </a:bodyPr>
            <a:lstStyle/>
            <a:p>
              <a:pPr algn="l">
                <a:lnSpc>
                  <a:spcPts val="3254"/>
                </a:lnSpc>
              </a:pPr>
              <a:r>
                <a:rPr lang="en-US" sz="2325" dirty="0">
                  <a:solidFill>
                    <a:srgbClr val="C7D7DF"/>
                  </a:solidFill>
                  <a:latin typeface="Arial"/>
                  <a:ea typeface="Arial"/>
                  <a:cs typeface="Arial"/>
                  <a:sym typeface="Arial"/>
                </a:rPr>
                <a:t>Identify recurring delivery issues using verified case history.</a:t>
              </a:r>
            </a:p>
          </p:txBody>
        </p:sp>
      </p:grpSp>
      <p:sp>
        <p:nvSpPr>
          <p:cNvPr id="27" name="TextBox 27"/>
          <p:cNvSpPr txBox="1"/>
          <p:nvPr/>
        </p:nvSpPr>
        <p:spPr>
          <a:xfrm>
            <a:off x="12420600" y="4267200"/>
            <a:ext cx="4667250" cy="600075"/>
          </a:xfrm>
          <a:prstGeom prst="rect">
            <a:avLst/>
          </a:prstGeom>
        </p:spPr>
        <p:txBody>
          <a:bodyPr lIns="0" tIns="0" rIns="0" bIns="0" rtlCol="0" anchor="t">
            <a:spAutoFit/>
          </a:bodyPr>
          <a:lstStyle/>
          <a:p>
            <a:pPr algn="l">
              <a:lnSpc>
                <a:spcPts val="5040"/>
              </a:lnSpc>
            </a:pPr>
            <a:r>
              <a:rPr lang="en-US" sz="3600" b="1">
                <a:solidFill>
                  <a:srgbClr val="62C9B4"/>
                </a:solidFill>
                <a:latin typeface="Georgia Bold"/>
                <a:ea typeface="Georgia Bold"/>
                <a:cs typeface="Georgia Bold"/>
                <a:sym typeface="Georgia Bold"/>
              </a:rPr>
              <a:t>Scale securely</a:t>
            </a:r>
          </a:p>
        </p:txBody>
      </p:sp>
      <p:sp>
        <p:nvSpPr>
          <p:cNvPr id="28" name="TextBox 28"/>
          <p:cNvSpPr txBox="1"/>
          <p:nvPr/>
        </p:nvSpPr>
        <p:spPr>
          <a:xfrm>
            <a:off x="12420600" y="5238750"/>
            <a:ext cx="4667250" cy="445294"/>
          </a:xfrm>
          <a:prstGeom prst="rect">
            <a:avLst/>
          </a:prstGeom>
        </p:spPr>
        <p:txBody>
          <a:bodyPr lIns="0" tIns="0" rIns="0" bIns="0" rtlCol="0" anchor="t">
            <a:spAutoFit/>
          </a:bodyPr>
          <a:lstStyle/>
          <a:p>
            <a:pPr algn="l">
              <a:lnSpc>
                <a:spcPts val="3281"/>
              </a:lnSpc>
            </a:pPr>
            <a:r>
              <a:rPr lang="en-US" sz="2625" b="1">
                <a:solidFill>
                  <a:srgbClr val="FFFFFF"/>
                </a:solidFill>
                <a:latin typeface="Arial Bold"/>
                <a:ea typeface="Arial Bold"/>
                <a:cs typeface="Arial Bold"/>
                <a:sym typeface="Arial Bold"/>
              </a:rPr>
              <a:t>Enterprise access controls</a:t>
            </a:r>
          </a:p>
        </p:txBody>
      </p:sp>
      <p:sp>
        <p:nvSpPr>
          <p:cNvPr id="29" name="TextBox 29"/>
          <p:cNvSpPr txBox="1"/>
          <p:nvPr/>
        </p:nvSpPr>
        <p:spPr>
          <a:xfrm>
            <a:off x="12420600" y="5760244"/>
            <a:ext cx="4667250" cy="883730"/>
          </a:xfrm>
          <a:prstGeom prst="rect">
            <a:avLst/>
          </a:prstGeom>
        </p:spPr>
        <p:txBody>
          <a:bodyPr lIns="0" tIns="0" rIns="0" bIns="0" rtlCol="0" anchor="t">
            <a:spAutoFit/>
          </a:bodyPr>
          <a:lstStyle/>
          <a:p>
            <a:pPr algn="l">
              <a:lnSpc>
                <a:spcPts val="3254"/>
              </a:lnSpc>
            </a:pPr>
            <a:r>
              <a:rPr lang="en-US" sz="2325">
                <a:solidFill>
                  <a:srgbClr val="C7D7DF"/>
                </a:solidFill>
                <a:latin typeface="Arial"/>
                <a:ea typeface="Arial"/>
                <a:cs typeface="Arial"/>
                <a:sym typeface="Arial"/>
              </a:rPr>
              <a:t>Strengthen staff permissions and isolate each company’s data.</a:t>
            </a:r>
          </a:p>
        </p:txBody>
      </p:sp>
      <p:sp>
        <p:nvSpPr>
          <p:cNvPr id="30" name="TextBox 30"/>
          <p:cNvSpPr txBox="1"/>
          <p:nvPr/>
        </p:nvSpPr>
        <p:spPr>
          <a:xfrm>
            <a:off x="12420600" y="6996398"/>
            <a:ext cx="4667250" cy="1297019"/>
          </a:xfrm>
          <a:prstGeom prst="rect">
            <a:avLst/>
          </a:prstGeom>
        </p:spPr>
        <p:txBody>
          <a:bodyPr lIns="0" tIns="0" rIns="0" bIns="0" rtlCol="0" anchor="t">
            <a:spAutoFit/>
          </a:bodyPr>
          <a:lstStyle/>
          <a:p>
            <a:pPr algn="l">
              <a:lnSpc>
                <a:spcPts val="3254"/>
              </a:lnSpc>
            </a:pPr>
            <a:r>
              <a:rPr lang="en-US" sz="2325">
                <a:solidFill>
                  <a:srgbClr val="C7D7DF"/>
                </a:solidFill>
                <a:latin typeface="Arial"/>
                <a:ea typeface="Arial"/>
                <a:cs typeface="Arial"/>
                <a:sym typeface="Arial"/>
              </a:rPr>
              <a:t>Support future deployments with role-based access and multi-tenancy.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263F"/>
        </a:solidFill>
        <a:effectLst/>
      </p:bgPr>
    </p:bg>
    <p:spTree>
      <p:nvGrpSpPr>
        <p:cNvPr id="1" name=""/>
        <p:cNvGrpSpPr/>
        <p:nvPr/>
      </p:nvGrpSpPr>
      <p:grpSpPr>
        <a:xfrm>
          <a:off x="0" y="0"/>
          <a:ext cx="0" cy="0"/>
          <a:chOff x="0" y="0"/>
          <a:chExt cx="0" cy="0"/>
        </a:xfrm>
      </p:grpSpPr>
      <p:grpSp>
        <p:nvGrpSpPr>
          <p:cNvPr id="2" name="Group 2"/>
          <p:cNvGrpSpPr/>
          <p:nvPr/>
        </p:nvGrpSpPr>
        <p:grpSpPr>
          <a:xfrm>
            <a:off x="1885950" y="1028700"/>
            <a:ext cx="16047720" cy="1234440"/>
            <a:chOff x="0" y="0"/>
            <a:chExt cx="21396960" cy="1645920"/>
          </a:xfrm>
        </p:grpSpPr>
        <p:sp>
          <p:nvSpPr>
            <p:cNvPr id="3" name="Freeform 3"/>
            <p:cNvSpPr/>
            <p:nvPr/>
          </p:nvSpPr>
          <p:spPr>
            <a:xfrm>
              <a:off x="0" y="0"/>
              <a:ext cx="21396961" cy="1645920"/>
            </a:xfrm>
            <a:custGeom>
              <a:avLst/>
              <a:gdLst/>
              <a:ahLst/>
              <a:cxnLst/>
              <a:rect l="l" t="t" r="r" b="b"/>
              <a:pathLst>
                <a:path w="21396961" h="1645920">
                  <a:moveTo>
                    <a:pt x="0" y="0"/>
                  </a:moveTo>
                  <a:lnTo>
                    <a:pt x="21396961" y="0"/>
                  </a:lnTo>
                  <a:lnTo>
                    <a:pt x="21396961" y="1645920"/>
                  </a:lnTo>
                  <a:lnTo>
                    <a:pt x="0" y="1645920"/>
                  </a:lnTo>
                  <a:close/>
                </a:path>
              </a:pathLst>
            </a:custGeom>
            <a:blipFill>
              <a:blip r:embed="rId2">
                <a:alphaModFix amt="0"/>
              </a:blip>
              <a:stretch>
                <a:fillRect t="-203305" b="-203305"/>
              </a:stretch>
            </a:blipFill>
          </p:spPr>
        </p:sp>
        <p:sp>
          <p:nvSpPr>
            <p:cNvPr id="4" name="TextBox 4"/>
            <p:cNvSpPr txBox="1"/>
            <p:nvPr/>
          </p:nvSpPr>
          <p:spPr>
            <a:xfrm>
              <a:off x="0" y="-9525"/>
              <a:ext cx="21396960" cy="1655445"/>
            </a:xfrm>
            <a:prstGeom prst="rect">
              <a:avLst/>
            </a:prstGeom>
          </p:spPr>
          <p:txBody>
            <a:bodyPr lIns="0" tIns="0" rIns="0" bIns="0" rtlCol="0" anchor="ctr"/>
            <a:lstStyle/>
            <a:p>
              <a:pPr algn="l">
                <a:lnSpc>
                  <a:spcPts val="6119"/>
                </a:lnSpc>
              </a:pPr>
              <a:r>
                <a:rPr lang="en-US" sz="5099" b="1">
                  <a:solidFill>
                    <a:srgbClr val="F5821F"/>
                  </a:solidFill>
                  <a:latin typeface="Roboto Bold"/>
                  <a:ea typeface="Roboto Bold"/>
                  <a:cs typeface="Roboto Bold"/>
                  <a:sym typeface="Roboto Bold"/>
                </a:rPr>
                <a:t>How ResolveMate compares on key features?</a:t>
              </a:r>
            </a:p>
          </p:txBody>
        </p:sp>
      </p:grpSp>
      <p:graphicFrame>
        <p:nvGraphicFramePr>
          <p:cNvPr id="5" name="Table 5"/>
          <p:cNvGraphicFramePr>
            <a:graphicFrameLocks noGrp="1"/>
          </p:cNvGraphicFramePr>
          <p:nvPr/>
        </p:nvGraphicFramePr>
        <p:xfrm>
          <a:off x="1097280" y="2674620"/>
          <a:ext cx="16021051" cy="5600701"/>
        </p:xfrm>
        <a:graphic>
          <a:graphicData uri="http://schemas.openxmlformats.org/drawingml/2006/table">
            <a:tbl>
              <a:tblPr/>
              <a:tblGrid>
                <a:gridCol w="4638662">
                  <a:extLst>
                    <a:ext uri="{9D8B030D-6E8A-4147-A177-3AD203B41FA5}">
                      <a16:colId xmlns:a16="http://schemas.microsoft.com/office/drawing/2014/main" val="20000"/>
                    </a:ext>
                  </a:extLst>
                </a:gridCol>
                <a:gridCol w="3150080">
                  <a:extLst>
                    <a:ext uri="{9D8B030D-6E8A-4147-A177-3AD203B41FA5}">
                      <a16:colId xmlns:a16="http://schemas.microsoft.com/office/drawing/2014/main" val="20001"/>
                    </a:ext>
                  </a:extLst>
                </a:gridCol>
                <a:gridCol w="2744103">
                  <a:extLst>
                    <a:ext uri="{9D8B030D-6E8A-4147-A177-3AD203B41FA5}">
                      <a16:colId xmlns:a16="http://schemas.microsoft.com/office/drawing/2014/main" val="20002"/>
                    </a:ext>
                  </a:extLst>
                </a:gridCol>
                <a:gridCol w="2744103">
                  <a:extLst>
                    <a:ext uri="{9D8B030D-6E8A-4147-A177-3AD203B41FA5}">
                      <a16:colId xmlns:a16="http://schemas.microsoft.com/office/drawing/2014/main" val="20003"/>
                    </a:ext>
                  </a:extLst>
                </a:gridCol>
                <a:gridCol w="2744103">
                  <a:extLst>
                    <a:ext uri="{9D8B030D-6E8A-4147-A177-3AD203B41FA5}">
                      <a16:colId xmlns:a16="http://schemas.microsoft.com/office/drawing/2014/main" val="20004"/>
                    </a:ext>
                  </a:extLst>
                </a:gridCol>
              </a:tblGrid>
              <a:tr h="1100929">
                <a:tc>
                  <a:txBody>
                    <a:bodyPr/>
                    <a:lstStyle/>
                    <a:p>
                      <a:pPr algn="ctr">
                        <a:lnSpc>
                          <a:spcPts val="3600"/>
                        </a:lnSpc>
                        <a:defRPr/>
                      </a:pPr>
                      <a:r>
                        <a:rPr lang="en-US" sz="3000" b="1">
                          <a:solidFill>
                            <a:srgbClr val="12263F"/>
                          </a:solidFill>
                          <a:latin typeface="Montserrat Bold"/>
                          <a:ea typeface="Montserrat Bold"/>
                          <a:cs typeface="Montserrat Bold"/>
                          <a:sym typeface="Montserrat Bold"/>
                        </a:rPr>
                        <a:t>Feature</a:t>
                      </a:r>
                      <a:endParaRPr lang="en-US" sz="1100"/>
                    </a:p>
                  </a:txBody>
                  <a:tcPr marL="94869" marR="94869" marT="94869" marB="94869" anchor="ctr">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BB5E"/>
                    </a:solidFill>
                  </a:tcPr>
                </a:tc>
                <a:tc>
                  <a:txBody>
                    <a:bodyPr/>
                    <a:lstStyle/>
                    <a:p>
                      <a:pPr algn="ctr">
                        <a:lnSpc>
                          <a:spcPts val="3600"/>
                        </a:lnSpc>
                        <a:defRPr/>
                      </a:pPr>
                      <a:r>
                        <a:rPr lang="en-US" sz="3000" b="1">
                          <a:solidFill>
                            <a:srgbClr val="12263F"/>
                          </a:solidFill>
                          <a:latin typeface="Montserrat Bold"/>
                          <a:ea typeface="Montserrat Bold"/>
                          <a:cs typeface="Montserrat Bold"/>
                          <a:sym typeface="Montserrat Bold"/>
                        </a:rPr>
                        <a:t>ResolveMate</a:t>
                      </a:r>
                      <a:endParaRPr lang="en-US" sz="1100"/>
                    </a:p>
                  </a:txBody>
                  <a:tcPr marL="94869" marR="94869" marT="94869" marB="94869" anchor="ctr">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BB5E"/>
                    </a:solidFill>
                  </a:tcPr>
                </a:tc>
                <a:tc>
                  <a:txBody>
                    <a:bodyPr/>
                    <a:lstStyle/>
                    <a:p>
                      <a:pPr algn="ctr">
                        <a:lnSpc>
                          <a:spcPts val="3600"/>
                        </a:lnSpc>
                        <a:defRPr/>
                      </a:pPr>
                      <a:r>
                        <a:rPr lang="en-US" sz="3000" b="1">
                          <a:solidFill>
                            <a:srgbClr val="12263F"/>
                          </a:solidFill>
                          <a:latin typeface="Montserrat Bold"/>
                          <a:ea typeface="Montserrat Bold"/>
                          <a:cs typeface="Montserrat Bold"/>
                          <a:sym typeface="Montserrat Bold"/>
                        </a:rPr>
                        <a:t>AfterShip</a:t>
                      </a:r>
                      <a:endParaRPr lang="en-US" sz="1100"/>
                    </a:p>
                  </a:txBody>
                  <a:tcPr marL="94869" marR="94869" marT="94869" marB="94869" anchor="ctr">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BB5E"/>
                    </a:solidFill>
                  </a:tcPr>
                </a:tc>
                <a:tc>
                  <a:txBody>
                    <a:bodyPr/>
                    <a:lstStyle/>
                    <a:p>
                      <a:pPr algn="ctr">
                        <a:lnSpc>
                          <a:spcPts val="3600"/>
                        </a:lnSpc>
                        <a:defRPr/>
                      </a:pPr>
                      <a:r>
                        <a:rPr lang="en-US" sz="3000" b="1">
                          <a:solidFill>
                            <a:srgbClr val="12263F"/>
                          </a:solidFill>
                          <a:latin typeface="Montserrat Bold"/>
                          <a:ea typeface="Montserrat Bold"/>
                          <a:cs typeface="Montserrat Bold"/>
                          <a:sym typeface="Montserrat Bold"/>
                        </a:rPr>
                        <a:t>Freshdesk</a:t>
                      </a:r>
                      <a:endParaRPr lang="en-US" sz="1100"/>
                    </a:p>
                  </a:txBody>
                  <a:tcPr marL="94869" marR="94869" marT="94869" marB="94869" anchor="ctr">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BB5E"/>
                    </a:solidFill>
                  </a:tcPr>
                </a:tc>
                <a:tc>
                  <a:txBody>
                    <a:bodyPr/>
                    <a:lstStyle/>
                    <a:p>
                      <a:pPr algn="ctr">
                        <a:lnSpc>
                          <a:spcPts val="3600"/>
                        </a:lnSpc>
                        <a:defRPr/>
                      </a:pPr>
                      <a:r>
                        <a:rPr lang="en-US" sz="3000" b="1">
                          <a:solidFill>
                            <a:srgbClr val="12263F"/>
                          </a:solidFill>
                          <a:latin typeface="Montserrat Bold"/>
                          <a:ea typeface="Montserrat Bold"/>
                          <a:cs typeface="Montserrat Bold"/>
                          <a:sym typeface="Montserrat Bold"/>
                        </a:rPr>
                        <a:t>Narvar</a:t>
                      </a:r>
                      <a:endParaRPr lang="en-US" sz="1100"/>
                    </a:p>
                  </a:txBody>
                  <a:tcPr marL="94869" marR="94869" marT="94869" marB="94869" anchor="ctr">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BB5E"/>
                    </a:solidFill>
                  </a:tcPr>
                </a:tc>
                <a:extLst>
                  <a:ext uri="{0D108BD9-81ED-4DB2-BD59-A6C34878D82A}">
                    <a16:rowId xmlns:a16="http://schemas.microsoft.com/office/drawing/2014/main" val="10000"/>
                  </a:ext>
                </a:extLst>
              </a:tr>
              <a:tr h="1499924">
                <a:tc>
                  <a:txBody>
                    <a:bodyPr/>
                    <a:lstStyle/>
                    <a:p>
                      <a:pPr algn="l">
                        <a:lnSpc>
                          <a:spcPts val="3600"/>
                        </a:lnSpc>
                        <a:defRPr/>
                      </a:pPr>
                      <a:r>
                        <a:rPr lang="en-US" sz="3000" b="1">
                          <a:solidFill>
                            <a:srgbClr val="12263F"/>
                          </a:solidFill>
                          <a:latin typeface="DM Sans Bold"/>
                          <a:ea typeface="DM Sans Bold"/>
                          <a:cs typeface="DM Sans Bold"/>
                          <a:sym typeface="DM Sans Bold"/>
                        </a:rPr>
                        <a:t>Seller Escalation</a:t>
                      </a:r>
                      <a:endParaRPr lang="en-US" sz="1100"/>
                    </a:p>
                  </a:txBody>
                  <a:tcPr marL="94869" marR="94869" marT="94869" marB="94869" anchor="ctr">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0D4"/>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99924">
                <a:tc>
                  <a:txBody>
                    <a:bodyPr/>
                    <a:lstStyle/>
                    <a:p>
                      <a:pPr algn="l">
                        <a:lnSpc>
                          <a:spcPts val="3600"/>
                        </a:lnSpc>
                        <a:defRPr/>
                      </a:pPr>
                      <a:r>
                        <a:rPr lang="en-US" sz="3000" b="1">
                          <a:solidFill>
                            <a:srgbClr val="12263F"/>
                          </a:solidFill>
                          <a:latin typeface="DM Sans Bold"/>
                          <a:ea typeface="DM Sans Bold"/>
                          <a:cs typeface="DM Sans Bold"/>
                          <a:sym typeface="DM Sans Bold"/>
                        </a:rPr>
                        <a:t>AI Triage &amp; Inbox</a:t>
                      </a:r>
                      <a:endParaRPr lang="en-US" sz="1100"/>
                    </a:p>
                  </a:txBody>
                  <a:tcPr marL="94869" marR="94869" marT="94869" marB="94869" anchor="ctr">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0D4"/>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99924">
                <a:tc>
                  <a:txBody>
                    <a:bodyPr/>
                    <a:lstStyle/>
                    <a:p>
                      <a:pPr algn="l">
                        <a:lnSpc>
                          <a:spcPts val="3600"/>
                        </a:lnSpc>
                        <a:defRPr/>
                      </a:pPr>
                      <a:r>
                        <a:rPr lang="en-US" sz="3000" b="1">
                          <a:solidFill>
                            <a:srgbClr val="12263F"/>
                          </a:solidFill>
                          <a:latin typeface="DM Sans Bold"/>
                          <a:ea typeface="DM Sans Bold"/>
                          <a:cs typeface="DM Sans Bold"/>
                          <a:sym typeface="DM Sans Bold"/>
                        </a:rPr>
                        <a:t>Multi-Portal Access</a:t>
                      </a:r>
                      <a:endParaRPr lang="en-US" sz="1100"/>
                    </a:p>
                  </a:txBody>
                  <a:tcPr marL="94869" marR="94869" marT="94869" marB="94869" anchor="ctr">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0D4"/>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94869" marR="94869" marT="94869" marB="94869">
                    <a:lnL w="12700" cap="flat" cmpd="sng" algn="ctr">
                      <a:solidFill>
                        <a:srgbClr val="D3DAE2"/>
                      </a:solidFill>
                      <a:prstDash val="solid"/>
                      <a:round/>
                      <a:headEnd type="none" w="med" len="med"/>
                      <a:tailEnd type="none" w="med" len="med"/>
                    </a:lnL>
                    <a:lnR w="12700" cap="flat" cmpd="sng" algn="ctr">
                      <a:solidFill>
                        <a:srgbClr val="D3DAE2"/>
                      </a:solidFill>
                      <a:prstDash val="solid"/>
                      <a:round/>
                      <a:headEnd type="none" w="med" len="med"/>
                      <a:tailEnd type="none" w="med" len="med"/>
                    </a:lnR>
                    <a:lnT w="12700" cap="flat" cmpd="sng" algn="ctr">
                      <a:solidFill>
                        <a:srgbClr val="D3DAE2"/>
                      </a:solidFill>
                      <a:prstDash val="solid"/>
                      <a:round/>
                      <a:headEnd type="none" w="med" len="med"/>
                      <a:tailEnd type="none" w="med" len="med"/>
                    </a:lnT>
                    <a:lnB w="12700" cap="flat" cmpd="sng" algn="ctr">
                      <a:solidFill>
                        <a:srgbClr val="D3DA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pSp>
        <p:nvGrpSpPr>
          <p:cNvPr id="6" name="Group 6"/>
          <p:cNvGrpSpPr/>
          <p:nvPr/>
        </p:nvGrpSpPr>
        <p:grpSpPr>
          <a:xfrm>
            <a:off x="6951345" y="4139565"/>
            <a:ext cx="773430" cy="773430"/>
            <a:chOff x="0" y="0"/>
            <a:chExt cx="1031240" cy="1031240"/>
          </a:xfrm>
        </p:grpSpPr>
        <p:sp>
          <p:nvSpPr>
            <p:cNvPr id="7" name="Freeform 7"/>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18B8AA"/>
            </a:solidFill>
            <a:ln w="19050" cap="sq">
              <a:solidFill>
                <a:srgbClr val="18B8AA"/>
              </a:solidFill>
              <a:prstDash val="solid"/>
              <a:miter/>
            </a:ln>
          </p:spPr>
        </p:sp>
      </p:grpSp>
      <p:grpSp>
        <p:nvGrpSpPr>
          <p:cNvPr id="8" name="Group 8"/>
          <p:cNvGrpSpPr/>
          <p:nvPr/>
        </p:nvGrpSpPr>
        <p:grpSpPr>
          <a:xfrm>
            <a:off x="6960870" y="4149090"/>
            <a:ext cx="754380" cy="754380"/>
            <a:chOff x="0" y="0"/>
            <a:chExt cx="1005840" cy="1005840"/>
          </a:xfrm>
        </p:grpSpPr>
        <p:sp>
          <p:nvSpPr>
            <p:cNvPr id="9" name="Freeform 9"/>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10" name="TextBox 10"/>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11" name="Group 11"/>
          <p:cNvGrpSpPr/>
          <p:nvPr/>
        </p:nvGrpSpPr>
        <p:grpSpPr>
          <a:xfrm>
            <a:off x="9900285" y="4139565"/>
            <a:ext cx="773430" cy="773430"/>
            <a:chOff x="0" y="0"/>
            <a:chExt cx="1031240" cy="1031240"/>
          </a:xfrm>
        </p:grpSpPr>
        <p:sp>
          <p:nvSpPr>
            <p:cNvPr id="12" name="Freeform 12"/>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27B6B"/>
            </a:solidFill>
            <a:ln w="19050" cap="sq">
              <a:solidFill>
                <a:srgbClr val="F27B6B"/>
              </a:solidFill>
              <a:prstDash val="solid"/>
              <a:miter/>
            </a:ln>
          </p:spPr>
        </p:sp>
      </p:grpSp>
      <p:grpSp>
        <p:nvGrpSpPr>
          <p:cNvPr id="13" name="Group 13"/>
          <p:cNvGrpSpPr/>
          <p:nvPr/>
        </p:nvGrpSpPr>
        <p:grpSpPr>
          <a:xfrm>
            <a:off x="9909810" y="4149090"/>
            <a:ext cx="754380" cy="754380"/>
            <a:chOff x="0" y="0"/>
            <a:chExt cx="1005840" cy="1005840"/>
          </a:xfrm>
        </p:grpSpPr>
        <p:sp>
          <p:nvSpPr>
            <p:cNvPr id="14" name="Freeform 14"/>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15" name="TextBox 15"/>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16" name="Group 16"/>
          <p:cNvGrpSpPr/>
          <p:nvPr/>
        </p:nvGrpSpPr>
        <p:grpSpPr>
          <a:xfrm>
            <a:off x="12643485" y="4139565"/>
            <a:ext cx="773430" cy="773430"/>
            <a:chOff x="0" y="0"/>
            <a:chExt cx="1031240" cy="1031240"/>
          </a:xfrm>
        </p:grpSpPr>
        <p:sp>
          <p:nvSpPr>
            <p:cNvPr id="17" name="Freeform 17"/>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27B6B"/>
            </a:solidFill>
            <a:ln w="19050" cap="sq">
              <a:solidFill>
                <a:srgbClr val="F27B6B"/>
              </a:solidFill>
              <a:prstDash val="solid"/>
              <a:miter/>
            </a:ln>
          </p:spPr>
        </p:sp>
      </p:grpSp>
      <p:grpSp>
        <p:nvGrpSpPr>
          <p:cNvPr id="18" name="Group 18"/>
          <p:cNvGrpSpPr/>
          <p:nvPr/>
        </p:nvGrpSpPr>
        <p:grpSpPr>
          <a:xfrm>
            <a:off x="12653010" y="4149090"/>
            <a:ext cx="754380" cy="754380"/>
            <a:chOff x="0" y="0"/>
            <a:chExt cx="1005840" cy="1005840"/>
          </a:xfrm>
        </p:grpSpPr>
        <p:sp>
          <p:nvSpPr>
            <p:cNvPr id="19" name="Freeform 19"/>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20" name="TextBox 20"/>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21" name="Group 21"/>
          <p:cNvGrpSpPr/>
          <p:nvPr/>
        </p:nvGrpSpPr>
        <p:grpSpPr>
          <a:xfrm>
            <a:off x="15386685" y="4139565"/>
            <a:ext cx="773430" cy="773430"/>
            <a:chOff x="0" y="0"/>
            <a:chExt cx="1031240" cy="1031240"/>
          </a:xfrm>
        </p:grpSpPr>
        <p:sp>
          <p:nvSpPr>
            <p:cNvPr id="22" name="Freeform 22"/>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27B6B"/>
            </a:solidFill>
            <a:ln w="19050" cap="sq">
              <a:solidFill>
                <a:srgbClr val="F27B6B"/>
              </a:solidFill>
              <a:prstDash val="solid"/>
              <a:miter/>
            </a:ln>
          </p:spPr>
        </p:sp>
      </p:grpSp>
      <p:grpSp>
        <p:nvGrpSpPr>
          <p:cNvPr id="23" name="Group 23"/>
          <p:cNvGrpSpPr/>
          <p:nvPr/>
        </p:nvGrpSpPr>
        <p:grpSpPr>
          <a:xfrm>
            <a:off x="15396210" y="4149090"/>
            <a:ext cx="754380" cy="754380"/>
            <a:chOff x="0" y="0"/>
            <a:chExt cx="1005840" cy="1005840"/>
          </a:xfrm>
        </p:grpSpPr>
        <p:sp>
          <p:nvSpPr>
            <p:cNvPr id="24" name="Freeform 24"/>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25" name="TextBox 25"/>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26" name="Group 26"/>
          <p:cNvGrpSpPr/>
          <p:nvPr/>
        </p:nvGrpSpPr>
        <p:grpSpPr>
          <a:xfrm>
            <a:off x="6951345" y="5648325"/>
            <a:ext cx="773430" cy="773430"/>
            <a:chOff x="0" y="0"/>
            <a:chExt cx="1031240" cy="1031240"/>
          </a:xfrm>
        </p:grpSpPr>
        <p:sp>
          <p:nvSpPr>
            <p:cNvPr id="27" name="Freeform 27"/>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18B8AA"/>
            </a:solidFill>
            <a:ln w="19050" cap="sq">
              <a:solidFill>
                <a:srgbClr val="18B8AA"/>
              </a:solidFill>
              <a:prstDash val="solid"/>
              <a:miter/>
            </a:ln>
          </p:spPr>
        </p:sp>
      </p:grpSp>
      <p:grpSp>
        <p:nvGrpSpPr>
          <p:cNvPr id="28" name="Group 28"/>
          <p:cNvGrpSpPr/>
          <p:nvPr/>
        </p:nvGrpSpPr>
        <p:grpSpPr>
          <a:xfrm>
            <a:off x="6960870" y="5657850"/>
            <a:ext cx="754380" cy="754380"/>
            <a:chOff x="0" y="0"/>
            <a:chExt cx="1005840" cy="1005840"/>
          </a:xfrm>
        </p:grpSpPr>
        <p:sp>
          <p:nvSpPr>
            <p:cNvPr id="29" name="Freeform 29"/>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30" name="TextBox 30"/>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31" name="Group 31"/>
          <p:cNvGrpSpPr/>
          <p:nvPr/>
        </p:nvGrpSpPr>
        <p:grpSpPr>
          <a:xfrm>
            <a:off x="9900285" y="5648325"/>
            <a:ext cx="773430" cy="773430"/>
            <a:chOff x="0" y="0"/>
            <a:chExt cx="1031240" cy="1031240"/>
          </a:xfrm>
        </p:grpSpPr>
        <p:sp>
          <p:nvSpPr>
            <p:cNvPr id="32" name="Freeform 32"/>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27B6B"/>
            </a:solidFill>
            <a:ln w="19050" cap="sq">
              <a:solidFill>
                <a:srgbClr val="F27B6B"/>
              </a:solidFill>
              <a:prstDash val="solid"/>
              <a:miter/>
            </a:ln>
          </p:spPr>
        </p:sp>
      </p:grpSp>
      <p:grpSp>
        <p:nvGrpSpPr>
          <p:cNvPr id="33" name="Group 33"/>
          <p:cNvGrpSpPr/>
          <p:nvPr/>
        </p:nvGrpSpPr>
        <p:grpSpPr>
          <a:xfrm>
            <a:off x="9909810" y="5657850"/>
            <a:ext cx="754380" cy="754380"/>
            <a:chOff x="0" y="0"/>
            <a:chExt cx="1005840" cy="1005840"/>
          </a:xfrm>
        </p:grpSpPr>
        <p:sp>
          <p:nvSpPr>
            <p:cNvPr id="34" name="Freeform 34"/>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35" name="TextBox 35"/>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36" name="Group 36"/>
          <p:cNvGrpSpPr/>
          <p:nvPr/>
        </p:nvGrpSpPr>
        <p:grpSpPr>
          <a:xfrm>
            <a:off x="12643485" y="5648325"/>
            <a:ext cx="773430" cy="773430"/>
            <a:chOff x="0" y="0"/>
            <a:chExt cx="1031240" cy="1031240"/>
          </a:xfrm>
        </p:grpSpPr>
        <p:sp>
          <p:nvSpPr>
            <p:cNvPr id="37" name="Freeform 37"/>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18B8AA"/>
            </a:solidFill>
            <a:ln w="19050" cap="sq">
              <a:solidFill>
                <a:srgbClr val="18B8AA"/>
              </a:solidFill>
              <a:prstDash val="solid"/>
              <a:miter/>
            </a:ln>
          </p:spPr>
        </p:sp>
      </p:grpSp>
      <p:grpSp>
        <p:nvGrpSpPr>
          <p:cNvPr id="38" name="Group 38"/>
          <p:cNvGrpSpPr/>
          <p:nvPr/>
        </p:nvGrpSpPr>
        <p:grpSpPr>
          <a:xfrm>
            <a:off x="12653010" y="5657850"/>
            <a:ext cx="754380" cy="754380"/>
            <a:chOff x="0" y="0"/>
            <a:chExt cx="1005840" cy="1005840"/>
          </a:xfrm>
        </p:grpSpPr>
        <p:sp>
          <p:nvSpPr>
            <p:cNvPr id="39" name="Freeform 39"/>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40" name="TextBox 40"/>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41" name="Group 41"/>
          <p:cNvGrpSpPr/>
          <p:nvPr/>
        </p:nvGrpSpPr>
        <p:grpSpPr>
          <a:xfrm>
            <a:off x="15386685" y="5648325"/>
            <a:ext cx="773430" cy="773430"/>
            <a:chOff x="0" y="0"/>
            <a:chExt cx="1031240" cy="1031240"/>
          </a:xfrm>
        </p:grpSpPr>
        <p:sp>
          <p:nvSpPr>
            <p:cNvPr id="42" name="Freeform 42"/>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27B6B"/>
            </a:solidFill>
            <a:ln w="19050" cap="sq">
              <a:solidFill>
                <a:srgbClr val="F27B6B"/>
              </a:solidFill>
              <a:prstDash val="solid"/>
              <a:miter/>
            </a:ln>
          </p:spPr>
        </p:sp>
      </p:grpSp>
      <p:grpSp>
        <p:nvGrpSpPr>
          <p:cNvPr id="43" name="Group 43"/>
          <p:cNvGrpSpPr/>
          <p:nvPr/>
        </p:nvGrpSpPr>
        <p:grpSpPr>
          <a:xfrm>
            <a:off x="15396210" y="5657850"/>
            <a:ext cx="754380" cy="754380"/>
            <a:chOff x="0" y="0"/>
            <a:chExt cx="1005840" cy="1005840"/>
          </a:xfrm>
        </p:grpSpPr>
        <p:sp>
          <p:nvSpPr>
            <p:cNvPr id="44" name="Freeform 44"/>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45" name="TextBox 45"/>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46" name="Group 46"/>
          <p:cNvGrpSpPr/>
          <p:nvPr/>
        </p:nvGrpSpPr>
        <p:grpSpPr>
          <a:xfrm>
            <a:off x="6951345" y="7157085"/>
            <a:ext cx="773430" cy="773430"/>
            <a:chOff x="0" y="0"/>
            <a:chExt cx="1031240" cy="1031240"/>
          </a:xfrm>
        </p:grpSpPr>
        <p:sp>
          <p:nvSpPr>
            <p:cNvPr id="47" name="Freeform 47"/>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18B8AA"/>
            </a:solidFill>
            <a:ln w="19050" cap="sq">
              <a:solidFill>
                <a:srgbClr val="18B8AA"/>
              </a:solidFill>
              <a:prstDash val="solid"/>
              <a:miter/>
            </a:ln>
          </p:spPr>
        </p:sp>
      </p:grpSp>
      <p:grpSp>
        <p:nvGrpSpPr>
          <p:cNvPr id="48" name="Group 48"/>
          <p:cNvGrpSpPr/>
          <p:nvPr/>
        </p:nvGrpSpPr>
        <p:grpSpPr>
          <a:xfrm>
            <a:off x="6960870" y="7166610"/>
            <a:ext cx="754380" cy="754380"/>
            <a:chOff x="0" y="0"/>
            <a:chExt cx="1005840" cy="1005840"/>
          </a:xfrm>
        </p:grpSpPr>
        <p:sp>
          <p:nvSpPr>
            <p:cNvPr id="49" name="Freeform 49"/>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50" name="TextBox 50"/>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51" name="Group 51"/>
          <p:cNvGrpSpPr/>
          <p:nvPr/>
        </p:nvGrpSpPr>
        <p:grpSpPr>
          <a:xfrm>
            <a:off x="9900285" y="7157085"/>
            <a:ext cx="773430" cy="773430"/>
            <a:chOff x="0" y="0"/>
            <a:chExt cx="1031240" cy="1031240"/>
          </a:xfrm>
        </p:grpSpPr>
        <p:sp>
          <p:nvSpPr>
            <p:cNvPr id="52" name="Freeform 52"/>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27B6B"/>
            </a:solidFill>
            <a:ln w="19050" cap="sq">
              <a:solidFill>
                <a:srgbClr val="F27B6B"/>
              </a:solidFill>
              <a:prstDash val="solid"/>
              <a:miter/>
            </a:ln>
          </p:spPr>
        </p:sp>
      </p:grpSp>
      <p:grpSp>
        <p:nvGrpSpPr>
          <p:cNvPr id="53" name="Group 53"/>
          <p:cNvGrpSpPr/>
          <p:nvPr/>
        </p:nvGrpSpPr>
        <p:grpSpPr>
          <a:xfrm>
            <a:off x="9909810" y="7166610"/>
            <a:ext cx="754380" cy="754380"/>
            <a:chOff x="0" y="0"/>
            <a:chExt cx="1005840" cy="1005840"/>
          </a:xfrm>
        </p:grpSpPr>
        <p:sp>
          <p:nvSpPr>
            <p:cNvPr id="54" name="Freeform 54"/>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55" name="TextBox 55"/>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56" name="Group 56"/>
          <p:cNvGrpSpPr/>
          <p:nvPr/>
        </p:nvGrpSpPr>
        <p:grpSpPr>
          <a:xfrm>
            <a:off x="12643485" y="7157085"/>
            <a:ext cx="773430" cy="773430"/>
            <a:chOff x="0" y="0"/>
            <a:chExt cx="1031240" cy="1031240"/>
          </a:xfrm>
        </p:grpSpPr>
        <p:sp>
          <p:nvSpPr>
            <p:cNvPr id="57" name="Freeform 57"/>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18B8AA"/>
            </a:solidFill>
            <a:ln w="19050" cap="sq">
              <a:solidFill>
                <a:srgbClr val="18B8AA"/>
              </a:solidFill>
              <a:prstDash val="solid"/>
              <a:miter/>
            </a:ln>
          </p:spPr>
        </p:sp>
      </p:grpSp>
      <p:grpSp>
        <p:nvGrpSpPr>
          <p:cNvPr id="58" name="Group 58"/>
          <p:cNvGrpSpPr/>
          <p:nvPr/>
        </p:nvGrpSpPr>
        <p:grpSpPr>
          <a:xfrm>
            <a:off x="12653010" y="7166610"/>
            <a:ext cx="754380" cy="754380"/>
            <a:chOff x="0" y="0"/>
            <a:chExt cx="1005840" cy="1005840"/>
          </a:xfrm>
        </p:grpSpPr>
        <p:sp>
          <p:nvSpPr>
            <p:cNvPr id="59" name="Freeform 59"/>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60" name="TextBox 60"/>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grpSp>
        <p:nvGrpSpPr>
          <p:cNvPr id="61" name="Group 61"/>
          <p:cNvGrpSpPr/>
          <p:nvPr/>
        </p:nvGrpSpPr>
        <p:grpSpPr>
          <a:xfrm>
            <a:off x="15386685" y="7157085"/>
            <a:ext cx="773430" cy="773430"/>
            <a:chOff x="0" y="0"/>
            <a:chExt cx="1031240" cy="1031240"/>
          </a:xfrm>
        </p:grpSpPr>
        <p:sp>
          <p:nvSpPr>
            <p:cNvPr id="62" name="Freeform 62"/>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27B6B"/>
            </a:solidFill>
            <a:ln w="19050" cap="sq">
              <a:solidFill>
                <a:srgbClr val="F27B6B"/>
              </a:solidFill>
              <a:prstDash val="solid"/>
              <a:miter/>
            </a:ln>
          </p:spPr>
        </p:sp>
      </p:grpSp>
      <p:grpSp>
        <p:nvGrpSpPr>
          <p:cNvPr id="63" name="Group 63"/>
          <p:cNvGrpSpPr/>
          <p:nvPr/>
        </p:nvGrpSpPr>
        <p:grpSpPr>
          <a:xfrm>
            <a:off x="15396210" y="7166610"/>
            <a:ext cx="754380" cy="754380"/>
            <a:chOff x="0" y="0"/>
            <a:chExt cx="1005840" cy="1005840"/>
          </a:xfrm>
        </p:grpSpPr>
        <p:sp>
          <p:nvSpPr>
            <p:cNvPr id="64" name="Freeform 64"/>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2">
                <a:alphaModFix amt="0"/>
              </a:blip>
              <a:stretch>
                <a:fillRect l="-78303" r="-78303"/>
              </a:stretch>
            </a:blipFill>
          </p:spPr>
        </p:sp>
        <p:sp>
          <p:nvSpPr>
            <p:cNvPr id="65" name="TextBox 65"/>
            <p:cNvSpPr txBox="1"/>
            <p:nvPr/>
          </p:nvSpPr>
          <p:spPr>
            <a:xfrm>
              <a:off x="0" y="0"/>
              <a:ext cx="1005840" cy="1005840"/>
            </a:xfrm>
            <a:prstGeom prst="rect">
              <a:avLst/>
            </a:prstGeom>
          </p:spPr>
          <p:txBody>
            <a:bodyPr lIns="0" tIns="0" rIns="0" bIns="0" rtlCol="0" anchor="ctr"/>
            <a:lstStyle/>
            <a:p>
              <a:pPr algn="ctr">
                <a:lnSpc>
                  <a:spcPts val="3600"/>
                </a:lnSpc>
              </a:pPr>
              <a:r>
                <a:rPr lang="en-US" sz="3000" b="1">
                  <a:solidFill>
                    <a:srgbClr val="FFFFFF"/>
                  </a:solidFill>
                  <a:latin typeface="Segoe UI Bold"/>
                  <a:ea typeface="Segoe UI Bold"/>
                  <a:cs typeface="Segoe UI Bold"/>
                  <a:sym typeface="Segoe UI Bold"/>
                </a:rPr>
                <a:t>✗</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263F"/>
        </a:solidFill>
        <a:effectLst/>
      </p:bgPr>
    </p:bg>
    <p:spTree>
      <p:nvGrpSpPr>
        <p:cNvPr id="1" name=""/>
        <p:cNvGrpSpPr/>
        <p:nvPr/>
      </p:nvGrpSpPr>
      <p:grpSpPr>
        <a:xfrm>
          <a:off x="0" y="0"/>
          <a:ext cx="0" cy="0"/>
          <a:chOff x="0" y="0"/>
          <a:chExt cx="0" cy="0"/>
        </a:xfrm>
      </p:grpSpPr>
      <p:grpSp>
        <p:nvGrpSpPr>
          <p:cNvPr id="2" name="Group 2"/>
          <p:cNvGrpSpPr/>
          <p:nvPr/>
        </p:nvGrpSpPr>
        <p:grpSpPr>
          <a:xfrm>
            <a:off x="792956" y="8171783"/>
            <a:ext cx="16702088" cy="728662"/>
            <a:chOff x="0" y="0"/>
            <a:chExt cx="22269450" cy="971550"/>
          </a:xfrm>
        </p:grpSpPr>
        <p:sp>
          <p:nvSpPr>
            <p:cNvPr id="3" name="Freeform 3"/>
            <p:cNvSpPr/>
            <p:nvPr/>
          </p:nvSpPr>
          <p:spPr>
            <a:xfrm>
              <a:off x="0" y="0"/>
              <a:ext cx="22269450" cy="971550"/>
            </a:xfrm>
            <a:custGeom>
              <a:avLst/>
              <a:gdLst/>
              <a:ahLst/>
              <a:cxnLst/>
              <a:rect l="l" t="t" r="r" b="b"/>
              <a:pathLst>
                <a:path w="22269450" h="971550">
                  <a:moveTo>
                    <a:pt x="0" y="233172"/>
                  </a:moveTo>
                  <a:cubicBezTo>
                    <a:pt x="0" y="104394"/>
                    <a:pt x="104394" y="0"/>
                    <a:pt x="233172" y="0"/>
                  </a:cubicBezTo>
                  <a:lnTo>
                    <a:pt x="22036278" y="0"/>
                  </a:lnTo>
                  <a:cubicBezTo>
                    <a:pt x="22165056" y="0"/>
                    <a:pt x="22269450" y="104394"/>
                    <a:pt x="22269450" y="233172"/>
                  </a:cubicBezTo>
                  <a:lnTo>
                    <a:pt x="22269450" y="738378"/>
                  </a:lnTo>
                  <a:cubicBezTo>
                    <a:pt x="22269450" y="867156"/>
                    <a:pt x="22165056" y="971550"/>
                    <a:pt x="22036278" y="971550"/>
                  </a:cubicBezTo>
                  <a:lnTo>
                    <a:pt x="233172" y="971550"/>
                  </a:lnTo>
                  <a:cubicBezTo>
                    <a:pt x="104394" y="971550"/>
                    <a:pt x="0" y="867156"/>
                    <a:pt x="0" y="738378"/>
                  </a:cubicBezTo>
                  <a:close/>
                </a:path>
              </a:pathLst>
            </a:custGeom>
            <a:solidFill>
              <a:srgbClr val="12223A"/>
            </a:solidFill>
            <a:ln w="14288" cap="sq">
              <a:solidFill>
                <a:srgbClr val="1E3A64"/>
              </a:solidFill>
              <a:prstDash val="solid"/>
              <a:miter/>
            </a:ln>
          </p:spPr>
        </p:sp>
      </p:grpSp>
      <p:grpSp>
        <p:nvGrpSpPr>
          <p:cNvPr id="4" name="Group 4"/>
          <p:cNvGrpSpPr/>
          <p:nvPr/>
        </p:nvGrpSpPr>
        <p:grpSpPr>
          <a:xfrm>
            <a:off x="792956" y="2134867"/>
            <a:ext cx="8129588" cy="5443538"/>
            <a:chOff x="0" y="0"/>
            <a:chExt cx="10839450" cy="7258050"/>
          </a:xfrm>
        </p:grpSpPr>
        <p:sp>
          <p:nvSpPr>
            <p:cNvPr id="5" name="Freeform 5"/>
            <p:cNvSpPr/>
            <p:nvPr/>
          </p:nvSpPr>
          <p:spPr>
            <a:xfrm>
              <a:off x="0" y="0"/>
              <a:ext cx="10839450" cy="7258050"/>
            </a:xfrm>
            <a:custGeom>
              <a:avLst/>
              <a:gdLst/>
              <a:ahLst/>
              <a:cxnLst/>
              <a:rect l="l" t="t" r="r" b="b"/>
              <a:pathLst>
                <a:path w="10839450" h="7258050">
                  <a:moveTo>
                    <a:pt x="0" y="305562"/>
                  </a:moveTo>
                  <a:cubicBezTo>
                    <a:pt x="0" y="136779"/>
                    <a:pt x="136779" y="0"/>
                    <a:pt x="305562" y="0"/>
                  </a:cubicBezTo>
                  <a:lnTo>
                    <a:pt x="10533888" y="0"/>
                  </a:lnTo>
                  <a:cubicBezTo>
                    <a:pt x="10702671" y="0"/>
                    <a:pt x="10839450" y="136779"/>
                    <a:pt x="10839450" y="305562"/>
                  </a:cubicBezTo>
                  <a:lnTo>
                    <a:pt x="10839450" y="6952488"/>
                  </a:lnTo>
                  <a:cubicBezTo>
                    <a:pt x="10839450" y="7121271"/>
                    <a:pt x="10702671" y="7258050"/>
                    <a:pt x="10533888" y="7258050"/>
                  </a:cubicBezTo>
                  <a:lnTo>
                    <a:pt x="305562" y="7258050"/>
                  </a:lnTo>
                  <a:cubicBezTo>
                    <a:pt x="136779" y="7258050"/>
                    <a:pt x="0" y="7121271"/>
                    <a:pt x="0" y="6952488"/>
                  </a:cubicBezTo>
                  <a:close/>
                </a:path>
              </a:pathLst>
            </a:custGeom>
            <a:solidFill>
              <a:srgbClr val="12223A"/>
            </a:solidFill>
            <a:ln w="14288" cap="sq">
              <a:solidFill>
                <a:srgbClr val="1E3A64"/>
              </a:solidFill>
              <a:prstDash val="solid"/>
              <a:miter/>
            </a:ln>
          </p:spPr>
        </p:sp>
      </p:grpSp>
      <p:grpSp>
        <p:nvGrpSpPr>
          <p:cNvPr id="6" name="Group 6"/>
          <p:cNvGrpSpPr/>
          <p:nvPr/>
        </p:nvGrpSpPr>
        <p:grpSpPr>
          <a:xfrm>
            <a:off x="14706600" y="1119041"/>
            <a:ext cx="2657475" cy="442912"/>
            <a:chOff x="0" y="0"/>
            <a:chExt cx="3543300" cy="590550"/>
          </a:xfrm>
        </p:grpSpPr>
        <p:sp>
          <p:nvSpPr>
            <p:cNvPr id="7" name="Freeform 7"/>
            <p:cNvSpPr/>
            <p:nvPr/>
          </p:nvSpPr>
          <p:spPr>
            <a:xfrm>
              <a:off x="0" y="0"/>
              <a:ext cx="3543300" cy="590550"/>
            </a:xfrm>
            <a:custGeom>
              <a:avLst/>
              <a:gdLst/>
              <a:ahLst/>
              <a:cxnLst/>
              <a:rect l="l" t="t" r="r" b="b"/>
              <a:pathLst>
                <a:path w="3543300" h="590550">
                  <a:moveTo>
                    <a:pt x="0" y="295275"/>
                  </a:moveTo>
                  <a:cubicBezTo>
                    <a:pt x="0" y="132207"/>
                    <a:pt x="132207" y="0"/>
                    <a:pt x="295275" y="0"/>
                  </a:cubicBezTo>
                  <a:lnTo>
                    <a:pt x="3248025" y="0"/>
                  </a:lnTo>
                  <a:cubicBezTo>
                    <a:pt x="3411093" y="0"/>
                    <a:pt x="3543300" y="132207"/>
                    <a:pt x="3543300" y="295275"/>
                  </a:cubicBezTo>
                  <a:cubicBezTo>
                    <a:pt x="3543300" y="458343"/>
                    <a:pt x="3411093" y="590550"/>
                    <a:pt x="3248025" y="590550"/>
                  </a:cubicBezTo>
                  <a:lnTo>
                    <a:pt x="295275" y="590550"/>
                  </a:lnTo>
                  <a:cubicBezTo>
                    <a:pt x="132207" y="590550"/>
                    <a:pt x="0" y="458343"/>
                    <a:pt x="0" y="295275"/>
                  </a:cubicBezTo>
                  <a:close/>
                </a:path>
              </a:pathLst>
            </a:custGeom>
            <a:solidFill>
              <a:srgbClr val="2C282A"/>
            </a:solidFill>
            <a:ln w="14288" cap="sq">
              <a:solidFill>
                <a:srgbClr val="EA8A2A"/>
              </a:solidFill>
              <a:prstDash val="solid"/>
              <a:miter/>
            </a:ln>
          </p:spPr>
        </p:sp>
      </p:grpSp>
      <p:grpSp>
        <p:nvGrpSpPr>
          <p:cNvPr id="8" name="Group 8"/>
          <p:cNvGrpSpPr/>
          <p:nvPr/>
        </p:nvGrpSpPr>
        <p:grpSpPr>
          <a:xfrm>
            <a:off x="1271588" y="6756873"/>
            <a:ext cx="7172325" cy="14288"/>
            <a:chOff x="0" y="0"/>
            <a:chExt cx="9563100" cy="19050"/>
          </a:xfrm>
        </p:grpSpPr>
        <p:sp>
          <p:nvSpPr>
            <p:cNvPr id="9" name="Freeform 9"/>
            <p:cNvSpPr/>
            <p:nvPr/>
          </p:nvSpPr>
          <p:spPr>
            <a:xfrm>
              <a:off x="0" y="0"/>
              <a:ext cx="9563100" cy="19050"/>
            </a:xfrm>
            <a:custGeom>
              <a:avLst/>
              <a:gdLst/>
              <a:ahLst/>
              <a:cxnLst/>
              <a:rect l="l" t="t" r="r" b="b"/>
              <a:pathLst>
                <a:path w="9563100" h="19050">
                  <a:moveTo>
                    <a:pt x="0" y="0"/>
                  </a:moveTo>
                  <a:lnTo>
                    <a:pt x="9563100" y="0"/>
                  </a:lnTo>
                  <a:lnTo>
                    <a:pt x="9563100" y="19050"/>
                  </a:lnTo>
                  <a:lnTo>
                    <a:pt x="0" y="19050"/>
                  </a:lnTo>
                  <a:close/>
                </a:path>
              </a:pathLst>
            </a:custGeom>
            <a:solidFill>
              <a:srgbClr val="1E3A64"/>
            </a:solidFill>
          </p:spPr>
        </p:sp>
      </p:grpSp>
      <p:grpSp>
        <p:nvGrpSpPr>
          <p:cNvPr id="10" name="Group 10"/>
          <p:cNvGrpSpPr/>
          <p:nvPr/>
        </p:nvGrpSpPr>
        <p:grpSpPr>
          <a:xfrm>
            <a:off x="9844088" y="6428261"/>
            <a:ext cx="7172325" cy="14288"/>
            <a:chOff x="0" y="0"/>
            <a:chExt cx="9563100" cy="19050"/>
          </a:xfrm>
        </p:grpSpPr>
        <p:sp>
          <p:nvSpPr>
            <p:cNvPr id="11" name="Freeform 11"/>
            <p:cNvSpPr/>
            <p:nvPr/>
          </p:nvSpPr>
          <p:spPr>
            <a:xfrm>
              <a:off x="0" y="0"/>
              <a:ext cx="9563100" cy="19050"/>
            </a:xfrm>
            <a:custGeom>
              <a:avLst/>
              <a:gdLst/>
              <a:ahLst/>
              <a:cxnLst/>
              <a:rect l="l" t="t" r="r" b="b"/>
              <a:pathLst>
                <a:path w="9563100" h="19050">
                  <a:moveTo>
                    <a:pt x="0" y="0"/>
                  </a:moveTo>
                  <a:lnTo>
                    <a:pt x="9563100" y="0"/>
                  </a:lnTo>
                  <a:lnTo>
                    <a:pt x="9563100" y="19050"/>
                  </a:lnTo>
                  <a:lnTo>
                    <a:pt x="0" y="19050"/>
                  </a:lnTo>
                  <a:close/>
                </a:path>
              </a:pathLst>
            </a:custGeom>
            <a:solidFill>
              <a:srgbClr val="EA8A2A"/>
            </a:solidFill>
          </p:spPr>
        </p:sp>
      </p:grpSp>
      <p:grpSp>
        <p:nvGrpSpPr>
          <p:cNvPr id="12" name="Group 12"/>
          <p:cNvGrpSpPr/>
          <p:nvPr/>
        </p:nvGrpSpPr>
        <p:grpSpPr>
          <a:xfrm>
            <a:off x="1271588" y="4385148"/>
            <a:ext cx="7172325" cy="542925"/>
            <a:chOff x="0" y="0"/>
            <a:chExt cx="9563100" cy="723900"/>
          </a:xfrm>
        </p:grpSpPr>
        <p:sp>
          <p:nvSpPr>
            <p:cNvPr id="13" name="Freeform 13"/>
            <p:cNvSpPr/>
            <p:nvPr/>
          </p:nvSpPr>
          <p:spPr>
            <a:xfrm>
              <a:off x="0" y="0"/>
              <a:ext cx="9563100" cy="723900"/>
            </a:xfrm>
            <a:custGeom>
              <a:avLst/>
              <a:gdLst/>
              <a:ahLst/>
              <a:cxnLst/>
              <a:rect l="l" t="t" r="r" b="b"/>
              <a:pathLst>
                <a:path w="9563100" h="723900">
                  <a:moveTo>
                    <a:pt x="0" y="152400"/>
                  </a:moveTo>
                  <a:cubicBezTo>
                    <a:pt x="0" y="68199"/>
                    <a:pt x="68199" y="0"/>
                    <a:pt x="152400" y="0"/>
                  </a:cubicBezTo>
                  <a:lnTo>
                    <a:pt x="9410700" y="0"/>
                  </a:lnTo>
                  <a:cubicBezTo>
                    <a:pt x="9494901" y="0"/>
                    <a:pt x="9563100" y="68199"/>
                    <a:pt x="9563100" y="152400"/>
                  </a:cubicBezTo>
                  <a:lnTo>
                    <a:pt x="9563100" y="571500"/>
                  </a:lnTo>
                  <a:cubicBezTo>
                    <a:pt x="9563100" y="655701"/>
                    <a:pt x="9494901" y="723900"/>
                    <a:pt x="9410700" y="723900"/>
                  </a:cubicBezTo>
                  <a:lnTo>
                    <a:pt x="152400" y="723900"/>
                  </a:lnTo>
                  <a:cubicBezTo>
                    <a:pt x="68199" y="723900"/>
                    <a:pt x="0" y="655701"/>
                    <a:pt x="0" y="571500"/>
                  </a:cubicBezTo>
                  <a:close/>
                </a:path>
              </a:pathLst>
            </a:custGeom>
            <a:solidFill>
              <a:srgbClr val="0B172A"/>
            </a:solidFill>
          </p:spPr>
        </p:sp>
      </p:grpSp>
      <p:grpSp>
        <p:nvGrpSpPr>
          <p:cNvPr id="14" name="Group 14"/>
          <p:cNvGrpSpPr/>
          <p:nvPr/>
        </p:nvGrpSpPr>
        <p:grpSpPr>
          <a:xfrm>
            <a:off x="1271588" y="5642448"/>
            <a:ext cx="7172325" cy="542925"/>
            <a:chOff x="0" y="0"/>
            <a:chExt cx="9563100" cy="723900"/>
          </a:xfrm>
        </p:grpSpPr>
        <p:sp>
          <p:nvSpPr>
            <p:cNvPr id="15" name="Freeform 15"/>
            <p:cNvSpPr/>
            <p:nvPr/>
          </p:nvSpPr>
          <p:spPr>
            <a:xfrm>
              <a:off x="0" y="0"/>
              <a:ext cx="9563100" cy="723900"/>
            </a:xfrm>
            <a:custGeom>
              <a:avLst/>
              <a:gdLst/>
              <a:ahLst/>
              <a:cxnLst/>
              <a:rect l="l" t="t" r="r" b="b"/>
              <a:pathLst>
                <a:path w="9563100" h="723900">
                  <a:moveTo>
                    <a:pt x="0" y="152400"/>
                  </a:moveTo>
                  <a:cubicBezTo>
                    <a:pt x="0" y="68199"/>
                    <a:pt x="68199" y="0"/>
                    <a:pt x="152400" y="0"/>
                  </a:cubicBezTo>
                  <a:lnTo>
                    <a:pt x="9410700" y="0"/>
                  </a:lnTo>
                  <a:cubicBezTo>
                    <a:pt x="9494901" y="0"/>
                    <a:pt x="9563100" y="68199"/>
                    <a:pt x="9563100" y="152400"/>
                  </a:cubicBezTo>
                  <a:lnTo>
                    <a:pt x="9563100" y="571500"/>
                  </a:lnTo>
                  <a:cubicBezTo>
                    <a:pt x="9563100" y="655701"/>
                    <a:pt x="9494901" y="723900"/>
                    <a:pt x="9410700" y="723900"/>
                  </a:cubicBezTo>
                  <a:lnTo>
                    <a:pt x="152400" y="723900"/>
                  </a:lnTo>
                  <a:cubicBezTo>
                    <a:pt x="68199" y="723900"/>
                    <a:pt x="0" y="655701"/>
                    <a:pt x="0" y="571500"/>
                  </a:cubicBezTo>
                  <a:close/>
                </a:path>
              </a:pathLst>
            </a:custGeom>
            <a:solidFill>
              <a:srgbClr val="0B172A"/>
            </a:solidFill>
          </p:spPr>
        </p:sp>
      </p:grpSp>
      <p:grpSp>
        <p:nvGrpSpPr>
          <p:cNvPr id="16" name="Group 16"/>
          <p:cNvGrpSpPr/>
          <p:nvPr/>
        </p:nvGrpSpPr>
        <p:grpSpPr>
          <a:xfrm>
            <a:off x="1328738" y="4442298"/>
            <a:ext cx="7058025" cy="428625"/>
            <a:chOff x="0" y="0"/>
            <a:chExt cx="9410700" cy="571500"/>
          </a:xfrm>
        </p:grpSpPr>
        <p:sp>
          <p:nvSpPr>
            <p:cNvPr id="17" name="Freeform 17"/>
            <p:cNvSpPr/>
            <p:nvPr/>
          </p:nvSpPr>
          <p:spPr>
            <a:xfrm>
              <a:off x="0" y="0"/>
              <a:ext cx="9410700" cy="571500"/>
            </a:xfrm>
            <a:custGeom>
              <a:avLst/>
              <a:gdLst/>
              <a:ahLst/>
              <a:cxnLst/>
              <a:rect l="l" t="t" r="r" b="b"/>
              <a:pathLst>
                <a:path w="9410700" h="571500">
                  <a:moveTo>
                    <a:pt x="0" y="114300"/>
                  </a:moveTo>
                  <a:cubicBezTo>
                    <a:pt x="0" y="51181"/>
                    <a:pt x="51181" y="0"/>
                    <a:pt x="114300" y="0"/>
                  </a:cubicBezTo>
                  <a:lnTo>
                    <a:pt x="9296400" y="0"/>
                  </a:lnTo>
                  <a:cubicBezTo>
                    <a:pt x="9359519" y="0"/>
                    <a:pt x="9410700" y="51181"/>
                    <a:pt x="9410700" y="114300"/>
                  </a:cubicBezTo>
                  <a:lnTo>
                    <a:pt x="9410700" y="457200"/>
                  </a:lnTo>
                  <a:cubicBezTo>
                    <a:pt x="9410700" y="520319"/>
                    <a:pt x="9359519" y="571500"/>
                    <a:pt x="9296400" y="571500"/>
                  </a:cubicBezTo>
                  <a:lnTo>
                    <a:pt x="114300" y="571500"/>
                  </a:lnTo>
                  <a:cubicBezTo>
                    <a:pt x="51181" y="571500"/>
                    <a:pt x="0" y="520319"/>
                    <a:pt x="0" y="457200"/>
                  </a:cubicBezTo>
                  <a:close/>
                </a:path>
              </a:pathLst>
            </a:custGeom>
            <a:solidFill>
              <a:srgbClr val="F45B5B"/>
            </a:solidFill>
          </p:spPr>
        </p:sp>
      </p:grpSp>
      <p:grpSp>
        <p:nvGrpSpPr>
          <p:cNvPr id="18" name="Group 18"/>
          <p:cNvGrpSpPr/>
          <p:nvPr/>
        </p:nvGrpSpPr>
        <p:grpSpPr>
          <a:xfrm>
            <a:off x="1328738" y="5699598"/>
            <a:ext cx="1411557" cy="428625"/>
            <a:chOff x="0" y="0"/>
            <a:chExt cx="1882076" cy="571500"/>
          </a:xfrm>
        </p:grpSpPr>
        <p:sp>
          <p:nvSpPr>
            <p:cNvPr id="19" name="Freeform 19"/>
            <p:cNvSpPr/>
            <p:nvPr/>
          </p:nvSpPr>
          <p:spPr>
            <a:xfrm>
              <a:off x="0" y="0"/>
              <a:ext cx="1882140" cy="571500"/>
            </a:xfrm>
            <a:custGeom>
              <a:avLst/>
              <a:gdLst/>
              <a:ahLst/>
              <a:cxnLst/>
              <a:rect l="l" t="t" r="r" b="b"/>
              <a:pathLst>
                <a:path w="1882140" h="571500">
                  <a:moveTo>
                    <a:pt x="0" y="114300"/>
                  </a:moveTo>
                  <a:cubicBezTo>
                    <a:pt x="0" y="51181"/>
                    <a:pt x="51181" y="0"/>
                    <a:pt x="114300" y="0"/>
                  </a:cubicBezTo>
                  <a:lnTo>
                    <a:pt x="1767840" y="0"/>
                  </a:lnTo>
                  <a:cubicBezTo>
                    <a:pt x="1830959" y="0"/>
                    <a:pt x="1882140" y="51181"/>
                    <a:pt x="1882140" y="114300"/>
                  </a:cubicBezTo>
                  <a:lnTo>
                    <a:pt x="1882140" y="457200"/>
                  </a:lnTo>
                  <a:cubicBezTo>
                    <a:pt x="1882140" y="520319"/>
                    <a:pt x="1830959" y="571500"/>
                    <a:pt x="1767840" y="571500"/>
                  </a:cubicBezTo>
                  <a:lnTo>
                    <a:pt x="114300" y="571500"/>
                  </a:lnTo>
                  <a:cubicBezTo>
                    <a:pt x="51181" y="571500"/>
                    <a:pt x="0" y="520319"/>
                    <a:pt x="0" y="457200"/>
                  </a:cubicBezTo>
                  <a:close/>
                </a:path>
              </a:pathLst>
            </a:custGeom>
            <a:solidFill>
              <a:srgbClr val="36D26F"/>
            </a:solidFill>
          </p:spPr>
        </p:sp>
      </p:grpSp>
      <p:grpSp>
        <p:nvGrpSpPr>
          <p:cNvPr id="20" name="Group 20"/>
          <p:cNvGrpSpPr/>
          <p:nvPr/>
        </p:nvGrpSpPr>
        <p:grpSpPr>
          <a:xfrm>
            <a:off x="9372600" y="2142011"/>
            <a:ext cx="8115300" cy="5429250"/>
            <a:chOff x="0" y="0"/>
            <a:chExt cx="10820400" cy="7239000"/>
          </a:xfrm>
        </p:grpSpPr>
        <p:sp>
          <p:nvSpPr>
            <p:cNvPr id="21" name="Freeform 21" descr="image.png"/>
            <p:cNvSpPr/>
            <p:nvPr/>
          </p:nvSpPr>
          <p:spPr>
            <a:xfrm>
              <a:off x="0" y="0"/>
              <a:ext cx="10820400" cy="7239000"/>
            </a:xfrm>
            <a:custGeom>
              <a:avLst/>
              <a:gdLst/>
              <a:ahLst/>
              <a:cxnLst/>
              <a:rect l="l" t="t" r="r" b="b"/>
              <a:pathLst>
                <a:path w="10820400" h="7239000">
                  <a:moveTo>
                    <a:pt x="0" y="0"/>
                  </a:moveTo>
                  <a:lnTo>
                    <a:pt x="10820400" y="0"/>
                  </a:lnTo>
                  <a:lnTo>
                    <a:pt x="10820400" y="7239000"/>
                  </a:lnTo>
                  <a:lnTo>
                    <a:pt x="0" y="7239000"/>
                  </a:lnTo>
                  <a:lnTo>
                    <a:pt x="0" y="0"/>
                  </a:lnTo>
                  <a:close/>
                </a:path>
              </a:pathLst>
            </a:custGeom>
            <a:blipFill>
              <a:blip r:embed="rId2"/>
              <a:stretch>
                <a:fillRect t="-131" b="-131"/>
              </a:stretch>
            </a:blipFill>
          </p:spPr>
        </p:sp>
      </p:grpSp>
      <p:grpSp>
        <p:nvGrpSpPr>
          <p:cNvPr id="22" name="Group 22"/>
          <p:cNvGrpSpPr/>
          <p:nvPr/>
        </p:nvGrpSpPr>
        <p:grpSpPr>
          <a:xfrm>
            <a:off x="11058525" y="8450389"/>
            <a:ext cx="114300" cy="171450"/>
            <a:chOff x="0" y="0"/>
            <a:chExt cx="152400" cy="228600"/>
          </a:xfrm>
        </p:grpSpPr>
        <p:sp>
          <p:nvSpPr>
            <p:cNvPr id="23" name="Freeform 23" descr="image.png"/>
            <p:cNvSpPr/>
            <p:nvPr/>
          </p:nvSpPr>
          <p:spPr>
            <a:xfrm>
              <a:off x="0" y="0"/>
              <a:ext cx="152400" cy="228600"/>
            </a:xfrm>
            <a:custGeom>
              <a:avLst/>
              <a:gdLst/>
              <a:ahLst/>
              <a:cxnLst/>
              <a:rect l="l" t="t" r="r" b="b"/>
              <a:pathLst>
                <a:path w="152400" h="228600">
                  <a:moveTo>
                    <a:pt x="0" y="0"/>
                  </a:moveTo>
                  <a:lnTo>
                    <a:pt x="152400" y="0"/>
                  </a:lnTo>
                  <a:lnTo>
                    <a:pt x="152400" y="228600"/>
                  </a:lnTo>
                  <a:lnTo>
                    <a:pt x="0" y="228600"/>
                  </a:lnTo>
                  <a:lnTo>
                    <a:pt x="0" y="0"/>
                  </a:lnTo>
                  <a:close/>
                </a:path>
              </a:pathLst>
            </a:custGeom>
            <a:blipFill>
              <a:blip r:embed="rId3"/>
              <a:stretch>
                <a:fillRect t="-4166" b="-4166"/>
              </a:stretch>
            </a:blipFill>
          </p:spPr>
        </p:sp>
      </p:grpSp>
      <p:grpSp>
        <p:nvGrpSpPr>
          <p:cNvPr id="24" name="Group 24"/>
          <p:cNvGrpSpPr/>
          <p:nvPr/>
        </p:nvGrpSpPr>
        <p:grpSpPr>
          <a:xfrm>
            <a:off x="13858875" y="8450389"/>
            <a:ext cx="157162" cy="171450"/>
            <a:chOff x="0" y="0"/>
            <a:chExt cx="209550" cy="228600"/>
          </a:xfrm>
        </p:grpSpPr>
        <p:sp>
          <p:nvSpPr>
            <p:cNvPr id="25" name="Freeform 25" descr="image.png"/>
            <p:cNvSpPr/>
            <p:nvPr/>
          </p:nvSpPr>
          <p:spPr>
            <a:xfrm>
              <a:off x="0" y="0"/>
              <a:ext cx="209550" cy="228600"/>
            </a:xfrm>
            <a:custGeom>
              <a:avLst/>
              <a:gdLst/>
              <a:ahLst/>
              <a:cxnLst/>
              <a:rect l="l" t="t" r="r" b="b"/>
              <a:pathLst>
                <a:path w="209550" h="228600">
                  <a:moveTo>
                    <a:pt x="0" y="0"/>
                  </a:moveTo>
                  <a:lnTo>
                    <a:pt x="209550" y="0"/>
                  </a:lnTo>
                  <a:lnTo>
                    <a:pt x="209550" y="228600"/>
                  </a:lnTo>
                  <a:lnTo>
                    <a:pt x="0" y="228600"/>
                  </a:lnTo>
                  <a:lnTo>
                    <a:pt x="0" y="0"/>
                  </a:lnTo>
                  <a:close/>
                </a:path>
              </a:pathLst>
            </a:custGeom>
            <a:blipFill>
              <a:blip r:embed="rId4"/>
              <a:stretch>
                <a:fillRect t="-4166" b="-4166"/>
              </a:stretch>
            </a:blipFill>
          </p:spPr>
        </p:sp>
      </p:grpSp>
      <p:grpSp>
        <p:nvGrpSpPr>
          <p:cNvPr id="28" name="Group 28"/>
          <p:cNvGrpSpPr/>
          <p:nvPr/>
        </p:nvGrpSpPr>
        <p:grpSpPr>
          <a:xfrm>
            <a:off x="1271588" y="6971186"/>
            <a:ext cx="171450" cy="171450"/>
            <a:chOff x="0" y="0"/>
            <a:chExt cx="228600" cy="228600"/>
          </a:xfrm>
        </p:grpSpPr>
        <p:sp>
          <p:nvSpPr>
            <p:cNvPr id="29" name="Freeform 29" descr="image.png"/>
            <p:cNvSpPr/>
            <p:nvPr/>
          </p:nvSpPr>
          <p:spPr>
            <a:xfrm>
              <a:off x="0" y="0"/>
              <a:ext cx="228600" cy="228600"/>
            </a:xfrm>
            <a:custGeom>
              <a:avLst/>
              <a:gdLst/>
              <a:ahLst/>
              <a:cxnLst/>
              <a:rect l="l" t="t" r="r" b="b"/>
              <a:pathLst>
                <a:path w="228600" h="228600">
                  <a:moveTo>
                    <a:pt x="0" y="0"/>
                  </a:moveTo>
                  <a:lnTo>
                    <a:pt x="228600" y="0"/>
                  </a:lnTo>
                  <a:lnTo>
                    <a:pt x="228600" y="228600"/>
                  </a:lnTo>
                  <a:lnTo>
                    <a:pt x="0" y="228600"/>
                  </a:lnTo>
                  <a:lnTo>
                    <a:pt x="0" y="0"/>
                  </a:lnTo>
                  <a:close/>
                </a:path>
              </a:pathLst>
            </a:custGeom>
            <a:blipFill>
              <a:blip r:embed="rId5"/>
              <a:stretch>
                <a:fillRect t="-4166" b="-4166"/>
              </a:stretch>
            </a:blipFill>
          </p:spPr>
        </p:sp>
      </p:grpSp>
      <p:grpSp>
        <p:nvGrpSpPr>
          <p:cNvPr id="30" name="Group 30"/>
          <p:cNvGrpSpPr/>
          <p:nvPr/>
        </p:nvGrpSpPr>
        <p:grpSpPr>
          <a:xfrm>
            <a:off x="8329612" y="8443246"/>
            <a:ext cx="142875" cy="185738"/>
            <a:chOff x="0" y="0"/>
            <a:chExt cx="190500" cy="247650"/>
          </a:xfrm>
        </p:grpSpPr>
        <p:sp>
          <p:nvSpPr>
            <p:cNvPr id="31" name="Freeform 31" descr="image.png"/>
            <p:cNvSpPr/>
            <p:nvPr/>
          </p:nvSpPr>
          <p:spPr>
            <a:xfrm>
              <a:off x="0" y="0"/>
              <a:ext cx="190500" cy="247650"/>
            </a:xfrm>
            <a:custGeom>
              <a:avLst/>
              <a:gdLst/>
              <a:ahLst/>
              <a:cxnLst/>
              <a:rect l="l" t="t" r="r" b="b"/>
              <a:pathLst>
                <a:path w="190500" h="247650">
                  <a:moveTo>
                    <a:pt x="0" y="0"/>
                  </a:moveTo>
                  <a:lnTo>
                    <a:pt x="190500" y="0"/>
                  </a:lnTo>
                  <a:lnTo>
                    <a:pt x="190500" y="247650"/>
                  </a:lnTo>
                  <a:lnTo>
                    <a:pt x="0" y="247650"/>
                  </a:lnTo>
                  <a:lnTo>
                    <a:pt x="0" y="0"/>
                  </a:lnTo>
                  <a:close/>
                </a:path>
              </a:pathLst>
            </a:custGeom>
            <a:blipFill>
              <a:blip r:embed="rId6"/>
              <a:stretch>
                <a:fillRect t="-3846" b="-3846"/>
              </a:stretch>
            </a:blipFill>
          </p:spPr>
        </p:sp>
      </p:grpSp>
      <p:grpSp>
        <p:nvGrpSpPr>
          <p:cNvPr id="32" name="Group 32"/>
          <p:cNvGrpSpPr/>
          <p:nvPr/>
        </p:nvGrpSpPr>
        <p:grpSpPr>
          <a:xfrm>
            <a:off x="11401425" y="8443246"/>
            <a:ext cx="185738" cy="185738"/>
            <a:chOff x="0" y="0"/>
            <a:chExt cx="247650" cy="247650"/>
          </a:xfrm>
        </p:grpSpPr>
        <p:sp>
          <p:nvSpPr>
            <p:cNvPr id="33" name="Freeform 33" descr="image.png"/>
            <p:cNvSpPr/>
            <p:nvPr/>
          </p:nvSpPr>
          <p:spPr>
            <a:xfrm>
              <a:off x="0" y="0"/>
              <a:ext cx="247650" cy="247650"/>
            </a:xfrm>
            <a:custGeom>
              <a:avLst/>
              <a:gdLst/>
              <a:ahLst/>
              <a:cxnLst/>
              <a:rect l="l" t="t" r="r" b="b"/>
              <a:pathLst>
                <a:path w="247650" h="247650">
                  <a:moveTo>
                    <a:pt x="0" y="0"/>
                  </a:moveTo>
                  <a:lnTo>
                    <a:pt x="247650" y="0"/>
                  </a:lnTo>
                  <a:lnTo>
                    <a:pt x="247650" y="247650"/>
                  </a:lnTo>
                  <a:lnTo>
                    <a:pt x="0" y="247650"/>
                  </a:lnTo>
                  <a:lnTo>
                    <a:pt x="0" y="0"/>
                  </a:lnTo>
                  <a:close/>
                </a:path>
              </a:pathLst>
            </a:custGeom>
            <a:blipFill>
              <a:blip r:embed="rId7"/>
              <a:stretch>
                <a:fillRect t="-3846" b="-3846"/>
              </a:stretch>
            </a:blipFill>
          </p:spPr>
        </p:sp>
      </p:grpSp>
      <p:grpSp>
        <p:nvGrpSpPr>
          <p:cNvPr id="34" name="Group 34"/>
          <p:cNvGrpSpPr/>
          <p:nvPr/>
        </p:nvGrpSpPr>
        <p:grpSpPr>
          <a:xfrm>
            <a:off x="14244638" y="8443246"/>
            <a:ext cx="142875" cy="185738"/>
            <a:chOff x="0" y="0"/>
            <a:chExt cx="190500" cy="247650"/>
          </a:xfrm>
        </p:grpSpPr>
        <p:sp>
          <p:nvSpPr>
            <p:cNvPr id="35" name="Freeform 35" descr="image.png"/>
            <p:cNvSpPr/>
            <p:nvPr/>
          </p:nvSpPr>
          <p:spPr>
            <a:xfrm>
              <a:off x="0" y="0"/>
              <a:ext cx="190500" cy="247650"/>
            </a:xfrm>
            <a:custGeom>
              <a:avLst/>
              <a:gdLst/>
              <a:ahLst/>
              <a:cxnLst/>
              <a:rect l="l" t="t" r="r" b="b"/>
              <a:pathLst>
                <a:path w="190500" h="247650">
                  <a:moveTo>
                    <a:pt x="0" y="0"/>
                  </a:moveTo>
                  <a:lnTo>
                    <a:pt x="190500" y="0"/>
                  </a:lnTo>
                  <a:lnTo>
                    <a:pt x="190500" y="247650"/>
                  </a:lnTo>
                  <a:lnTo>
                    <a:pt x="0" y="247650"/>
                  </a:lnTo>
                  <a:lnTo>
                    <a:pt x="0" y="0"/>
                  </a:lnTo>
                  <a:close/>
                </a:path>
              </a:pathLst>
            </a:custGeom>
            <a:blipFill>
              <a:blip r:embed="rId8"/>
              <a:stretch>
                <a:fillRect t="-3846" b="-3846"/>
              </a:stretch>
            </a:blipFill>
          </p:spPr>
        </p:sp>
      </p:grpSp>
      <p:grpSp>
        <p:nvGrpSpPr>
          <p:cNvPr id="36" name="Group 36"/>
          <p:cNvGrpSpPr/>
          <p:nvPr/>
        </p:nvGrpSpPr>
        <p:grpSpPr>
          <a:xfrm>
            <a:off x="1271588" y="2592067"/>
            <a:ext cx="257175" cy="257175"/>
            <a:chOff x="0" y="0"/>
            <a:chExt cx="342900" cy="342900"/>
          </a:xfrm>
        </p:grpSpPr>
        <p:sp>
          <p:nvSpPr>
            <p:cNvPr id="37" name="Freeform 37" descr="image.png"/>
            <p:cNvSpPr/>
            <p:nvPr/>
          </p:nvSpPr>
          <p:spPr>
            <a:xfrm>
              <a:off x="0" y="0"/>
              <a:ext cx="342900" cy="342900"/>
            </a:xfrm>
            <a:custGeom>
              <a:avLst/>
              <a:gdLst/>
              <a:ahLst/>
              <a:cxnLst/>
              <a:rect l="l" t="t" r="r" b="b"/>
              <a:pathLst>
                <a:path w="342900" h="342900">
                  <a:moveTo>
                    <a:pt x="0" y="0"/>
                  </a:moveTo>
                  <a:lnTo>
                    <a:pt x="342900" y="0"/>
                  </a:lnTo>
                  <a:lnTo>
                    <a:pt x="342900" y="342900"/>
                  </a:lnTo>
                  <a:lnTo>
                    <a:pt x="0" y="342900"/>
                  </a:lnTo>
                  <a:lnTo>
                    <a:pt x="0" y="0"/>
                  </a:lnTo>
                  <a:close/>
                </a:path>
              </a:pathLst>
            </a:custGeom>
            <a:blipFill>
              <a:blip r:embed="rId9"/>
              <a:stretch>
                <a:fillRect t="-2777" b="-2777"/>
              </a:stretch>
            </a:blipFill>
          </p:spPr>
        </p:sp>
      </p:grpSp>
      <p:grpSp>
        <p:nvGrpSpPr>
          <p:cNvPr id="38" name="Group 38"/>
          <p:cNvGrpSpPr/>
          <p:nvPr/>
        </p:nvGrpSpPr>
        <p:grpSpPr>
          <a:xfrm>
            <a:off x="9844088" y="2592067"/>
            <a:ext cx="257175" cy="257175"/>
            <a:chOff x="0" y="0"/>
            <a:chExt cx="342900" cy="342900"/>
          </a:xfrm>
        </p:grpSpPr>
        <p:sp>
          <p:nvSpPr>
            <p:cNvPr id="39" name="Freeform 39" descr="image.png"/>
            <p:cNvSpPr/>
            <p:nvPr/>
          </p:nvSpPr>
          <p:spPr>
            <a:xfrm>
              <a:off x="0" y="0"/>
              <a:ext cx="342900" cy="342900"/>
            </a:xfrm>
            <a:custGeom>
              <a:avLst/>
              <a:gdLst/>
              <a:ahLst/>
              <a:cxnLst/>
              <a:rect l="l" t="t" r="r" b="b"/>
              <a:pathLst>
                <a:path w="342900" h="342900">
                  <a:moveTo>
                    <a:pt x="0" y="0"/>
                  </a:moveTo>
                  <a:lnTo>
                    <a:pt x="342900" y="0"/>
                  </a:lnTo>
                  <a:lnTo>
                    <a:pt x="342900" y="342900"/>
                  </a:lnTo>
                  <a:lnTo>
                    <a:pt x="0" y="342900"/>
                  </a:lnTo>
                  <a:lnTo>
                    <a:pt x="0" y="0"/>
                  </a:lnTo>
                  <a:close/>
                </a:path>
              </a:pathLst>
            </a:custGeom>
            <a:blipFill>
              <a:blip r:embed="rId10"/>
              <a:stretch>
                <a:fillRect t="-2777" b="-2777"/>
              </a:stretch>
            </a:blipFill>
          </p:spPr>
        </p:sp>
      </p:grpSp>
      <p:grpSp>
        <p:nvGrpSpPr>
          <p:cNvPr id="40" name="Group 40"/>
          <p:cNvGrpSpPr/>
          <p:nvPr/>
        </p:nvGrpSpPr>
        <p:grpSpPr>
          <a:xfrm>
            <a:off x="9844088" y="6642573"/>
            <a:ext cx="157162" cy="171450"/>
            <a:chOff x="0" y="0"/>
            <a:chExt cx="209550" cy="228600"/>
          </a:xfrm>
        </p:grpSpPr>
        <p:sp>
          <p:nvSpPr>
            <p:cNvPr id="41" name="Freeform 41" descr="image.png"/>
            <p:cNvSpPr/>
            <p:nvPr/>
          </p:nvSpPr>
          <p:spPr>
            <a:xfrm>
              <a:off x="0" y="0"/>
              <a:ext cx="209550" cy="228600"/>
            </a:xfrm>
            <a:custGeom>
              <a:avLst/>
              <a:gdLst/>
              <a:ahLst/>
              <a:cxnLst/>
              <a:rect l="l" t="t" r="r" b="b"/>
              <a:pathLst>
                <a:path w="209550" h="228600">
                  <a:moveTo>
                    <a:pt x="0" y="0"/>
                  </a:moveTo>
                  <a:lnTo>
                    <a:pt x="209550" y="0"/>
                  </a:lnTo>
                  <a:lnTo>
                    <a:pt x="209550" y="228600"/>
                  </a:lnTo>
                  <a:lnTo>
                    <a:pt x="0" y="228600"/>
                  </a:lnTo>
                  <a:lnTo>
                    <a:pt x="0" y="0"/>
                  </a:lnTo>
                  <a:close/>
                </a:path>
              </a:pathLst>
            </a:custGeom>
            <a:blipFill>
              <a:blip r:embed="rId11"/>
              <a:stretch>
                <a:fillRect t="-4166" b="-4166"/>
              </a:stretch>
            </a:blipFill>
          </p:spPr>
        </p:sp>
      </p:grpSp>
      <p:grpSp>
        <p:nvGrpSpPr>
          <p:cNvPr id="42" name="Group 42"/>
          <p:cNvGrpSpPr/>
          <p:nvPr/>
        </p:nvGrpSpPr>
        <p:grpSpPr>
          <a:xfrm>
            <a:off x="13487400" y="6642573"/>
            <a:ext cx="157162" cy="171450"/>
            <a:chOff x="0" y="0"/>
            <a:chExt cx="209550" cy="228600"/>
          </a:xfrm>
        </p:grpSpPr>
        <p:sp>
          <p:nvSpPr>
            <p:cNvPr id="43" name="Freeform 43" descr="image.png"/>
            <p:cNvSpPr/>
            <p:nvPr/>
          </p:nvSpPr>
          <p:spPr>
            <a:xfrm>
              <a:off x="0" y="0"/>
              <a:ext cx="209550" cy="228600"/>
            </a:xfrm>
            <a:custGeom>
              <a:avLst/>
              <a:gdLst/>
              <a:ahLst/>
              <a:cxnLst/>
              <a:rect l="l" t="t" r="r" b="b"/>
              <a:pathLst>
                <a:path w="209550" h="228600">
                  <a:moveTo>
                    <a:pt x="0" y="0"/>
                  </a:moveTo>
                  <a:lnTo>
                    <a:pt x="209550" y="0"/>
                  </a:lnTo>
                  <a:lnTo>
                    <a:pt x="209550" y="228600"/>
                  </a:lnTo>
                  <a:lnTo>
                    <a:pt x="0" y="228600"/>
                  </a:lnTo>
                  <a:lnTo>
                    <a:pt x="0" y="0"/>
                  </a:lnTo>
                  <a:close/>
                </a:path>
              </a:pathLst>
            </a:custGeom>
            <a:blipFill>
              <a:blip r:embed="rId11"/>
              <a:stretch>
                <a:fillRect t="-4166" b="-4166"/>
              </a:stretch>
            </a:blipFill>
          </p:spPr>
        </p:sp>
      </p:grpSp>
      <p:grpSp>
        <p:nvGrpSpPr>
          <p:cNvPr id="44" name="Group 44"/>
          <p:cNvGrpSpPr/>
          <p:nvPr/>
        </p:nvGrpSpPr>
        <p:grpSpPr>
          <a:xfrm>
            <a:off x="9844088" y="6971186"/>
            <a:ext cx="157162" cy="171450"/>
            <a:chOff x="0" y="0"/>
            <a:chExt cx="209550" cy="228600"/>
          </a:xfrm>
        </p:grpSpPr>
        <p:sp>
          <p:nvSpPr>
            <p:cNvPr id="45" name="Freeform 45" descr="image.png"/>
            <p:cNvSpPr/>
            <p:nvPr/>
          </p:nvSpPr>
          <p:spPr>
            <a:xfrm>
              <a:off x="0" y="0"/>
              <a:ext cx="209550" cy="228600"/>
            </a:xfrm>
            <a:custGeom>
              <a:avLst/>
              <a:gdLst/>
              <a:ahLst/>
              <a:cxnLst/>
              <a:rect l="l" t="t" r="r" b="b"/>
              <a:pathLst>
                <a:path w="209550" h="228600">
                  <a:moveTo>
                    <a:pt x="0" y="0"/>
                  </a:moveTo>
                  <a:lnTo>
                    <a:pt x="209550" y="0"/>
                  </a:lnTo>
                  <a:lnTo>
                    <a:pt x="209550" y="228600"/>
                  </a:lnTo>
                  <a:lnTo>
                    <a:pt x="0" y="228600"/>
                  </a:lnTo>
                  <a:lnTo>
                    <a:pt x="0" y="0"/>
                  </a:lnTo>
                  <a:close/>
                </a:path>
              </a:pathLst>
            </a:custGeom>
            <a:blipFill>
              <a:blip r:embed="rId11"/>
              <a:stretch>
                <a:fillRect t="-4166" b="-4166"/>
              </a:stretch>
            </a:blipFill>
          </p:spPr>
        </p:sp>
      </p:grpSp>
      <p:grpSp>
        <p:nvGrpSpPr>
          <p:cNvPr id="46" name="Group 46"/>
          <p:cNvGrpSpPr/>
          <p:nvPr/>
        </p:nvGrpSpPr>
        <p:grpSpPr>
          <a:xfrm>
            <a:off x="13487400" y="6971186"/>
            <a:ext cx="157162" cy="171450"/>
            <a:chOff x="0" y="0"/>
            <a:chExt cx="209550" cy="228600"/>
          </a:xfrm>
        </p:grpSpPr>
        <p:sp>
          <p:nvSpPr>
            <p:cNvPr id="47" name="Freeform 47" descr="image.png"/>
            <p:cNvSpPr/>
            <p:nvPr/>
          </p:nvSpPr>
          <p:spPr>
            <a:xfrm>
              <a:off x="0" y="0"/>
              <a:ext cx="209550" cy="228600"/>
            </a:xfrm>
            <a:custGeom>
              <a:avLst/>
              <a:gdLst/>
              <a:ahLst/>
              <a:cxnLst/>
              <a:rect l="l" t="t" r="r" b="b"/>
              <a:pathLst>
                <a:path w="209550" h="228600">
                  <a:moveTo>
                    <a:pt x="0" y="0"/>
                  </a:moveTo>
                  <a:lnTo>
                    <a:pt x="209550" y="0"/>
                  </a:lnTo>
                  <a:lnTo>
                    <a:pt x="209550" y="228600"/>
                  </a:lnTo>
                  <a:lnTo>
                    <a:pt x="0" y="228600"/>
                  </a:lnTo>
                  <a:lnTo>
                    <a:pt x="0" y="0"/>
                  </a:lnTo>
                  <a:close/>
                </a:path>
              </a:pathLst>
            </a:custGeom>
            <a:blipFill>
              <a:blip r:embed="rId11"/>
              <a:stretch>
                <a:fillRect t="-4166" b="-4166"/>
              </a:stretch>
            </a:blipFill>
          </p:spPr>
        </p:sp>
      </p:grpSp>
      <p:sp>
        <p:nvSpPr>
          <p:cNvPr id="48" name="TextBox 48"/>
          <p:cNvSpPr txBox="1"/>
          <p:nvPr/>
        </p:nvSpPr>
        <p:spPr>
          <a:xfrm>
            <a:off x="1157288" y="8409908"/>
            <a:ext cx="2628957" cy="233362"/>
          </a:xfrm>
          <a:prstGeom prst="rect">
            <a:avLst/>
          </a:prstGeom>
        </p:spPr>
        <p:txBody>
          <a:bodyPr lIns="0" tIns="0" rIns="0" bIns="0" rtlCol="0" anchor="t">
            <a:spAutoFit/>
          </a:bodyPr>
          <a:lstStyle/>
          <a:p>
            <a:pPr algn="l">
              <a:lnSpc>
                <a:spcPts val="1620"/>
              </a:lnSpc>
            </a:pPr>
            <a:r>
              <a:rPr lang="en-US" sz="1350" b="1">
                <a:solidFill>
                  <a:srgbClr val="EA8A2A"/>
                </a:solidFill>
                <a:latin typeface="Arimo Bold"/>
                <a:ea typeface="Arimo Bold"/>
                <a:cs typeface="Arimo Bold"/>
                <a:sym typeface="Arimo Bold"/>
              </a:rPr>
              <a:t>COMMERCIAL MODEL:</a:t>
            </a:r>
          </a:p>
        </p:txBody>
      </p:sp>
      <p:sp>
        <p:nvSpPr>
          <p:cNvPr id="49" name="TextBox 49"/>
          <p:cNvSpPr txBox="1"/>
          <p:nvPr/>
        </p:nvSpPr>
        <p:spPr>
          <a:xfrm>
            <a:off x="11444288" y="9367618"/>
            <a:ext cx="6843712" cy="233362"/>
          </a:xfrm>
          <a:prstGeom prst="rect">
            <a:avLst/>
          </a:prstGeom>
        </p:spPr>
        <p:txBody>
          <a:bodyPr lIns="0" tIns="0" rIns="0" bIns="0" rtlCol="0" anchor="t">
            <a:spAutoFit/>
          </a:bodyPr>
          <a:lstStyle/>
          <a:p>
            <a:pPr algn="l">
              <a:lnSpc>
                <a:spcPts val="1620"/>
              </a:lnSpc>
            </a:pPr>
            <a:r>
              <a:rPr lang="en-US" sz="1350">
                <a:solidFill>
                  <a:srgbClr val="64748B"/>
                </a:solidFill>
                <a:latin typeface="Arimo"/>
                <a:ea typeface="Arimo"/>
                <a:cs typeface="Arimo"/>
                <a:sym typeface="Arimo"/>
              </a:rPr>
              <a:t>Expansion: Multi-branch deployment under identical software architecture</a:t>
            </a:r>
          </a:p>
        </p:txBody>
      </p:sp>
      <p:sp>
        <p:nvSpPr>
          <p:cNvPr id="50" name="TextBox 50"/>
          <p:cNvSpPr txBox="1"/>
          <p:nvPr/>
        </p:nvSpPr>
        <p:spPr>
          <a:xfrm>
            <a:off x="800100" y="676275"/>
            <a:ext cx="15555792" cy="238125"/>
          </a:xfrm>
          <a:prstGeom prst="rect">
            <a:avLst/>
          </a:prstGeom>
        </p:spPr>
        <p:txBody>
          <a:bodyPr lIns="0" tIns="0" rIns="0" bIns="0" rtlCol="0" anchor="t">
            <a:spAutoFit/>
          </a:bodyPr>
          <a:lstStyle/>
          <a:p>
            <a:pPr algn="l">
              <a:lnSpc>
                <a:spcPts val="1755"/>
              </a:lnSpc>
            </a:pPr>
            <a:r>
              <a:rPr lang="en-US" sz="1462" b="1">
                <a:solidFill>
                  <a:srgbClr val="EA8A2A"/>
                </a:solidFill>
                <a:latin typeface="Arimo Bold"/>
                <a:ea typeface="Arimo Bold"/>
                <a:cs typeface="Arimo Bold"/>
                <a:sym typeface="Arimo Bold"/>
              </a:rPr>
              <a:t>QUANTIFIABLE BUSINESS CASE</a:t>
            </a:r>
          </a:p>
        </p:txBody>
      </p:sp>
      <p:sp>
        <p:nvSpPr>
          <p:cNvPr id="51" name="TextBox 51"/>
          <p:cNvSpPr txBox="1"/>
          <p:nvPr/>
        </p:nvSpPr>
        <p:spPr>
          <a:xfrm>
            <a:off x="800100" y="1009650"/>
            <a:ext cx="13701712" cy="646952"/>
          </a:xfrm>
          <a:prstGeom prst="rect">
            <a:avLst/>
          </a:prstGeom>
        </p:spPr>
        <p:txBody>
          <a:bodyPr lIns="0" tIns="0" rIns="0" bIns="0" rtlCol="0" anchor="t">
            <a:spAutoFit/>
          </a:bodyPr>
          <a:lstStyle/>
          <a:p>
            <a:pPr algn="l">
              <a:lnSpc>
                <a:spcPts val="5000"/>
              </a:lnSpc>
            </a:pPr>
            <a:r>
              <a:rPr lang="en-US" sz="4349" b="1">
                <a:solidFill>
                  <a:srgbClr val="FFFFFF"/>
                </a:solidFill>
                <a:latin typeface="Roboto Bold"/>
                <a:ea typeface="Roboto Bold"/>
                <a:cs typeface="Roboto Bold"/>
                <a:sym typeface="Roboto Bold"/>
              </a:rPr>
              <a:t>Measuring the Pilot Impact: 50 Hours Saved / Month</a:t>
            </a:r>
          </a:p>
        </p:txBody>
      </p:sp>
      <p:sp>
        <p:nvSpPr>
          <p:cNvPr id="52" name="TextBox 52"/>
          <p:cNvSpPr txBox="1"/>
          <p:nvPr/>
        </p:nvSpPr>
        <p:spPr>
          <a:xfrm>
            <a:off x="15097434" y="1208141"/>
            <a:ext cx="2386012" cy="266700"/>
          </a:xfrm>
          <a:prstGeom prst="rect">
            <a:avLst/>
          </a:prstGeom>
        </p:spPr>
        <p:txBody>
          <a:bodyPr lIns="0" tIns="0" rIns="0" bIns="0" rtlCol="0" anchor="t">
            <a:spAutoFit/>
          </a:bodyPr>
          <a:lstStyle/>
          <a:p>
            <a:pPr algn="l">
              <a:lnSpc>
                <a:spcPts val="1755"/>
              </a:lnSpc>
            </a:pPr>
            <a:r>
              <a:rPr lang="en-US" sz="1462" b="1" dirty="0">
                <a:solidFill>
                  <a:srgbClr val="EA8A2A"/>
                </a:solidFill>
                <a:latin typeface="Arimo Bold"/>
                <a:ea typeface="Arimo Bold"/>
                <a:cs typeface="Arimo Bold"/>
                <a:sym typeface="Arimo Bold"/>
              </a:rPr>
              <a:t>Pilot Validation Model</a:t>
            </a:r>
          </a:p>
        </p:txBody>
      </p:sp>
      <p:sp>
        <p:nvSpPr>
          <p:cNvPr id="53" name="TextBox 53"/>
          <p:cNvSpPr txBox="1"/>
          <p:nvPr/>
        </p:nvSpPr>
        <p:spPr>
          <a:xfrm>
            <a:off x="1423988" y="6909273"/>
            <a:ext cx="7162800" cy="247650"/>
          </a:xfrm>
          <a:prstGeom prst="rect">
            <a:avLst/>
          </a:prstGeom>
        </p:spPr>
        <p:txBody>
          <a:bodyPr lIns="0" tIns="0" rIns="0" bIns="0" rtlCol="0" anchor="t">
            <a:spAutoFit/>
          </a:bodyPr>
          <a:lstStyle/>
          <a:p>
            <a:pPr algn="l">
              <a:lnSpc>
                <a:spcPts val="1620"/>
              </a:lnSpc>
            </a:pPr>
            <a:r>
              <a:rPr lang="en-US" sz="1350">
                <a:solidFill>
                  <a:srgbClr val="64748B"/>
                </a:solidFill>
                <a:latin typeface="Arimo"/>
                <a:ea typeface="Arimo"/>
                <a:cs typeface="Arimo"/>
                <a:sym typeface="Arimo"/>
              </a:rPr>
              <a:t>Based on 1,000 monthly cases at 3 mins per follow-up enquiry.</a:t>
            </a:r>
          </a:p>
        </p:txBody>
      </p:sp>
      <p:grpSp>
        <p:nvGrpSpPr>
          <p:cNvPr id="54" name="Group 54"/>
          <p:cNvGrpSpPr/>
          <p:nvPr/>
        </p:nvGrpSpPr>
        <p:grpSpPr>
          <a:xfrm>
            <a:off x="1671638" y="2556348"/>
            <a:ext cx="8565356" cy="328612"/>
            <a:chOff x="0" y="0"/>
            <a:chExt cx="11420475" cy="438150"/>
          </a:xfrm>
        </p:grpSpPr>
        <p:sp>
          <p:nvSpPr>
            <p:cNvPr id="55" name="Freeform 55"/>
            <p:cNvSpPr/>
            <p:nvPr/>
          </p:nvSpPr>
          <p:spPr>
            <a:xfrm>
              <a:off x="0" y="0"/>
              <a:ext cx="11420474" cy="438150"/>
            </a:xfrm>
            <a:custGeom>
              <a:avLst/>
              <a:gdLst/>
              <a:ahLst/>
              <a:cxnLst/>
              <a:rect l="l" t="t" r="r" b="b"/>
              <a:pathLst>
                <a:path w="11420474" h="438150">
                  <a:moveTo>
                    <a:pt x="0" y="0"/>
                  </a:moveTo>
                  <a:lnTo>
                    <a:pt x="11420474" y="0"/>
                  </a:lnTo>
                  <a:lnTo>
                    <a:pt x="11420474" y="438150"/>
                  </a:lnTo>
                  <a:lnTo>
                    <a:pt x="0" y="438150"/>
                  </a:lnTo>
                  <a:close/>
                </a:path>
              </a:pathLst>
            </a:custGeom>
            <a:blipFill>
              <a:blip r:embed="rId12">
                <a:alphaModFix amt="0"/>
              </a:blip>
              <a:stretch>
                <a:fillRect t="-457881" b="-457881"/>
              </a:stretch>
            </a:blipFill>
          </p:spPr>
        </p:sp>
        <p:sp>
          <p:nvSpPr>
            <p:cNvPr id="56" name="TextBox 56"/>
            <p:cNvSpPr txBox="1"/>
            <p:nvPr/>
          </p:nvSpPr>
          <p:spPr>
            <a:xfrm>
              <a:off x="0" y="-9525"/>
              <a:ext cx="11420475" cy="447675"/>
            </a:xfrm>
            <a:prstGeom prst="rect">
              <a:avLst/>
            </a:prstGeom>
          </p:spPr>
          <p:txBody>
            <a:bodyPr lIns="0" tIns="0" rIns="0" bIns="0" rtlCol="0" anchor="ctr"/>
            <a:lstStyle/>
            <a:p>
              <a:pPr algn="l">
                <a:lnSpc>
                  <a:spcPts val="2430"/>
                </a:lnSpc>
              </a:pPr>
              <a:r>
                <a:rPr lang="en-US" sz="2025" b="1">
                  <a:solidFill>
                    <a:srgbClr val="FFFFFF"/>
                  </a:solidFill>
                  <a:latin typeface="Arimo Bold"/>
                  <a:ea typeface="Arimo Bold"/>
                  <a:cs typeface="Arimo Bold"/>
                  <a:sym typeface="Arimo Bold"/>
                </a:rPr>
                <a:t>Monthly Staff Workload per 1,000 Cases</a:t>
              </a:r>
            </a:p>
          </p:txBody>
        </p:sp>
      </p:grpSp>
      <p:sp>
        <p:nvSpPr>
          <p:cNvPr id="57" name="TextBox 57"/>
          <p:cNvSpPr txBox="1"/>
          <p:nvPr/>
        </p:nvSpPr>
        <p:spPr>
          <a:xfrm>
            <a:off x="1271588" y="2923061"/>
            <a:ext cx="8965406" cy="233362"/>
          </a:xfrm>
          <a:prstGeom prst="rect">
            <a:avLst/>
          </a:prstGeom>
        </p:spPr>
        <p:txBody>
          <a:bodyPr lIns="0" tIns="0" rIns="0" bIns="0" rtlCol="0" anchor="t">
            <a:spAutoFit/>
          </a:bodyPr>
          <a:lstStyle/>
          <a:p>
            <a:pPr algn="l">
              <a:lnSpc>
                <a:spcPts val="1620"/>
              </a:lnSpc>
            </a:pPr>
            <a:r>
              <a:rPr lang="en-US" sz="1350">
                <a:solidFill>
                  <a:srgbClr val="94A3B8"/>
                </a:solidFill>
                <a:latin typeface="Arimo"/>
                <a:ea typeface="Arimo"/>
                <a:cs typeface="Arimo"/>
                <a:sym typeface="Arimo"/>
              </a:rPr>
              <a:t>Comparison of manual follow-up time vs. automated resolution</a:t>
            </a:r>
          </a:p>
        </p:txBody>
      </p:sp>
      <p:grpSp>
        <p:nvGrpSpPr>
          <p:cNvPr id="58" name="Group 58"/>
          <p:cNvGrpSpPr/>
          <p:nvPr/>
        </p:nvGrpSpPr>
        <p:grpSpPr>
          <a:xfrm>
            <a:off x="10244138" y="2556348"/>
            <a:ext cx="8043862" cy="328612"/>
            <a:chOff x="0" y="0"/>
            <a:chExt cx="10725150" cy="438150"/>
          </a:xfrm>
        </p:grpSpPr>
        <p:sp>
          <p:nvSpPr>
            <p:cNvPr id="59" name="Freeform 59"/>
            <p:cNvSpPr/>
            <p:nvPr/>
          </p:nvSpPr>
          <p:spPr>
            <a:xfrm>
              <a:off x="0" y="0"/>
              <a:ext cx="10725150" cy="438150"/>
            </a:xfrm>
            <a:custGeom>
              <a:avLst/>
              <a:gdLst/>
              <a:ahLst/>
              <a:cxnLst/>
              <a:rect l="l" t="t" r="r" b="b"/>
              <a:pathLst>
                <a:path w="10725150" h="438150">
                  <a:moveTo>
                    <a:pt x="0" y="0"/>
                  </a:moveTo>
                  <a:lnTo>
                    <a:pt x="10725150" y="0"/>
                  </a:lnTo>
                  <a:lnTo>
                    <a:pt x="10725150" y="438150"/>
                  </a:lnTo>
                  <a:lnTo>
                    <a:pt x="0" y="438150"/>
                  </a:lnTo>
                  <a:close/>
                </a:path>
              </a:pathLst>
            </a:custGeom>
            <a:blipFill>
              <a:blip r:embed="rId12">
                <a:alphaModFix amt="0"/>
              </a:blip>
              <a:stretch>
                <a:fillRect t="-426959" b="-426959"/>
              </a:stretch>
            </a:blipFill>
          </p:spPr>
        </p:sp>
        <p:sp>
          <p:nvSpPr>
            <p:cNvPr id="60" name="TextBox 60"/>
            <p:cNvSpPr txBox="1"/>
            <p:nvPr/>
          </p:nvSpPr>
          <p:spPr>
            <a:xfrm>
              <a:off x="0" y="-9525"/>
              <a:ext cx="10725150" cy="447675"/>
            </a:xfrm>
            <a:prstGeom prst="rect">
              <a:avLst/>
            </a:prstGeom>
          </p:spPr>
          <p:txBody>
            <a:bodyPr lIns="0" tIns="0" rIns="0" bIns="0" rtlCol="0" anchor="ctr"/>
            <a:lstStyle/>
            <a:p>
              <a:pPr algn="l">
                <a:lnSpc>
                  <a:spcPts val="2430"/>
                </a:lnSpc>
              </a:pPr>
              <a:r>
                <a:rPr lang="en-US" sz="2025" b="1">
                  <a:solidFill>
                    <a:srgbClr val="EA8A2A"/>
                  </a:solidFill>
                  <a:latin typeface="Arimo Bold"/>
                  <a:ea typeface="Arimo Bold"/>
                  <a:cs typeface="Arimo Bold"/>
                  <a:sym typeface="Arimo Bold"/>
                </a:rPr>
                <a:t>Pilot ROI &amp; Workload Reduction</a:t>
              </a:r>
            </a:p>
          </p:txBody>
        </p:sp>
      </p:grpSp>
      <p:sp>
        <p:nvSpPr>
          <p:cNvPr id="61" name="TextBox 61"/>
          <p:cNvSpPr txBox="1"/>
          <p:nvPr/>
        </p:nvSpPr>
        <p:spPr>
          <a:xfrm>
            <a:off x="9844088" y="2923061"/>
            <a:ext cx="8443912" cy="233362"/>
          </a:xfrm>
          <a:prstGeom prst="rect">
            <a:avLst/>
          </a:prstGeom>
        </p:spPr>
        <p:txBody>
          <a:bodyPr lIns="0" tIns="0" rIns="0" bIns="0" rtlCol="0" anchor="t">
            <a:spAutoFit/>
          </a:bodyPr>
          <a:lstStyle/>
          <a:p>
            <a:pPr algn="l">
              <a:lnSpc>
                <a:spcPts val="1620"/>
              </a:lnSpc>
            </a:pPr>
            <a:r>
              <a:rPr lang="en-US" sz="1350">
                <a:solidFill>
                  <a:srgbClr val="94A3B8"/>
                </a:solidFill>
                <a:latin typeface="Arimo"/>
                <a:ea typeface="Arimo"/>
                <a:cs typeface="Arimo"/>
                <a:sym typeface="Arimo"/>
              </a:rPr>
              <a:t>Direct capacity reclaimed for merchant support teams</a:t>
            </a:r>
          </a:p>
        </p:txBody>
      </p:sp>
      <p:sp>
        <p:nvSpPr>
          <p:cNvPr id="62" name="TextBox 62"/>
          <p:cNvSpPr txBox="1"/>
          <p:nvPr/>
        </p:nvSpPr>
        <p:spPr>
          <a:xfrm>
            <a:off x="9986962" y="6594948"/>
            <a:ext cx="4268391" cy="233362"/>
          </a:xfrm>
          <a:prstGeom prst="rect">
            <a:avLst/>
          </a:prstGeom>
        </p:spPr>
        <p:txBody>
          <a:bodyPr lIns="0" tIns="0" rIns="0" bIns="0" rtlCol="0" anchor="t">
            <a:spAutoFit/>
          </a:bodyPr>
          <a:lstStyle/>
          <a:p>
            <a:pPr algn="l">
              <a:lnSpc>
                <a:spcPts val="1620"/>
              </a:lnSpc>
            </a:pPr>
            <a:r>
              <a:rPr lang="en-US" sz="1350" b="1">
                <a:solidFill>
                  <a:srgbClr val="22C55E"/>
                </a:solidFill>
                <a:latin typeface="Arimo Bold"/>
                <a:ea typeface="Arimo Bold"/>
                <a:cs typeface="Arimo Bold"/>
                <a:sym typeface="Arimo Bold"/>
              </a:rPr>
              <a:t>Staff Hours</a:t>
            </a:r>
          </a:p>
        </p:txBody>
      </p:sp>
      <p:sp>
        <p:nvSpPr>
          <p:cNvPr id="63" name="TextBox 63"/>
          <p:cNvSpPr txBox="1"/>
          <p:nvPr/>
        </p:nvSpPr>
        <p:spPr>
          <a:xfrm>
            <a:off x="13630275" y="6594948"/>
            <a:ext cx="4268391" cy="233362"/>
          </a:xfrm>
          <a:prstGeom prst="rect">
            <a:avLst/>
          </a:prstGeom>
        </p:spPr>
        <p:txBody>
          <a:bodyPr lIns="0" tIns="0" rIns="0" bIns="0" rtlCol="0" anchor="t">
            <a:spAutoFit/>
          </a:bodyPr>
          <a:lstStyle/>
          <a:p>
            <a:pPr algn="l">
              <a:lnSpc>
                <a:spcPts val="1620"/>
              </a:lnSpc>
            </a:pPr>
            <a:r>
              <a:rPr lang="en-US" sz="1350" b="1">
                <a:solidFill>
                  <a:srgbClr val="22C55E"/>
                </a:solidFill>
                <a:latin typeface="Arimo Bold"/>
                <a:ea typeface="Arimo Bold"/>
                <a:cs typeface="Arimo Bold"/>
                <a:sym typeface="Arimo Bold"/>
              </a:rPr>
              <a:t>Repeat Enquiries</a:t>
            </a:r>
          </a:p>
        </p:txBody>
      </p:sp>
      <p:sp>
        <p:nvSpPr>
          <p:cNvPr id="64" name="TextBox 64"/>
          <p:cNvSpPr txBox="1"/>
          <p:nvPr/>
        </p:nvSpPr>
        <p:spPr>
          <a:xfrm>
            <a:off x="9986962" y="6923561"/>
            <a:ext cx="4268391" cy="233362"/>
          </a:xfrm>
          <a:prstGeom prst="rect">
            <a:avLst/>
          </a:prstGeom>
        </p:spPr>
        <p:txBody>
          <a:bodyPr lIns="0" tIns="0" rIns="0" bIns="0" rtlCol="0" anchor="t">
            <a:spAutoFit/>
          </a:bodyPr>
          <a:lstStyle/>
          <a:p>
            <a:pPr algn="l">
              <a:lnSpc>
                <a:spcPts val="1620"/>
              </a:lnSpc>
            </a:pPr>
            <a:r>
              <a:rPr lang="en-US" sz="1350" b="1">
                <a:solidFill>
                  <a:srgbClr val="22C55E"/>
                </a:solidFill>
                <a:latin typeface="Arimo Bold"/>
                <a:ea typeface="Arimo Bold"/>
                <a:cs typeface="Arimo Bold"/>
                <a:sym typeface="Arimo Bold"/>
              </a:rPr>
              <a:t>CSAT Score</a:t>
            </a:r>
          </a:p>
        </p:txBody>
      </p:sp>
      <p:sp>
        <p:nvSpPr>
          <p:cNvPr id="65" name="TextBox 65"/>
          <p:cNvSpPr txBox="1"/>
          <p:nvPr/>
        </p:nvSpPr>
        <p:spPr>
          <a:xfrm>
            <a:off x="13630275" y="6923561"/>
            <a:ext cx="4268391" cy="233362"/>
          </a:xfrm>
          <a:prstGeom prst="rect">
            <a:avLst/>
          </a:prstGeom>
        </p:spPr>
        <p:txBody>
          <a:bodyPr lIns="0" tIns="0" rIns="0" bIns="0" rtlCol="0" anchor="t">
            <a:spAutoFit/>
          </a:bodyPr>
          <a:lstStyle/>
          <a:p>
            <a:pPr algn="l">
              <a:lnSpc>
                <a:spcPts val="1620"/>
              </a:lnSpc>
            </a:pPr>
            <a:r>
              <a:rPr lang="en-US" sz="1350" b="1">
                <a:solidFill>
                  <a:srgbClr val="22C55E"/>
                </a:solidFill>
                <a:latin typeface="Arimo Bold"/>
                <a:ea typeface="Arimo Bold"/>
                <a:cs typeface="Arimo Bold"/>
                <a:sym typeface="Arimo Bold"/>
              </a:rPr>
              <a:t>Merchant Retention</a:t>
            </a:r>
          </a:p>
        </p:txBody>
      </p:sp>
      <p:sp>
        <p:nvSpPr>
          <p:cNvPr id="66" name="TextBox 66"/>
          <p:cNvSpPr txBox="1"/>
          <p:nvPr/>
        </p:nvSpPr>
        <p:spPr>
          <a:xfrm>
            <a:off x="8586788" y="8412289"/>
            <a:ext cx="2803922" cy="238125"/>
          </a:xfrm>
          <a:prstGeom prst="rect">
            <a:avLst/>
          </a:prstGeom>
        </p:spPr>
        <p:txBody>
          <a:bodyPr lIns="0" tIns="0" rIns="0" bIns="0" rtlCol="0" anchor="t">
            <a:spAutoFit/>
          </a:bodyPr>
          <a:lstStyle/>
          <a:p>
            <a:pPr algn="l">
              <a:lnSpc>
                <a:spcPts val="1755"/>
              </a:lnSpc>
            </a:pPr>
            <a:r>
              <a:rPr lang="en-US" sz="1462" b="1">
                <a:solidFill>
                  <a:srgbClr val="E2E8F0"/>
                </a:solidFill>
                <a:latin typeface="Arimo Bold"/>
                <a:ea typeface="Arimo Bold"/>
                <a:cs typeface="Arimo Bold"/>
                <a:sym typeface="Arimo Bold"/>
              </a:rPr>
              <a:t>Delivery Company Buyer</a:t>
            </a:r>
          </a:p>
        </p:txBody>
      </p:sp>
      <p:sp>
        <p:nvSpPr>
          <p:cNvPr id="67" name="TextBox 67"/>
          <p:cNvSpPr txBox="1"/>
          <p:nvPr/>
        </p:nvSpPr>
        <p:spPr>
          <a:xfrm>
            <a:off x="11701462" y="8412289"/>
            <a:ext cx="2411016" cy="238125"/>
          </a:xfrm>
          <a:prstGeom prst="rect">
            <a:avLst/>
          </a:prstGeom>
        </p:spPr>
        <p:txBody>
          <a:bodyPr lIns="0" tIns="0" rIns="0" bIns="0" rtlCol="0" anchor="t">
            <a:spAutoFit/>
          </a:bodyPr>
          <a:lstStyle/>
          <a:p>
            <a:pPr algn="l">
              <a:lnSpc>
                <a:spcPts val="1755"/>
              </a:lnSpc>
            </a:pPr>
            <a:r>
              <a:rPr lang="en-US" sz="1462" b="1">
                <a:solidFill>
                  <a:srgbClr val="E2E8F0"/>
                </a:solidFill>
                <a:latin typeface="Arimo Bold"/>
                <a:ea typeface="Arimo Bold"/>
                <a:cs typeface="Arimo Bold"/>
                <a:sym typeface="Arimo Bold"/>
              </a:rPr>
              <a:t>Monthly Subscription</a:t>
            </a:r>
          </a:p>
        </p:txBody>
      </p:sp>
      <p:sp>
        <p:nvSpPr>
          <p:cNvPr id="68" name="TextBox 68"/>
          <p:cNvSpPr txBox="1"/>
          <p:nvPr/>
        </p:nvSpPr>
        <p:spPr>
          <a:xfrm>
            <a:off x="14501812" y="8412289"/>
            <a:ext cx="3286125" cy="238125"/>
          </a:xfrm>
          <a:prstGeom prst="rect">
            <a:avLst/>
          </a:prstGeom>
        </p:spPr>
        <p:txBody>
          <a:bodyPr lIns="0" tIns="0" rIns="0" bIns="0" rtlCol="0" anchor="t">
            <a:spAutoFit/>
          </a:bodyPr>
          <a:lstStyle/>
          <a:p>
            <a:pPr algn="l">
              <a:lnSpc>
                <a:spcPts val="1755"/>
              </a:lnSpc>
            </a:pPr>
            <a:r>
              <a:rPr lang="en-US" sz="1462" b="1">
                <a:solidFill>
                  <a:srgbClr val="E2E8F0"/>
                </a:solidFill>
                <a:latin typeface="Arimo Bold"/>
                <a:ea typeface="Arimo Bold"/>
                <a:cs typeface="Arimo Bold"/>
                <a:sym typeface="Arimo Bold"/>
              </a:rPr>
              <a:t>Integration / Onboarding Fee</a:t>
            </a:r>
          </a:p>
        </p:txBody>
      </p:sp>
      <p:sp>
        <p:nvSpPr>
          <p:cNvPr id="69" name="TextBox 69"/>
          <p:cNvSpPr txBox="1"/>
          <p:nvPr/>
        </p:nvSpPr>
        <p:spPr>
          <a:xfrm>
            <a:off x="1271588" y="4004148"/>
            <a:ext cx="3536156" cy="266700"/>
          </a:xfrm>
          <a:prstGeom prst="rect">
            <a:avLst/>
          </a:prstGeom>
        </p:spPr>
        <p:txBody>
          <a:bodyPr lIns="0" tIns="0" rIns="0" bIns="0" rtlCol="0" anchor="t">
            <a:spAutoFit/>
          </a:bodyPr>
          <a:lstStyle/>
          <a:p>
            <a:pPr algn="l">
              <a:lnSpc>
                <a:spcPts val="1889"/>
              </a:lnSpc>
            </a:pPr>
            <a:r>
              <a:rPr lang="en-US" sz="1575" b="1">
                <a:solidFill>
                  <a:srgbClr val="E2E8F0"/>
                </a:solidFill>
                <a:latin typeface="Arimo Bold"/>
                <a:ea typeface="Arimo Bold"/>
                <a:cs typeface="Arimo Bold"/>
                <a:sym typeface="Arimo Bold"/>
              </a:rPr>
              <a:t>Manual Handling (Status Quo)</a:t>
            </a:r>
          </a:p>
        </p:txBody>
      </p:sp>
      <p:sp>
        <p:nvSpPr>
          <p:cNvPr id="70" name="TextBox 70"/>
          <p:cNvSpPr txBox="1"/>
          <p:nvPr/>
        </p:nvSpPr>
        <p:spPr>
          <a:xfrm>
            <a:off x="6800850" y="4004148"/>
            <a:ext cx="2071688" cy="266700"/>
          </a:xfrm>
          <a:prstGeom prst="rect">
            <a:avLst/>
          </a:prstGeom>
        </p:spPr>
        <p:txBody>
          <a:bodyPr lIns="0" tIns="0" rIns="0" bIns="0" rtlCol="0" anchor="t">
            <a:spAutoFit/>
          </a:bodyPr>
          <a:lstStyle/>
          <a:p>
            <a:pPr algn="l">
              <a:lnSpc>
                <a:spcPts val="1889"/>
              </a:lnSpc>
            </a:pPr>
            <a:r>
              <a:rPr lang="en-US" sz="1575" b="1">
                <a:solidFill>
                  <a:srgbClr val="EF4444"/>
                </a:solidFill>
                <a:latin typeface="Arimo Bold"/>
                <a:ea typeface="Arimo Bold"/>
                <a:cs typeface="Arimo Bold"/>
                <a:sym typeface="Arimo Bold"/>
              </a:rPr>
              <a:t>50 Hours / Month</a:t>
            </a:r>
          </a:p>
        </p:txBody>
      </p:sp>
      <p:grpSp>
        <p:nvGrpSpPr>
          <p:cNvPr id="71" name="Group 71"/>
          <p:cNvGrpSpPr/>
          <p:nvPr/>
        </p:nvGrpSpPr>
        <p:grpSpPr>
          <a:xfrm>
            <a:off x="1500188" y="4442298"/>
            <a:ext cx="7029450" cy="428625"/>
            <a:chOff x="0" y="0"/>
            <a:chExt cx="9372600" cy="571500"/>
          </a:xfrm>
        </p:grpSpPr>
        <p:sp>
          <p:nvSpPr>
            <p:cNvPr id="72" name="Freeform 72"/>
            <p:cNvSpPr/>
            <p:nvPr/>
          </p:nvSpPr>
          <p:spPr>
            <a:xfrm>
              <a:off x="0" y="0"/>
              <a:ext cx="9372600" cy="571500"/>
            </a:xfrm>
            <a:custGeom>
              <a:avLst/>
              <a:gdLst/>
              <a:ahLst/>
              <a:cxnLst/>
              <a:rect l="l" t="t" r="r" b="b"/>
              <a:pathLst>
                <a:path w="9372600" h="571500">
                  <a:moveTo>
                    <a:pt x="0" y="0"/>
                  </a:moveTo>
                  <a:lnTo>
                    <a:pt x="9372600" y="0"/>
                  </a:lnTo>
                  <a:lnTo>
                    <a:pt x="9372600" y="571500"/>
                  </a:lnTo>
                  <a:lnTo>
                    <a:pt x="0" y="571500"/>
                  </a:lnTo>
                  <a:close/>
                </a:path>
              </a:pathLst>
            </a:custGeom>
            <a:blipFill>
              <a:blip r:embed="rId12">
                <a:alphaModFix amt="0"/>
              </a:blip>
              <a:stretch>
                <a:fillRect t="-269554" b="-269554"/>
              </a:stretch>
            </a:blipFill>
          </p:spPr>
        </p:sp>
        <p:sp>
          <p:nvSpPr>
            <p:cNvPr id="73" name="TextBox 73"/>
            <p:cNvSpPr txBox="1"/>
            <p:nvPr/>
          </p:nvSpPr>
          <p:spPr>
            <a:xfrm>
              <a:off x="0" y="-9525"/>
              <a:ext cx="9372600" cy="581025"/>
            </a:xfrm>
            <a:prstGeom prst="rect">
              <a:avLst/>
            </a:prstGeom>
          </p:spPr>
          <p:txBody>
            <a:bodyPr lIns="0" tIns="0" rIns="0" bIns="0" rtlCol="0" anchor="ctr"/>
            <a:lstStyle/>
            <a:p>
              <a:pPr algn="l">
                <a:lnSpc>
                  <a:spcPts val="1755"/>
                </a:lnSpc>
              </a:pPr>
              <a:r>
                <a:rPr lang="en-US" sz="1462" b="1">
                  <a:solidFill>
                    <a:srgbClr val="FFFFFF"/>
                  </a:solidFill>
                  <a:latin typeface="Arimo Bold"/>
                  <a:ea typeface="Arimo Bold"/>
                  <a:cs typeface="Arimo Bold"/>
                  <a:sym typeface="Arimo Bold"/>
                </a:rPr>
                <a:t>1,000 cases × 3 mins = 3,000 mins</a:t>
              </a:r>
            </a:p>
          </p:txBody>
        </p:sp>
      </p:grpSp>
      <p:sp>
        <p:nvSpPr>
          <p:cNvPr id="74" name="TextBox 74"/>
          <p:cNvSpPr txBox="1"/>
          <p:nvPr/>
        </p:nvSpPr>
        <p:spPr>
          <a:xfrm>
            <a:off x="1271588" y="5261448"/>
            <a:ext cx="4268391" cy="266700"/>
          </a:xfrm>
          <a:prstGeom prst="rect">
            <a:avLst/>
          </a:prstGeom>
        </p:spPr>
        <p:txBody>
          <a:bodyPr lIns="0" tIns="0" rIns="0" bIns="0" rtlCol="0" anchor="t">
            <a:spAutoFit/>
          </a:bodyPr>
          <a:lstStyle/>
          <a:p>
            <a:pPr algn="l">
              <a:lnSpc>
                <a:spcPts val="1889"/>
              </a:lnSpc>
            </a:pPr>
            <a:r>
              <a:rPr lang="en-US" sz="1575" b="1">
                <a:solidFill>
                  <a:srgbClr val="E2E8F0"/>
                </a:solidFill>
                <a:latin typeface="Arimo Bold"/>
                <a:ea typeface="Arimo Bold"/>
                <a:cs typeface="Arimo Bold"/>
                <a:sym typeface="Arimo Bold"/>
              </a:rPr>
              <a:t>With ResolveMate Automated Pilot</a:t>
            </a:r>
          </a:p>
        </p:txBody>
      </p:sp>
      <p:sp>
        <p:nvSpPr>
          <p:cNvPr id="75" name="TextBox 75"/>
          <p:cNvSpPr txBox="1"/>
          <p:nvPr/>
        </p:nvSpPr>
        <p:spPr>
          <a:xfrm>
            <a:off x="6843712" y="5261448"/>
            <a:ext cx="2028825" cy="266700"/>
          </a:xfrm>
          <a:prstGeom prst="rect">
            <a:avLst/>
          </a:prstGeom>
        </p:spPr>
        <p:txBody>
          <a:bodyPr lIns="0" tIns="0" rIns="0" bIns="0" rtlCol="0" anchor="t">
            <a:spAutoFit/>
          </a:bodyPr>
          <a:lstStyle/>
          <a:p>
            <a:pPr algn="l">
              <a:lnSpc>
                <a:spcPts val="1889"/>
              </a:lnSpc>
            </a:pPr>
            <a:r>
              <a:rPr lang="en-US" sz="1575" b="1">
                <a:solidFill>
                  <a:srgbClr val="22C55E"/>
                </a:solidFill>
                <a:latin typeface="Arimo Bold"/>
                <a:ea typeface="Arimo Bold"/>
                <a:cs typeface="Arimo Bold"/>
                <a:sym typeface="Arimo Bold"/>
              </a:rPr>
              <a:t>10 Hours / Month</a:t>
            </a:r>
          </a:p>
        </p:txBody>
      </p:sp>
      <p:grpSp>
        <p:nvGrpSpPr>
          <p:cNvPr id="76" name="Group 76"/>
          <p:cNvGrpSpPr/>
          <p:nvPr/>
        </p:nvGrpSpPr>
        <p:grpSpPr>
          <a:xfrm>
            <a:off x="1114425" y="5699598"/>
            <a:ext cx="1840182" cy="428625"/>
            <a:chOff x="0" y="0"/>
            <a:chExt cx="2453576" cy="571500"/>
          </a:xfrm>
        </p:grpSpPr>
        <p:sp>
          <p:nvSpPr>
            <p:cNvPr id="77" name="Freeform 77"/>
            <p:cNvSpPr/>
            <p:nvPr/>
          </p:nvSpPr>
          <p:spPr>
            <a:xfrm>
              <a:off x="0" y="0"/>
              <a:ext cx="2453580" cy="571500"/>
            </a:xfrm>
            <a:custGeom>
              <a:avLst/>
              <a:gdLst/>
              <a:ahLst/>
              <a:cxnLst/>
              <a:rect l="l" t="t" r="r" b="b"/>
              <a:pathLst>
                <a:path w="2453580" h="571500">
                  <a:moveTo>
                    <a:pt x="0" y="0"/>
                  </a:moveTo>
                  <a:lnTo>
                    <a:pt x="2453580" y="0"/>
                  </a:lnTo>
                  <a:lnTo>
                    <a:pt x="2453580" y="571500"/>
                  </a:lnTo>
                  <a:lnTo>
                    <a:pt x="0" y="571500"/>
                  </a:lnTo>
                  <a:close/>
                </a:path>
              </a:pathLst>
            </a:custGeom>
            <a:blipFill>
              <a:blip r:embed="rId12">
                <a:alphaModFix amt="0"/>
              </a:blip>
              <a:stretch>
                <a:fillRect t="-33653" b="-33653"/>
              </a:stretch>
            </a:blipFill>
          </p:spPr>
        </p:sp>
        <p:sp>
          <p:nvSpPr>
            <p:cNvPr id="78" name="TextBox 78"/>
            <p:cNvSpPr txBox="1"/>
            <p:nvPr/>
          </p:nvSpPr>
          <p:spPr>
            <a:xfrm>
              <a:off x="0" y="-9525"/>
              <a:ext cx="2453576" cy="581025"/>
            </a:xfrm>
            <a:prstGeom prst="rect">
              <a:avLst/>
            </a:prstGeom>
          </p:spPr>
          <p:txBody>
            <a:bodyPr lIns="0" tIns="0" rIns="0" bIns="0" rtlCol="0" anchor="ctr"/>
            <a:lstStyle/>
            <a:p>
              <a:pPr algn="ctr">
                <a:lnSpc>
                  <a:spcPts val="1755"/>
                </a:lnSpc>
              </a:pPr>
              <a:r>
                <a:rPr lang="en-US" sz="1462" b="1">
                  <a:solidFill>
                    <a:srgbClr val="0B172A"/>
                  </a:solidFill>
                  <a:latin typeface="Arimo Bold"/>
                  <a:ea typeface="Arimo Bold"/>
                  <a:cs typeface="Arimo Bold"/>
                  <a:sym typeface="Arimo Bold"/>
                </a:rPr>
                <a:t>-80%</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150229" cy="10295039"/>
            <a:chOff x="0" y="0"/>
            <a:chExt cx="12200306" cy="13726719"/>
          </a:xfrm>
        </p:grpSpPr>
        <p:sp>
          <p:nvSpPr>
            <p:cNvPr id="3" name="Freeform 3"/>
            <p:cNvSpPr/>
            <p:nvPr/>
          </p:nvSpPr>
          <p:spPr>
            <a:xfrm>
              <a:off x="0" y="0"/>
              <a:ext cx="12200255" cy="13726668"/>
            </a:xfrm>
            <a:custGeom>
              <a:avLst/>
              <a:gdLst/>
              <a:ahLst/>
              <a:cxnLst/>
              <a:rect l="l" t="t" r="r" b="b"/>
              <a:pathLst>
                <a:path w="12200255" h="13726668">
                  <a:moveTo>
                    <a:pt x="0" y="0"/>
                  </a:moveTo>
                  <a:lnTo>
                    <a:pt x="12200255" y="0"/>
                  </a:lnTo>
                  <a:lnTo>
                    <a:pt x="12200255" y="13726668"/>
                  </a:lnTo>
                  <a:lnTo>
                    <a:pt x="0" y="13726668"/>
                  </a:lnTo>
                  <a:close/>
                </a:path>
              </a:pathLst>
            </a:custGeom>
            <a:solidFill>
              <a:srgbClr val="EFECE6"/>
            </a:solidFill>
          </p:spPr>
        </p:sp>
      </p:grpSp>
      <p:grpSp>
        <p:nvGrpSpPr>
          <p:cNvPr id="4" name="Group 4"/>
          <p:cNvGrpSpPr/>
          <p:nvPr/>
        </p:nvGrpSpPr>
        <p:grpSpPr>
          <a:xfrm>
            <a:off x="9150229" y="0"/>
            <a:ext cx="9151601" cy="10295039"/>
            <a:chOff x="0" y="0"/>
            <a:chExt cx="12202135" cy="13726719"/>
          </a:xfrm>
        </p:grpSpPr>
        <p:sp>
          <p:nvSpPr>
            <p:cNvPr id="5" name="Freeform 5"/>
            <p:cNvSpPr/>
            <p:nvPr/>
          </p:nvSpPr>
          <p:spPr>
            <a:xfrm>
              <a:off x="0" y="0"/>
              <a:ext cx="12202160" cy="13726668"/>
            </a:xfrm>
            <a:custGeom>
              <a:avLst/>
              <a:gdLst/>
              <a:ahLst/>
              <a:cxnLst/>
              <a:rect l="l" t="t" r="r" b="b"/>
              <a:pathLst>
                <a:path w="12202160" h="13726668">
                  <a:moveTo>
                    <a:pt x="0" y="0"/>
                  </a:moveTo>
                  <a:lnTo>
                    <a:pt x="12202160" y="0"/>
                  </a:lnTo>
                  <a:lnTo>
                    <a:pt x="12202160" y="13726668"/>
                  </a:lnTo>
                  <a:lnTo>
                    <a:pt x="0" y="13726668"/>
                  </a:lnTo>
                  <a:close/>
                </a:path>
              </a:pathLst>
            </a:custGeom>
            <a:solidFill>
              <a:srgbClr val="10283F"/>
            </a:solidFill>
          </p:spPr>
        </p:sp>
      </p:grpSp>
      <p:grpSp>
        <p:nvGrpSpPr>
          <p:cNvPr id="6" name="Group 6"/>
          <p:cNvGrpSpPr/>
          <p:nvPr/>
        </p:nvGrpSpPr>
        <p:grpSpPr>
          <a:xfrm>
            <a:off x="915048" y="732053"/>
            <a:ext cx="8646995" cy="7625079"/>
            <a:chOff x="0" y="0"/>
            <a:chExt cx="11529327" cy="10166772"/>
          </a:xfrm>
        </p:grpSpPr>
        <p:sp>
          <p:nvSpPr>
            <p:cNvPr id="7" name="TextBox 7"/>
            <p:cNvSpPr txBox="1"/>
            <p:nvPr/>
          </p:nvSpPr>
          <p:spPr>
            <a:xfrm>
              <a:off x="0" y="-38100"/>
              <a:ext cx="9822421" cy="648272"/>
            </a:xfrm>
            <a:prstGeom prst="rect">
              <a:avLst/>
            </a:prstGeom>
          </p:spPr>
          <p:txBody>
            <a:bodyPr lIns="0" tIns="0" rIns="0" bIns="0" rtlCol="0" anchor="t">
              <a:spAutoFit/>
            </a:bodyPr>
            <a:lstStyle/>
            <a:p>
              <a:pPr algn="l">
                <a:lnSpc>
                  <a:spcPts val="2161"/>
                </a:lnSpc>
              </a:pPr>
              <a:r>
                <a:rPr lang="en-US" sz="1801" b="1">
                  <a:solidFill>
                    <a:srgbClr val="E06D53"/>
                  </a:solidFill>
                  <a:latin typeface="Calibri (MS) Bold"/>
                  <a:ea typeface="Calibri (MS) Bold"/>
                  <a:cs typeface="Calibri (MS) Bold"/>
                  <a:sym typeface="Calibri (MS) Bold"/>
                </a:rPr>
                <a:t>BEFORE</a:t>
              </a:r>
            </a:p>
          </p:txBody>
        </p:sp>
        <p:sp>
          <p:nvSpPr>
            <p:cNvPr id="8" name="TextBox 8"/>
            <p:cNvSpPr txBox="1"/>
            <p:nvPr/>
          </p:nvSpPr>
          <p:spPr>
            <a:xfrm>
              <a:off x="0" y="406197"/>
              <a:ext cx="9822421" cy="1851190"/>
            </a:xfrm>
            <a:prstGeom prst="rect">
              <a:avLst/>
            </a:prstGeom>
          </p:spPr>
          <p:txBody>
            <a:bodyPr lIns="0" tIns="0" rIns="0" bIns="0" rtlCol="0" anchor="t">
              <a:spAutoFit/>
            </a:bodyPr>
            <a:lstStyle/>
            <a:p>
              <a:pPr algn="l">
                <a:lnSpc>
                  <a:spcPts val="7926"/>
                </a:lnSpc>
              </a:pPr>
              <a:r>
                <a:rPr lang="en-US" sz="6605" b="1">
                  <a:solidFill>
                    <a:srgbClr val="0D1B2A"/>
                  </a:solidFill>
                  <a:latin typeface="Calibri (MS) Bold"/>
                  <a:ea typeface="Calibri (MS) Bold"/>
                  <a:cs typeface="Calibri (MS) Bold"/>
                  <a:sym typeface="Calibri (MS) Bold"/>
                </a:rPr>
                <a:t>Chasing answers.</a:t>
              </a:r>
            </a:p>
          </p:txBody>
        </p:sp>
        <p:grpSp>
          <p:nvGrpSpPr>
            <p:cNvPr id="9" name="Group 9"/>
            <p:cNvGrpSpPr/>
            <p:nvPr/>
          </p:nvGrpSpPr>
          <p:grpSpPr>
            <a:xfrm rot="-180000">
              <a:off x="244119" y="3050438"/>
              <a:ext cx="4026510" cy="1006627"/>
              <a:chOff x="0" y="0"/>
              <a:chExt cx="4026510" cy="1006627"/>
            </a:xfrm>
          </p:grpSpPr>
          <p:sp>
            <p:nvSpPr>
              <p:cNvPr id="10" name="Freeform 10"/>
              <p:cNvSpPr/>
              <p:nvPr/>
            </p:nvSpPr>
            <p:spPr>
              <a:xfrm>
                <a:off x="0" y="0"/>
                <a:ext cx="4026535" cy="1006602"/>
              </a:xfrm>
              <a:custGeom>
                <a:avLst/>
                <a:gdLst/>
                <a:ahLst/>
                <a:cxnLst/>
                <a:rect l="l" t="t" r="r" b="b"/>
                <a:pathLst>
                  <a:path w="4026535" h="1006602">
                    <a:moveTo>
                      <a:pt x="0" y="167767"/>
                    </a:moveTo>
                    <a:cubicBezTo>
                      <a:pt x="0" y="75057"/>
                      <a:pt x="75057" y="0"/>
                      <a:pt x="167767" y="0"/>
                    </a:cubicBezTo>
                    <a:lnTo>
                      <a:pt x="3858768" y="0"/>
                    </a:lnTo>
                    <a:cubicBezTo>
                      <a:pt x="3951478" y="0"/>
                      <a:pt x="4026535" y="75057"/>
                      <a:pt x="4026535" y="167767"/>
                    </a:cubicBezTo>
                    <a:lnTo>
                      <a:pt x="4026535" y="838835"/>
                    </a:lnTo>
                    <a:cubicBezTo>
                      <a:pt x="4026535" y="931545"/>
                      <a:pt x="3951478" y="1006602"/>
                      <a:pt x="3858768" y="1006602"/>
                    </a:cubicBezTo>
                    <a:lnTo>
                      <a:pt x="167767" y="1006602"/>
                    </a:lnTo>
                    <a:cubicBezTo>
                      <a:pt x="75057" y="1006602"/>
                      <a:pt x="0" y="931545"/>
                      <a:pt x="0" y="838835"/>
                    </a:cubicBezTo>
                    <a:close/>
                  </a:path>
                </a:pathLst>
              </a:custGeom>
              <a:solidFill>
                <a:srgbClr val="FFFFFF"/>
              </a:solidFill>
            </p:spPr>
          </p:sp>
          <p:sp>
            <p:nvSpPr>
              <p:cNvPr id="11" name="TextBox 11"/>
              <p:cNvSpPr txBox="1"/>
              <p:nvPr/>
            </p:nvSpPr>
            <p:spPr>
              <a:xfrm>
                <a:off x="0" y="-47625"/>
                <a:ext cx="4026510" cy="1054252"/>
              </a:xfrm>
              <a:prstGeom prst="rect">
                <a:avLst/>
              </a:prstGeom>
            </p:spPr>
            <p:txBody>
              <a:bodyPr lIns="50800" tIns="50800" rIns="50800" bIns="50800" rtlCol="0" anchor="ctr"/>
              <a:lstStyle/>
              <a:p>
                <a:pPr algn="ctr">
                  <a:lnSpc>
                    <a:spcPts val="2341"/>
                  </a:lnSpc>
                </a:pPr>
                <a:r>
                  <a:rPr lang="en-US" sz="1951" b="1">
                    <a:solidFill>
                      <a:srgbClr val="0D1B2A"/>
                    </a:solidFill>
                    <a:latin typeface="Calibri (MS) Bold"/>
                    <a:ea typeface="Calibri (MS) Bold"/>
                    <a:cs typeface="Calibri (MS) Bold"/>
                    <a:sym typeface="Calibri (MS) Bold"/>
                  </a:rPr>
                  <a:t>"Where is my parcel?"</a:t>
                </a:r>
              </a:p>
            </p:txBody>
          </p:sp>
        </p:grpSp>
        <p:grpSp>
          <p:nvGrpSpPr>
            <p:cNvPr id="12" name="Group 12"/>
            <p:cNvGrpSpPr/>
            <p:nvPr/>
          </p:nvGrpSpPr>
          <p:grpSpPr>
            <a:xfrm rot="120000">
              <a:off x="4636668" y="3599498"/>
              <a:ext cx="4392549" cy="1006627"/>
              <a:chOff x="0" y="0"/>
              <a:chExt cx="4392549" cy="1006627"/>
            </a:xfrm>
          </p:grpSpPr>
          <p:sp>
            <p:nvSpPr>
              <p:cNvPr id="13" name="Freeform 13"/>
              <p:cNvSpPr/>
              <p:nvPr/>
            </p:nvSpPr>
            <p:spPr>
              <a:xfrm>
                <a:off x="0" y="0"/>
                <a:ext cx="4392549" cy="1006602"/>
              </a:xfrm>
              <a:custGeom>
                <a:avLst/>
                <a:gdLst/>
                <a:ahLst/>
                <a:cxnLst/>
                <a:rect l="l" t="t" r="r" b="b"/>
                <a:pathLst>
                  <a:path w="4392549" h="1006602">
                    <a:moveTo>
                      <a:pt x="0" y="167767"/>
                    </a:moveTo>
                    <a:cubicBezTo>
                      <a:pt x="0" y="75057"/>
                      <a:pt x="75057" y="0"/>
                      <a:pt x="167767" y="0"/>
                    </a:cubicBezTo>
                    <a:lnTo>
                      <a:pt x="4224782" y="0"/>
                    </a:lnTo>
                    <a:cubicBezTo>
                      <a:pt x="4317492" y="0"/>
                      <a:pt x="4392549" y="75057"/>
                      <a:pt x="4392549" y="167767"/>
                    </a:cubicBezTo>
                    <a:lnTo>
                      <a:pt x="4392549" y="838835"/>
                    </a:lnTo>
                    <a:cubicBezTo>
                      <a:pt x="4392549" y="931545"/>
                      <a:pt x="4317492" y="1006602"/>
                      <a:pt x="4224782" y="1006602"/>
                    </a:cubicBezTo>
                    <a:lnTo>
                      <a:pt x="167767" y="1006602"/>
                    </a:lnTo>
                    <a:cubicBezTo>
                      <a:pt x="75057" y="1006602"/>
                      <a:pt x="0" y="931545"/>
                      <a:pt x="0" y="838835"/>
                    </a:cubicBezTo>
                    <a:close/>
                  </a:path>
                </a:pathLst>
              </a:custGeom>
              <a:solidFill>
                <a:srgbClr val="FFFFFF"/>
              </a:solidFill>
            </p:spPr>
          </p:sp>
          <p:sp>
            <p:nvSpPr>
              <p:cNvPr id="14" name="TextBox 14"/>
              <p:cNvSpPr txBox="1"/>
              <p:nvPr/>
            </p:nvSpPr>
            <p:spPr>
              <a:xfrm>
                <a:off x="0" y="-47625"/>
                <a:ext cx="4392549" cy="1054252"/>
              </a:xfrm>
              <a:prstGeom prst="rect">
                <a:avLst/>
              </a:prstGeom>
            </p:spPr>
            <p:txBody>
              <a:bodyPr lIns="50800" tIns="50800" rIns="50800" bIns="50800" rtlCol="0" anchor="ctr"/>
              <a:lstStyle/>
              <a:p>
                <a:pPr algn="ctr">
                  <a:lnSpc>
                    <a:spcPts val="2341"/>
                  </a:lnSpc>
                </a:pPr>
                <a:r>
                  <a:rPr lang="en-US" sz="1951" b="1">
                    <a:solidFill>
                      <a:srgbClr val="0D1B2A"/>
                    </a:solidFill>
                    <a:latin typeface="Calibri (MS) Bold"/>
                    <a:ea typeface="Calibri (MS) Bold"/>
                    <a:cs typeface="Calibri (MS) Bold"/>
                    <a:sym typeface="Calibri (MS) Bold"/>
                  </a:rPr>
                  <a:t>Seller calls operations</a:t>
                </a:r>
              </a:p>
            </p:txBody>
          </p:sp>
        </p:grpSp>
        <p:grpSp>
          <p:nvGrpSpPr>
            <p:cNvPr id="15" name="Group 15"/>
            <p:cNvGrpSpPr/>
            <p:nvPr/>
          </p:nvGrpSpPr>
          <p:grpSpPr>
            <a:xfrm rot="60000">
              <a:off x="976211" y="4880661"/>
              <a:ext cx="3294418" cy="1006627"/>
              <a:chOff x="0" y="0"/>
              <a:chExt cx="3294418" cy="1006627"/>
            </a:xfrm>
          </p:grpSpPr>
          <p:sp>
            <p:nvSpPr>
              <p:cNvPr id="16" name="Freeform 16"/>
              <p:cNvSpPr/>
              <p:nvPr/>
            </p:nvSpPr>
            <p:spPr>
              <a:xfrm>
                <a:off x="0" y="0"/>
                <a:ext cx="3294380" cy="1006602"/>
              </a:xfrm>
              <a:custGeom>
                <a:avLst/>
                <a:gdLst/>
                <a:ahLst/>
                <a:cxnLst/>
                <a:rect l="l" t="t" r="r" b="b"/>
                <a:pathLst>
                  <a:path w="3294380" h="1006602">
                    <a:moveTo>
                      <a:pt x="0" y="167767"/>
                    </a:moveTo>
                    <a:cubicBezTo>
                      <a:pt x="0" y="75057"/>
                      <a:pt x="75057" y="0"/>
                      <a:pt x="167767" y="0"/>
                    </a:cubicBezTo>
                    <a:lnTo>
                      <a:pt x="3126613" y="0"/>
                    </a:lnTo>
                    <a:cubicBezTo>
                      <a:pt x="3219323" y="0"/>
                      <a:pt x="3294380" y="75057"/>
                      <a:pt x="3294380" y="167767"/>
                    </a:cubicBezTo>
                    <a:lnTo>
                      <a:pt x="3294380" y="838835"/>
                    </a:lnTo>
                    <a:cubicBezTo>
                      <a:pt x="3294380" y="931545"/>
                      <a:pt x="3219323" y="1006602"/>
                      <a:pt x="3126613" y="1006602"/>
                    </a:cubicBezTo>
                    <a:lnTo>
                      <a:pt x="167767" y="1006602"/>
                    </a:lnTo>
                    <a:cubicBezTo>
                      <a:pt x="75057" y="1006602"/>
                      <a:pt x="0" y="931545"/>
                      <a:pt x="0" y="838835"/>
                    </a:cubicBezTo>
                    <a:close/>
                  </a:path>
                </a:pathLst>
              </a:custGeom>
              <a:solidFill>
                <a:srgbClr val="FDE8E4"/>
              </a:solidFill>
            </p:spPr>
          </p:sp>
          <p:sp>
            <p:nvSpPr>
              <p:cNvPr id="17" name="TextBox 17"/>
              <p:cNvSpPr txBox="1"/>
              <p:nvPr/>
            </p:nvSpPr>
            <p:spPr>
              <a:xfrm>
                <a:off x="0" y="-47625"/>
                <a:ext cx="3294418" cy="1054252"/>
              </a:xfrm>
              <a:prstGeom prst="rect">
                <a:avLst/>
              </a:prstGeom>
            </p:spPr>
            <p:txBody>
              <a:bodyPr lIns="50800" tIns="50800" rIns="50800" bIns="50800" rtlCol="0" anchor="ctr"/>
              <a:lstStyle/>
              <a:p>
                <a:pPr algn="ctr">
                  <a:lnSpc>
                    <a:spcPts val="2341"/>
                  </a:lnSpc>
                </a:pPr>
                <a:r>
                  <a:rPr lang="en-US" sz="1951" b="1">
                    <a:solidFill>
                      <a:srgbClr val="E06D53"/>
                    </a:solidFill>
                    <a:latin typeface="Calibri (MS) Bold"/>
                    <a:ea typeface="Calibri (MS) Bold"/>
                    <a:cs typeface="Calibri (MS) Bold"/>
                    <a:sym typeface="Calibri (MS) Bold"/>
                  </a:rPr>
                  <a:t>Repeat lookup</a:t>
                </a:r>
              </a:p>
            </p:txBody>
          </p:sp>
        </p:grpSp>
        <p:grpSp>
          <p:nvGrpSpPr>
            <p:cNvPr id="18" name="Group 18"/>
            <p:cNvGrpSpPr/>
            <p:nvPr/>
          </p:nvGrpSpPr>
          <p:grpSpPr>
            <a:xfrm rot="-120000">
              <a:off x="4087609" y="6161824"/>
              <a:ext cx="4026510" cy="1006627"/>
              <a:chOff x="0" y="0"/>
              <a:chExt cx="4026510" cy="1006627"/>
            </a:xfrm>
          </p:grpSpPr>
          <p:sp>
            <p:nvSpPr>
              <p:cNvPr id="19" name="Freeform 19"/>
              <p:cNvSpPr/>
              <p:nvPr/>
            </p:nvSpPr>
            <p:spPr>
              <a:xfrm>
                <a:off x="0" y="0"/>
                <a:ext cx="4026535" cy="1006602"/>
              </a:xfrm>
              <a:custGeom>
                <a:avLst/>
                <a:gdLst/>
                <a:ahLst/>
                <a:cxnLst/>
                <a:rect l="l" t="t" r="r" b="b"/>
                <a:pathLst>
                  <a:path w="4026535" h="1006602">
                    <a:moveTo>
                      <a:pt x="0" y="167767"/>
                    </a:moveTo>
                    <a:cubicBezTo>
                      <a:pt x="0" y="75057"/>
                      <a:pt x="75057" y="0"/>
                      <a:pt x="167767" y="0"/>
                    </a:cubicBezTo>
                    <a:lnTo>
                      <a:pt x="3858768" y="0"/>
                    </a:lnTo>
                    <a:cubicBezTo>
                      <a:pt x="3951478" y="0"/>
                      <a:pt x="4026535" y="75057"/>
                      <a:pt x="4026535" y="167767"/>
                    </a:cubicBezTo>
                    <a:lnTo>
                      <a:pt x="4026535" y="838835"/>
                    </a:lnTo>
                    <a:cubicBezTo>
                      <a:pt x="4026535" y="931545"/>
                      <a:pt x="3951478" y="1006602"/>
                      <a:pt x="3858768" y="1006602"/>
                    </a:cubicBezTo>
                    <a:lnTo>
                      <a:pt x="167767" y="1006602"/>
                    </a:lnTo>
                    <a:cubicBezTo>
                      <a:pt x="75057" y="1006602"/>
                      <a:pt x="0" y="931545"/>
                      <a:pt x="0" y="838835"/>
                    </a:cubicBezTo>
                    <a:close/>
                  </a:path>
                </a:pathLst>
              </a:custGeom>
              <a:solidFill>
                <a:srgbClr val="FFFFFF"/>
              </a:solidFill>
            </p:spPr>
          </p:sp>
          <p:sp>
            <p:nvSpPr>
              <p:cNvPr id="20" name="TextBox 20"/>
              <p:cNvSpPr txBox="1"/>
              <p:nvPr/>
            </p:nvSpPr>
            <p:spPr>
              <a:xfrm>
                <a:off x="0" y="-47625"/>
                <a:ext cx="4026510" cy="1054252"/>
              </a:xfrm>
              <a:prstGeom prst="rect">
                <a:avLst/>
              </a:prstGeom>
            </p:spPr>
            <p:txBody>
              <a:bodyPr lIns="50800" tIns="50800" rIns="50800" bIns="50800" rtlCol="0" anchor="ctr"/>
              <a:lstStyle/>
              <a:p>
                <a:pPr algn="ctr">
                  <a:lnSpc>
                    <a:spcPts val="2341"/>
                  </a:lnSpc>
                </a:pPr>
                <a:r>
                  <a:rPr lang="en-US" sz="1951" b="1">
                    <a:solidFill>
                      <a:srgbClr val="0D1B2A"/>
                    </a:solidFill>
                    <a:latin typeface="Calibri (MS) Bold"/>
                    <a:ea typeface="Calibri (MS) Bold"/>
                    <a:cs typeface="Calibri (MS) Bold"/>
                    <a:sym typeface="Calibri (MS) Bold"/>
                  </a:rPr>
                  <a:t>Ops calls Driver A</a:t>
                </a:r>
              </a:p>
            </p:txBody>
          </p:sp>
        </p:grpSp>
        <p:grpSp>
          <p:nvGrpSpPr>
            <p:cNvPr id="21" name="Group 21"/>
            <p:cNvGrpSpPr/>
            <p:nvPr/>
          </p:nvGrpSpPr>
          <p:grpSpPr>
            <a:xfrm rot="-60000">
              <a:off x="244119" y="7259968"/>
              <a:ext cx="2928366" cy="1006627"/>
              <a:chOff x="0" y="0"/>
              <a:chExt cx="2928366" cy="1006627"/>
            </a:xfrm>
          </p:grpSpPr>
          <p:sp>
            <p:nvSpPr>
              <p:cNvPr id="22" name="Freeform 22"/>
              <p:cNvSpPr/>
              <p:nvPr/>
            </p:nvSpPr>
            <p:spPr>
              <a:xfrm>
                <a:off x="0" y="0"/>
                <a:ext cx="2928366" cy="1006602"/>
              </a:xfrm>
              <a:custGeom>
                <a:avLst/>
                <a:gdLst/>
                <a:ahLst/>
                <a:cxnLst/>
                <a:rect l="l" t="t" r="r" b="b"/>
                <a:pathLst>
                  <a:path w="2928366" h="1006602">
                    <a:moveTo>
                      <a:pt x="0" y="167767"/>
                    </a:moveTo>
                    <a:cubicBezTo>
                      <a:pt x="0" y="75057"/>
                      <a:pt x="75057" y="0"/>
                      <a:pt x="167767" y="0"/>
                    </a:cubicBezTo>
                    <a:lnTo>
                      <a:pt x="2760599" y="0"/>
                    </a:lnTo>
                    <a:cubicBezTo>
                      <a:pt x="2853309" y="0"/>
                      <a:pt x="2928366" y="75057"/>
                      <a:pt x="2928366" y="167767"/>
                    </a:cubicBezTo>
                    <a:lnTo>
                      <a:pt x="2928366" y="838835"/>
                    </a:lnTo>
                    <a:cubicBezTo>
                      <a:pt x="2928366" y="931545"/>
                      <a:pt x="2853309" y="1006602"/>
                      <a:pt x="2760599" y="1006602"/>
                    </a:cubicBezTo>
                    <a:lnTo>
                      <a:pt x="167767" y="1006602"/>
                    </a:lnTo>
                    <a:cubicBezTo>
                      <a:pt x="75057" y="1006602"/>
                      <a:pt x="0" y="931545"/>
                      <a:pt x="0" y="838835"/>
                    </a:cubicBezTo>
                    <a:close/>
                  </a:path>
                </a:pathLst>
              </a:custGeom>
              <a:solidFill>
                <a:srgbClr val="FDE8E4"/>
              </a:solidFill>
            </p:spPr>
          </p:sp>
          <p:sp>
            <p:nvSpPr>
              <p:cNvPr id="23" name="TextBox 23"/>
              <p:cNvSpPr txBox="1"/>
              <p:nvPr/>
            </p:nvSpPr>
            <p:spPr>
              <a:xfrm>
                <a:off x="0" y="-47625"/>
                <a:ext cx="2928366" cy="1054252"/>
              </a:xfrm>
              <a:prstGeom prst="rect">
                <a:avLst/>
              </a:prstGeom>
            </p:spPr>
            <p:txBody>
              <a:bodyPr lIns="50800" tIns="50800" rIns="50800" bIns="50800" rtlCol="0" anchor="ctr"/>
              <a:lstStyle/>
              <a:p>
                <a:pPr algn="ctr">
                  <a:lnSpc>
                    <a:spcPts val="2341"/>
                  </a:lnSpc>
                </a:pPr>
                <a:r>
                  <a:rPr lang="en-US" sz="1951" b="1">
                    <a:solidFill>
                      <a:srgbClr val="E06D53"/>
                    </a:solidFill>
                    <a:latin typeface="Calibri (MS) Bold"/>
                    <a:ea typeface="Calibri (MS) Bold"/>
                    <a:cs typeface="Calibri (MS) Bold"/>
                    <a:sym typeface="Calibri (MS) Bold"/>
                  </a:rPr>
                  <a:t>Repeat call</a:t>
                </a:r>
              </a:p>
            </p:txBody>
          </p:sp>
        </p:grpSp>
        <p:grpSp>
          <p:nvGrpSpPr>
            <p:cNvPr id="24" name="Group 24"/>
            <p:cNvGrpSpPr/>
            <p:nvPr/>
          </p:nvGrpSpPr>
          <p:grpSpPr>
            <a:xfrm rot="90000">
              <a:off x="3904577" y="7626007"/>
              <a:ext cx="4392549" cy="1006627"/>
              <a:chOff x="0" y="0"/>
              <a:chExt cx="4392549" cy="1006627"/>
            </a:xfrm>
          </p:grpSpPr>
          <p:sp>
            <p:nvSpPr>
              <p:cNvPr id="25" name="Freeform 25"/>
              <p:cNvSpPr/>
              <p:nvPr/>
            </p:nvSpPr>
            <p:spPr>
              <a:xfrm>
                <a:off x="0" y="0"/>
                <a:ext cx="4392549" cy="1006602"/>
              </a:xfrm>
              <a:custGeom>
                <a:avLst/>
                <a:gdLst/>
                <a:ahLst/>
                <a:cxnLst/>
                <a:rect l="l" t="t" r="r" b="b"/>
                <a:pathLst>
                  <a:path w="4392549" h="1006602">
                    <a:moveTo>
                      <a:pt x="0" y="167767"/>
                    </a:moveTo>
                    <a:cubicBezTo>
                      <a:pt x="0" y="75057"/>
                      <a:pt x="75057" y="0"/>
                      <a:pt x="167767" y="0"/>
                    </a:cubicBezTo>
                    <a:lnTo>
                      <a:pt x="4224782" y="0"/>
                    </a:lnTo>
                    <a:cubicBezTo>
                      <a:pt x="4317492" y="0"/>
                      <a:pt x="4392549" y="75057"/>
                      <a:pt x="4392549" y="167767"/>
                    </a:cubicBezTo>
                    <a:lnTo>
                      <a:pt x="4392549" y="838835"/>
                    </a:lnTo>
                    <a:cubicBezTo>
                      <a:pt x="4392549" y="931545"/>
                      <a:pt x="4317492" y="1006602"/>
                      <a:pt x="4224782" y="1006602"/>
                    </a:cubicBezTo>
                    <a:lnTo>
                      <a:pt x="167767" y="1006602"/>
                    </a:lnTo>
                    <a:cubicBezTo>
                      <a:pt x="75057" y="1006602"/>
                      <a:pt x="0" y="931545"/>
                      <a:pt x="0" y="838835"/>
                    </a:cubicBezTo>
                    <a:close/>
                  </a:path>
                </a:pathLst>
              </a:custGeom>
              <a:solidFill>
                <a:srgbClr val="FFFFFF"/>
              </a:solidFill>
            </p:spPr>
          </p:sp>
          <p:sp>
            <p:nvSpPr>
              <p:cNvPr id="26" name="TextBox 26"/>
              <p:cNvSpPr txBox="1"/>
              <p:nvPr/>
            </p:nvSpPr>
            <p:spPr>
              <a:xfrm>
                <a:off x="0" y="-47625"/>
                <a:ext cx="4392549" cy="1054252"/>
              </a:xfrm>
              <a:prstGeom prst="rect">
                <a:avLst/>
              </a:prstGeom>
            </p:spPr>
            <p:txBody>
              <a:bodyPr lIns="50800" tIns="50800" rIns="50800" bIns="50800" rtlCol="0" anchor="ctr"/>
              <a:lstStyle/>
              <a:p>
                <a:pPr algn="ctr">
                  <a:lnSpc>
                    <a:spcPts val="2341"/>
                  </a:lnSpc>
                </a:pPr>
                <a:r>
                  <a:rPr lang="en-US" sz="1951" b="1">
                    <a:solidFill>
                      <a:srgbClr val="0D1B2A"/>
                    </a:solidFill>
                    <a:latin typeface="Calibri (MS) Bold"/>
                    <a:ea typeface="Calibri (MS) Bold"/>
                    <a:cs typeface="Calibri (MS) Bold"/>
                    <a:sym typeface="Calibri (MS) Bold"/>
                  </a:rPr>
                  <a:t>Reply relayed back...</a:t>
                </a:r>
              </a:p>
            </p:txBody>
          </p:sp>
        </p:grpSp>
        <p:grpSp>
          <p:nvGrpSpPr>
            <p:cNvPr id="27" name="Group 27"/>
            <p:cNvGrpSpPr/>
            <p:nvPr/>
          </p:nvGrpSpPr>
          <p:grpSpPr>
            <a:xfrm rot="-120000">
              <a:off x="1342263" y="9090190"/>
              <a:ext cx="4026510" cy="1006627"/>
              <a:chOff x="0" y="0"/>
              <a:chExt cx="4026510" cy="1006627"/>
            </a:xfrm>
          </p:grpSpPr>
          <p:sp>
            <p:nvSpPr>
              <p:cNvPr id="28" name="Freeform 28"/>
              <p:cNvSpPr/>
              <p:nvPr/>
            </p:nvSpPr>
            <p:spPr>
              <a:xfrm>
                <a:off x="0" y="0"/>
                <a:ext cx="4026535" cy="1006602"/>
              </a:xfrm>
              <a:custGeom>
                <a:avLst/>
                <a:gdLst/>
                <a:ahLst/>
                <a:cxnLst/>
                <a:rect l="l" t="t" r="r" b="b"/>
                <a:pathLst>
                  <a:path w="4026535" h="1006602">
                    <a:moveTo>
                      <a:pt x="0" y="167767"/>
                    </a:moveTo>
                    <a:cubicBezTo>
                      <a:pt x="0" y="75057"/>
                      <a:pt x="75057" y="0"/>
                      <a:pt x="167767" y="0"/>
                    </a:cubicBezTo>
                    <a:lnTo>
                      <a:pt x="3858768" y="0"/>
                    </a:lnTo>
                    <a:cubicBezTo>
                      <a:pt x="3951478" y="0"/>
                      <a:pt x="4026535" y="75057"/>
                      <a:pt x="4026535" y="167767"/>
                    </a:cubicBezTo>
                    <a:lnTo>
                      <a:pt x="4026535" y="838835"/>
                    </a:lnTo>
                    <a:cubicBezTo>
                      <a:pt x="4026535" y="931545"/>
                      <a:pt x="3951478" y="1006602"/>
                      <a:pt x="3858768" y="1006602"/>
                    </a:cubicBezTo>
                    <a:lnTo>
                      <a:pt x="167767" y="1006602"/>
                    </a:lnTo>
                    <a:cubicBezTo>
                      <a:pt x="75057" y="1006602"/>
                      <a:pt x="0" y="931545"/>
                      <a:pt x="0" y="838835"/>
                    </a:cubicBezTo>
                    <a:close/>
                  </a:path>
                </a:pathLst>
              </a:custGeom>
              <a:solidFill>
                <a:srgbClr val="FDE8E4"/>
              </a:solidFill>
            </p:spPr>
          </p:sp>
          <p:sp>
            <p:nvSpPr>
              <p:cNvPr id="29" name="TextBox 29"/>
              <p:cNvSpPr txBox="1"/>
              <p:nvPr/>
            </p:nvSpPr>
            <p:spPr>
              <a:xfrm>
                <a:off x="0" y="-47625"/>
                <a:ext cx="4026510" cy="1054252"/>
              </a:xfrm>
              <a:prstGeom prst="rect">
                <a:avLst/>
              </a:prstGeom>
            </p:spPr>
            <p:txBody>
              <a:bodyPr lIns="50800" tIns="50800" rIns="50800" bIns="50800" rtlCol="0" anchor="ctr"/>
              <a:lstStyle/>
              <a:p>
                <a:pPr algn="ctr">
                  <a:lnSpc>
                    <a:spcPts val="2341"/>
                  </a:lnSpc>
                </a:pPr>
                <a:r>
                  <a:rPr lang="en-US" sz="1951" b="1">
                    <a:solidFill>
                      <a:srgbClr val="E06D53"/>
                    </a:solidFill>
                    <a:latin typeface="Calibri (MS) Bold"/>
                    <a:ea typeface="Calibri (MS) Bold"/>
                    <a:cs typeface="Calibri (MS) Bold"/>
                    <a:sym typeface="Calibri (MS) Bold"/>
                  </a:rPr>
                  <a:t>Repeat explanation</a:t>
                </a:r>
              </a:p>
            </p:txBody>
          </p:sp>
        </p:grpSp>
        <p:grpSp>
          <p:nvGrpSpPr>
            <p:cNvPr id="30" name="Group 30"/>
            <p:cNvGrpSpPr/>
            <p:nvPr/>
          </p:nvGrpSpPr>
          <p:grpSpPr>
            <a:xfrm>
              <a:off x="10431183" y="5338216"/>
              <a:ext cx="1098144" cy="1098144"/>
              <a:chOff x="0" y="0"/>
              <a:chExt cx="1098144" cy="1098144"/>
            </a:xfrm>
          </p:grpSpPr>
          <p:sp>
            <p:nvSpPr>
              <p:cNvPr id="31" name="Freeform 31"/>
              <p:cNvSpPr/>
              <p:nvPr/>
            </p:nvSpPr>
            <p:spPr>
              <a:xfrm>
                <a:off x="0" y="0"/>
                <a:ext cx="1098169" cy="1098169"/>
              </a:xfrm>
              <a:custGeom>
                <a:avLst/>
                <a:gdLst/>
                <a:ahLst/>
                <a:cxnLst/>
                <a:rect l="l" t="t" r="r" b="b"/>
                <a:pathLst>
                  <a:path w="1098169" h="1098169">
                    <a:moveTo>
                      <a:pt x="0" y="549021"/>
                    </a:moveTo>
                    <a:cubicBezTo>
                      <a:pt x="0" y="245872"/>
                      <a:pt x="245872" y="0"/>
                      <a:pt x="549021" y="0"/>
                    </a:cubicBezTo>
                    <a:cubicBezTo>
                      <a:pt x="852170" y="0"/>
                      <a:pt x="1098169" y="245872"/>
                      <a:pt x="1098169" y="549021"/>
                    </a:cubicBezTo>
                    <a:cubicBezTo>
                      <a:pt x="1098169" y="852170"/>
                      <a:pt x="852297" y="1098169"/>
                      <a:pt x="549021" y="1098169"/>
                    </a:cubicBezTo>
                    <a:cubicBezTo>
                      <a:pt x="245745" y="1098169"/>
                      <a:pt x="0" y="852297"/>
                      <a:pt x="0" y="549021"/>
                    </a:cubicBezTo>
                    <a:close/>
                  </a:path>
                </a:pathLst>
              </a:custGeom>
              <a:solidFill>
                <a:srgbClr val="EFECE6"/>
              </a:solidFill>
            </p:spPr>
          </p:sp>
        </p:grpSp>
        <p:grpSp>
          <p:nvGrpSpPr>
            <p:cNvPr id="32" name="Group 32"/>
            <p:cNvGrpSpPr/>
            <p:nvPr/>
          </p:nvGrpSpPr>
          <p:grpSpPr>
            <a:xfrm>
              <a:off x="10522687" y="5429733"/>
              <a:ext cx="915111" cy="915111"/>
              <a:chOff x="0" y="0"/>
              <a:chExt cx="915111" cy="915111"/>
            </a:xfrm>
          </p:grpSpPr>
          <p:sp>
            <p:nvSpPr>
              <p:cNvPr id="33" name="Freeform 33"/>
              <p:cNvSpPr/>
              <p:nvPr/>
            </p:nvSpPr>
            <p:spPr>
              <a:xfrm>
                <a:off x="0" y="0"/>
                <a:ext cx="915162" cy="915162"/>
              </a:xfrm>
              <a:custGeom>
                <a:avLst/>
                <a:gdLst/>
                <a:ahLst/>
                <a:cxnLst/>
                <a:rect l="l" t="t" r="r" b="b"/>
                <a:pathLst>
                  <a:path w="915162" h="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0D9488"/>
              </a:solidFill>
            </p:spPr>
          </p:sp>
          <p:sp>
            <p:nvSpPr>
              <p:cNvPr id="34" name="TextBox 34"/>
              <p:cNvSpPr txBox="1"/>
              <p:nvPr/>
            </p:nvSpPr>
            <p:spPr>
              <a:xfrm>
                <a:off x="0" y="-38100"/>
                <a:ext cx="915111" cy="953211"/>
              </a:xfrm>
              <a:prstGeom prst="rect">
                <a:avLst/>
              </a:prstGeom>
            </p:spPr>
            <p:txBody>
              <a:bodyPr lIns="50800" tIns="50800" rIns="50800" bIns="50800" rtlCol="0" anchor="ctr"/>
              <a:lstStyle/>
              <a:p>
                <a:pPr algn="ctr">
                  <a:lnSpc>
                    <a:spcPts val="2882"/>
                  </a:lnSpc>
                </a:pPr>
                <a:r>
                  <a:rPr lang="en-US" sz="2401" b="1">
                    <a:solidFill>
                      <a:srgbClr val="FFFFFF"/>
                    </a:solidFill>
                    <a:latin typeface="Calibri (MS) Bold"/>
                    <a:ea typeface="Calibri (MS) Bold"/>
                    <a:cs typeface="Calibri (MS) Bold"/>
                    <a:sym typeface="Calibri (MS) Bold"/>
                  </a:rPr>
                  <a:t>➔</a:t>
                </a:r>
              </a:p>
            </p:txBody>
          </p:sp>
        </p:grpSp>
      </p:grpSp>
      <p:grpSp>
        <p:nvGrpSpPr>
          <p:cNvPr id="35" name="Group 35"/>
          <p:cNvGrpSpPr/>
          <p:nvPr/>
        </p:nvGrpSpPr>
        <p:grpSpPr>
          <a:xfrm>
            <a:off x="10020510" y="732053"/>
            <a:ext cx="7458256" cy="7435339"/>
            <a:chOff x="0" y="0"/>
            <a:chExt cx="9944341" cy="9913785"/>
          </a:xfrm>
        </p:grpSpPr>
        <p:sp>
          <p:nvSpPr>
            <p:cNvPr id="36" name="TextBox 36"/>
            <p:cNvSpPr txBox="1"/>
            <p:nvPr/>
          </p:nvSpPr>
          <p:spPr>
            <a:xfrm>
              <a:off x="121920" y="-38100"/>
              <a:ext cx="9822421" cy="648272"/>
            </a:xfrm>
            <a:prstGeom prst="rect">
              <a:avLst/>
            </a:prstGeom>
          </p:spPr>
          <p:txBody>
            <a:bodyPr lIns="0" tIns="0" rIns="0" bIns="0" rtlCol="0" anchor="t">
              <a:spAutoFit/>
            </a:bodyPr>
            <a:lstStyle/>
            <a:p>
              <a:pPr algn="l">
                <a:lnSpc>
                  <a:spcPts val="2161"/>
                </a:lnSpc>
              </a:pPr>
              <a:r>
                <a:rPr lang="en-US" sz="1801" b="1">
                  <a:solidFill>
                    <a:srgbClr val="0D9488"/>
                  </a:solidFill>
                  <a:latin typeface="Calibri (MS) Bold"/>
                  <a:ea typeface="Calibri (MS) Bold"/>
                  <a:cs typeface="Calibri (MS) Bold"/>
                  <a:sym typeface="Calibri (MS) Bold"/>
                </a:rPr>
                <a:t>AFTER</a:t>
              </a:r>
            </a:p>
          </p:txBody>
        </p:sp>
        <p:sp>
          <p:nvSpPr>
            <p:cNvPr id="37" name="TextBox 37"/>
            <p:cNvSpPr txBox="1"/>
            <p:nvPr/>
          </p:nvSpPr>
          <p:spPr>
            <a:xfrm>
              <a:off x="121920" y="406197"/>
              <a:ext cx="9822421" cy="2766301"/>
            </a:xfrm>
            <a:prstGeom prst="rect">
              <a:avLst/>
            </a:prstGeom>
          </p:spPr>
          <p:txBody>
            <a:bodyPr lIns="0" tIns="0" rIns="0" bIns="0" rtlCol="0" anchor="t">
              <a:spAutoFit/>
            </a:bodyPr>
            <a:lstStyle/>
            <a:p>
              <a:pPr algn="l">
                <a:lnSpc>
                  <a:spcPts val="7926"/>
                </a:lnSpc>
              </a:pPr>
              <a:r>
                <a:rPr lang="en-US" sz="6605" b="1">
                  <a:solidFill>
                    <a:srgbClr val="FFFFFF"/>
                  </a:solidFill>
                  <a:latin typeface="Calibri (MS) Bold"/>
                  <a:ea typeface="Calibri (MS) Bold"/>
                  <a:cs typeface="Calibri (MS) Bold"/>
                  <a:sym typeface="Calibri (MS) Bold"/>
                </a:rPr>
                <a:t>Managing</a:t>
              </a:r>
            </a:p>
            <a:p>
              <a:pPr algn="l">
                <a:lnSpc>
                  <a:spcPts val="7926"/>
                </a:lnSpc>
              </a:pPr>
              <a:r>
                <a:rPr lang="en-US" sz="6605" b="1">
                  <a:solidFill>
                    <a:srgbClr val="FFFFFF"/>
                  </a:solidFill>
                  <a:latin typeface="Calibri (MS) Bold"/>
                  <a:ea typeface="Calibri (MS) Bold"/>
                  <a:cs typeface="Calibri (MS) Bold"/>
                  <a:sym typeface="Calibri (MS) Bold"/>
                </a:rPr>
                <a:t>exceptions.</a:t>
              </a:r>
            </a:p>
          </p:txBody>
        </p:sp>
        <p:grpSp>
          <p:nvGrpSpPr>
            <p:cNvPr id="38" name="Group 38"/>
            <p:cNvGrpSpPr/>
            <p:nvPr/>
          </p:nvGrpSpPr>
          <p:grpSpPr>
            <a:xfrm>
              <a:off x="0" y="3782530"/>
              <a:ext cx="640575" cy="640575"/>
              <a:chOff x="0" y="0"/>
              <a:chExt cx="640575" cy="640575"/>
            </a:xfrm>
          </p:grpSpPr>
          <p:sp>
            <p:nvSpPr>
              <p:cNvPr id="39" name="Freeform 39"/>
              <p:cNvSpPr/>
              <p:nvPr/>
            </p:nvSpPr>
            <p:spPr>
              <a:xfrm>
                <a:off x="0" y="0"/>
                <a:ext cx="640588" cy="640588"/>
              </a:xfrm>
              <a:custGeom>
                <a:avLst/>
                <a:gdLst/>
                <a:ahLst/>
                <a:cxnLst/>
                <a:rect l="l" t="t" r="r" b="b"/>
                <a:pathLst>
                  <a:path w="640588" h="640588">
                    <a:moveTo>
                      <a:pt x="0" y="320294"/>
                    </a:moveTo>
                    <a:cubicBezTo>
                      <a:pt x="0" y="143383"/>
                      <a:pt x="143383" y="0"/>
                      <a:pt x="320294" y="0"/>
                    </a:cubicBezTo>
                    <a:cubicBezTo>
                      <a:pt x="497205" y="0"/>
                      <a:pt x="640588" y="143383"/>
                      <a:pt x="640588" y="320294"/>
                    </a:cubicBezTo>
                    <a:cubicBezTo>
                      <a:pt x="640588" y="497205"/>
                      <a:pt x="497205" y="640588"/>
                      <a:pt x="320294" y="640588"/>
                    </a:cubicBezTo>
                    <a:cubicBezTo>
                      <a:pt x="143383" y="640588"/>
                      <a:pt x="0" y="497205"/>
                      <a:pt x="0" y="320294"/>
                    </a:cubicBezTo>
                    <a:close/>
                  </a:path>
                </a:pathLst>
              </a:custGeom>
              <a:solidFill>
                <a:srgbClr val="0D9488"/>
              </a:solidFill>
            </p:spPr>
          </p:sp>
          <p:sp>
            <p:nvSpPr>
              <p:cNvPr id="40" name="TextBox 40"/>
              <p:cNvSpPr txBox="1"/>
              <p:nvPr/>
            </p:nvSpPr>
            <p:spPr>
              <a:xfrm>
                <a:off x="0" y="-38100"/>
                <a:ext cx="640575" cy="678675"/>
              </a:xfrm>
              <a:prstGeom prst="rect">
                <a:avLst/>
              </a:prstGeom>
            </p:spPr>
            <p:txBody>
              <a:bodyPr lIns="50800" tIns="50800" rIns="50800" bIns="50800" rtlCol="0" anchor="ctr"/>
              <a:lstStyle/>
              <a:p>
                <a:pPr algn="ctr">
                  <a:lnSpc>
                    <a:spcPts val="2161"/>
                  </a:lnSpc>
                </a:pPr>
                <a:r>
                  <a:rPr lang="en-US" sz="1801" b="1">
                    <a:solidFill>
                      <a:srgbClr val="FFFFFF"/>
                    </a:solidFill>
                    <a:latin typeface="Calibri (MS) Bold"/>
                    <a:ea typeface="Calibri (MS) Bold"/>
                    <a:cs typeface="Calibri (MS) Bold"/>
                    <a:sym typeface="Calibri (MS) Bold"/>
                  </a:rPr>
                  <a:t>✓</a:t>
                </a:r>
              </a:p>
            </p:txBody>
          </p:sp>
        </p:grpSp>
        <p:sp>
          <p:nvSpPr>
            <p:cNvPr id="41" name="TextBox 41"/>
            <p:cNvSpPr txBox="1"/>
            <p:nvPr/>
          </p:nvSpPr>
          <p:spPr>
            <a:xfrm>
              <a:off x="1037031" y="3713874"/>
              <a:ext cx="8541258" cy="648272"/>
            </a:xfrm>
            <a:prstGeom prst="rect">
              <a:avLst/>
            </a:prstGeom>
          </p:spPr>
          <p:txBody>
            <a:bodyPr lIns="0" tIns="0" rIns="0" bIns="0" rtlCol="0" anchor="t">
              <a:spAutoFit/>
            </a:bodyPr>
            <a:lstStyle/>
            <a:p>
              <a:pPr algn="l">
                <a:lnSpc>
                  <a:spcPts val="2882"/>
                </a:lnSpc>
              </a:pPr>
              <a:r>
                <a:rPr lang="en-US" sz="2401" b="1">
                  <a:solidFill>
                    <a:srgbClr val="FFFFFF"/>
                  </a:solidFill>
                  <a:latin typeface="Calibri (MS) Bold"/>
                  <a:ea typeface="Calibri (MS) Bold"/>
                  <a:cs typeface="Calibri (MS) Bold"/>
                  <a:sym typeface="Calibri (MS) Bold"/>
                </a:rPr>
                <a:t>Driver reports once</a:t>
              </a:r>
            </a:p>
          </p:txBody>
        </p:sp>
        <p:grpSp>
          <p:nvGrpSpPr>
            <p:cNvPr id="42" name="Group 42"/>
            <p:cNvGrpSpPr/>
            <p:nvPr/>
          </p:nvGrpSpPr>
          <p:grpSpPr>
            <a:xfrm>
              <a:off x="0" y="5155197"/>
              <a:ext cx="640575" cy="640575"/>
              <a:chOff x="0" y="0"/>
              <a:chExt cx="640575" cy="640575"/>
            </a:xfrm>
          </p:grpSpPr>
          <p:sp>
            <p:nvSpPr>
              <p:cNvPr id="43" name="Freeform 43"/>
              <p:cNvSpPr/>
              <p:nvPr/>
            </p:nvSpPr>
            <p:spPr>
              <a:xfrm>
                <a:off x="0" y="0"/>
                <a:ext cx="640588" cy="640588"/>
              </a:xfrm>
              <a:custGeom>
                <a:avLst/>
                <a:gdLst/>
                <a:ahLst/>
                <a:cxnLst/>
                <a:rect l="l" t="t" r="r" b="b"/>
                <a:pathLst>
                  <a:path w="640588" h="640588">
                    <a:moveTo>
                      <a:pt x="0" y="320294"/>
                    </a:moveTo>
                    <a:cubicBezTo>
                      <a:pt x="0" y="143383"/>
                      <a:pt x="143383" y="0"/>
                      <a:pt x="320294" y="0"/>
                    </a:cubicBezTo>
                    <a:cubicBezTo>
                      <a:pt x="497205" y="0"/>
                      <a:pt x="640588" y="143383"/>
                      <a:pt x="640588" y="320294"/>
                    </a:cubicBezTo>
                    <a:cubicBezTo>
                      <a:pt x="640588" y="497205"/>
                      <a:pt x="497205" y="640588"/>
                      <a:pt x="320294" y="640588"/>
                    </a:cubicBezTo>
                    <a:cubicBezTo>
                      <a:pt x="143383" y="640588"/>
                      <a:pt x="0" y="497205"/>
                      <a:pt x="0" y="320294"/>
                    </a:cubicBezTo>
                    <a:close/>
                  </a:path>
                </a:pathLst>
              </a:custGeom>
              <a:solidFill>
                <a:srgbClr val="0D9488"/>
              </a:solidFill>
            </p:spPr>
          </p:sp>
          <p:sp>
            <p:nvSpPr>
              <p:cNvPr id="44" name="TextBox 44"/>
              <p:cNvSpPr txBox="1"/>
              <p:nvPr/>
            </p:nvSpPr>
            <p:spPr>
              <a:xfrm>
                <a:off x="0" y="-38100"/>
                <a:ext cx="640575" cy="678675"/>
              </a:xfrm>
              <a:prstGeom prst="rect">
                <a:avLst/>
              </a:prstGeom>
            </p:spPr>
            <p:txBody>
              <a:bodyPr lIns="50800" tIns="50800" rIns="50800" bIns="50800" rtlCol="0" anchor="ctr"/>
              <a:lstStyle/>
              <a:p>
                <a:pPr algn="ctr">
                  <a:lnSpc>
                    <a:spcPts val="2161"/>
                  </a:lnSpc>
                </a:pPr>
                <a:r>
                  <a:rPr lang="en-US" sz="1801" b="1">
                    <a:solidFill>
                      <a:srgbClr val="FFFFFF"/>
                    </a:solidFill>
                    <a:latin typeface="Calibri (MS) Bold"/>
                    <a:ea typeface="Calibri (MS) Bold"/>
                    <a:cs typeface="Calibri (MS) Bold"/>
                    <a:sym typeface="Calibri (MS) Bold"/>
                  </a:rPr>
                  <a:t>✓</a:t>
                </a:r>
              </a:p>
            </p:txBody>
          </p:sp>
        </p:grpSp>
        <p:sp>
          <p:nvSpPr>
            <p:cNvPr id="45" name="TextBox 45"/>
            <p:cNvSpPr txBox="1"/>
            <p:nvPr/>
          </p:nvSpPr>
          <p:spPr>
            <a:xfrm>
              <a:off x="1037031" y="5086553"/>
              <a:ext cx="8541258" cy="648272"/>
            </a:xfrm>
            <a:prstGeom prst="rect">
              <a:avLst/>
            </a:prstGeom>
          </p:spPr>
          <p:txBody>
            <a:bodyPr lIns="0" tIns="0" rIns="0" bIns="0" rtlCol="0" anchor="t">
              <a:spAutoFit/>
            </a:bodyPr>
            <a:lstStyle/>
            <a:p>
              <a:pPr algn="l">
                <a:lnSpc>
                  <a:spcPts val="2882"/>
                </a:lnSpc>
              </a:pPr>
              <a:r>
                <a:rPr lang="en-US" sz="2401" b="1">
                  <a:solidFill>
                    <a:srgbClr val="FFFFFF"/>
                  </a:solidFill>
                  <a:latin typeface="Calibri (MS) Bold"/>
                  <a:ea typeface="Calibri (MS) Bold"/>
                  <a:cs typeface="Calibri (MS) Bold"/>
                  <a:sym typeface="Calibri (MS) Bold"/>
                </a:rPr>
                <a:t>Rules find who is affected</a:t>
              </a:r>
            </a:p>
          </p:txBody>
        </p:sp>
        <p:grpSp>
          <p:nvGrpSpPr>
            <p:cNvPr id="46" name="Group 46"/>
            <p:cNvGrpSpPr/>
            <p:nvPr/>
          </p:nvGrpSpPr>
          <p:grpSpPr>
            <a:xfrm>
              <a:off x="0" y="6527864"/>
              <a:ext cx="640575" cy="640575"/>
              <a:chOff x="0" y="0"/>
              <a:chExt cx="640575" cy="640575"/>
            </a:xfrm>
          </p:grpSpPr>
          <p:sp>
            <p:nvSpPr>
              <p:cNvPr id="47" name="Freeform 47"/>
              <p:cNvSpPr/>
              <p:nvPr/>
            </p:nvSpPr>
            <p:spPr>
              <a:xfrm>
                <a:off x="0" y="0"/>
                <a:ext cx="640588" cy="640588"/>
              </a:xfrm>
              <a:custGeom>
                <a:avLst/>
                <a:gdLst/>
                <a:ahLst/>
                <a:cxnLst/>
                <a:rect l="l" t="t" r="r" b="b"/>
                <a:pathLst>
                  <a:path w="640588" h="640588">
                    <a:moveTo>
                      <a:pt x="0" y="320294"/>
                    </a:moveTo>
                    <a:cubicBezTo>
                      <a:pt x="0" y="143383"/>
                      <a:pt x="143383" y="0"/>
                      <a:pt x="320294" y="0"/>
                    </a:cubicBezTo>
                    <a:cubicBezTo>
                      <a:pt x="497205" y="0"/>
                      <a:pt x="640588" y="143383"/>
                      <a:pt x="640588" y="320294"/>
                    </a:cubicBezTo>
                    <a:cubicBezTo>
                      <a:pt x="640588" y="497205"/>
                      <a:pt x="497205" y="640588"/>
                      <a:pt x="320294" y="640588"/>
                    </a:cubicBezTo>
                    <a:cubicBezTo>
                      <a:pt x="143383" y="640588"/>
                      <a:pt x="0" y="497205"/>
                      <a:pt x="0" y="320294"/>
                    </a:cubicBezTo>
                    <a:close/>
                  </a:path>
                </a:pathLst>
              </a:custGeom>
              <a:solidFill>
                <a:srgbClr val="0D9488"/>
              </a:solidFill>
            </p:spPr>
          </p:sp>
          <p:sp>
            <p:nvSpPr>
              <p:cNvPr id="48" name="TextBox 48"/>
              <p:cNvSpPr txBox="1"/>
              <p:nvPr/>
            </p:nvSpPr>
            <p:spPr>
              <a:xfrm>
                <a:off x="0" y="-38100"/>
                <a:ext cx="640575" cy="678675"/>
              </a:xfrm>
              <a:prstGeom prst="rect">
                <a:avLst/>
              </a:prstGeom>
            </p:spPr>
            <p:txBody>
              <a:bodyPr lIns="50800" tIns="50800" rIns="50800" bIns="50800" rtlCol="0" anchor="ctr"/>
              <a:lstStyle/>
              <a:p>
                <a:pPr algn="ctr">
                  <a:lnSpc>
                    <a:spcPts val="2161"/>
                  </a:lnSpc>
                </a:pPr>
                <a:r>
                  <a:rPr lang="en-US" sz="1801" b="1">
                    <a:solidFill>
                      <a:srgbClr val="FFFFFF"/>
                    </a:solidFill>
                    <a:latin typeface="Calibri (MS) Bold"/>
                    <a:ea typeface="Calibri (MS) Bold"/>
                    <a:cs typeface="Calibri (MS) Bold"/>
                    <a:sym typeface="Calibri (MS) Bold"/>
                  </a:rPr>
                  <a:t>✓</a:t>
                </a:r>
              </a:p>
            </p:txBody>
          </p:sp>
        </p:grpSp>
        <p:sp>
          <p:nvSpPr>
            <p:cNvPr id="49" name="TextBox 49"/>
            <p:cNvSpPr txBox="1"/>
            <p:nvPr/>
          </p:nvSpPr>
          <p:spPr>
            <a:xfrm>
              <a:off x="1037031" y="6459220"/>
              <a:ext cx="8541258" cy="648272"/>
            </a:xfrm>
            <a:prstGeom prst="rect">
              <a:avLst/>
            </a:prstGeom>
          </p:spPr>
          <p:txBody>
            <a:bodyPr lIns="0" tIns="0" rIns="0" bIns="0" rtlCol="0" anchor="t">
              <a:spAutoFit/>
            </a:bodyPr>
            <a:lstStyle/>
            <a:p>
              <a:pPr algn="l">
                <a:lnSpc>
                  <a:spcPts val="2882"/>
                </a:lnSpc>
              </a:pPr>
              <a:r>
                <a:rPr lang="en-US" sz="2401" b="1">
                  <a:solidFill>
                    <a:srgbClr val="FFFFFF"/>
                  </a:solidFill>
                  <a:latin typeface="Calibri (MS) Bold"/>
                  <a:ea typeface="Calibri (MS) Bold"/>
                  <a:cs typeface="Calibri (MS) Bold"/>
                  <a:sym typeface="Calibri (MS) Bold"/>
                </a:rPr>
                <a:t>Aye reviews and publishes</a:t>
              </a:r>
            </a:p>
          </p:txBody>
        </p:sp>
        <p:grpSp>
          <p:nvGrpSpPr>
            <p:cNvPr id="50" name="Group 50"/>
            <p:cNvGrpSpPr/>
            <p:nvPr/>
          </p:nvGrpSpPr>
          <p:grpSpPr>
            <a:xfrm>
              <a:off x="0" y="7900543"/>
              <a:ext cx="640575" cy="640575"/>
              <a:chOff x="0" y="0"/>
              <a:chExt cx="640575" cy="640575"/>
            </a:xfrm>
          </p:grpSpPr>
          <p:sp>
            <p:nvSpPr>
              <p:cNvPr id="51" name="Freeform 51"/>
              <p:cNvSpPr/>
              <p:nvPr/>
            </p:nvSpPr>
            <p:spPr>
              <a:xfrm>
                <a:off x="0" y="0"/>
                <a:ext cx="640588" cy="640588"/>
              </a:xfrm>
              <a:custGeom>
                <a:avLst/>
                <a:gdLst/>
                <a:ahLst/>
                <a:cxnLst/>
                <a:rect l="l" t="t" r="r" b="b"/>
                <a:pathLst>
                  <a:path w="640588" h="640588">
                    <a:moveTo>
                      <a:pt x="0" y="320294"/>
                    </a:moveTo>
                    <a:cubicBezTo>
                      <a:pt x="0" y="143383"/>
                      <a:pt x="143383" y="0"/>
                      <a:pt x="320294" y="0"/>
                    </a:cubicBezTo>
                    <a:cubicBezTo>
                      <a:pt x="497205" y="0"/>
                      <a:pt x="640588" y="143383"/>
                      <a:pt x="640588" y="320294"/>
                    </a:cubicBezTo>
                    <a:cubicBezTo>
                      <a:pt x="640588" y="497205"/>
                      <a:pt x="497205" y="640588"/>
                      <a:pt x="320294" y="640588"/>
                    </a:cubicBezTo>
                    <a:cubicBezTo>
                      <a:pt x="143383" y="640588"/>
                      <a:pt x="0" y="497205"/>
                      <a:pt x="0" y="320294"/>
                    </a:cubicBezTo>
                    <a:close/>
                  </a:path>
                </a:pathLst>
              </a:custGeom>
              <a:solidFill>
                <a:srgbClr val="0D9488"/>
              </a:solidFill>
            </p:spPr>
          </p:sp>
          <p:sp>
            <p:nvSpPr>
              <p:cNvPr id="52" name="TextBox 52"/>
              <p:cNvSpPr txBox="1"/>
              <p:nvPr/>
            </p:nvSpPr>
            <p:spPr>
              <a:xfrm>
                <a:off x="0" y="-38100"/>
                <a:ext cx="640575" cy="678675"/>
              </a:xfrm>
              <a:prstGeom prst="rect">
                <a:avLst/>
              </a:prstGeom>
            </p:spPr>
            <p:txBody>
              <a:bodyPr lIns="50800" tIns="50800" rIns="50800" bIns="50800" rtlCol="0" anchor="ctr"/>
              <a:lstStyle/>
              <a:p>
                <a:pPr algn="ctr">
                  <a:lnSpc>
                    <a:spcPts val="2161"/>
                  </a:lnSpc>
                </a:pPr>
                <a:r>
                  <a:rPr lang="en-US" sz="1801" b="1">
                    <a:solidFill>
                      <a:srgbClr val="FFFFFF"/>
                    </a:solidFill>
                    <a:latin typeface="Calibri (MS) Bold"/>
                    <a:ea typeface="Calibri (MS) Bold"/>
                    <a:cs typeface="Calibri (MS) Bold"/>
                    <a:sym typeface="Calibri (MS) Bold"/>
                  </a:rPr>
                  <a:t>✓</a:t>
                </a:r>
              </a:p>
            </p:txBody>
          </p:sp>
        </p:grpSp>
        <p:sp>
          <p:nvSpPr>
            <p:cNvPr id="53" name="TextBox 53"/>
            <p:cNvSpPr txBox="1"/>
            <p:nvPr/>
          </p:nvSpPr>
          <p:spPr>
            <a:xfrm>
              <a:off x="1037031" y="7831887"/>
              <a:ext cx="8541258" cy="648272"/>
            </a:xfrm>
            <a:prstGeom prst="rect">
              <a:avLst/>
            </a:prstGeom>
          </p:spPr>
          <p:txBody>
            <a:bodyPr lIns="0" tIns="0" rIns="0" bIns="0" rtlCol="0" anchor="t">
              <a:spAutoFit/>
            </a:bodyPr>
            <a:lstStyle/>
            <a:p>
              <a:pPr algn="l">
                <a:lnSpc>
                  <a:spcPts val="2882"/>
                </a:lnSpc>
              </a:pPr>
              <a:r>
                <a:rPr lang="en-US" sz="2401" b="1">
                  <a:solidFill>
                    <a:srgbClr val="FFFFFF"/>
                  </a:solidFill>
                  <a:latin typeface="Calibri (MS) Bold"/>
                  <a:ea typeface="Calibri (MS) Bold"/>
                  <a:cs typeface="Calibri (MS) Bold"/>
                  <a:sym typeface="Calibri (MS) Bold"/>
                </a:rPr>
                <a:t>May sees the answer</a:t>
              </a:r>
            </a:p>
          </p:txBody>
        </p:sp>
        <p:grpSp>
          <p:nvGrpSpPr>
            <p:cNvPr id="54" name="Group 54"/>
            <p:cNvGrpSpPr/>
            <p:nvPr/>
          </p:nvGrpSpPr>
          <p:grpSpPr>
            <a:xfrm>
              <a:off x="0" y="9273210"/>
              <a:ext cx="640575" cy="640575"/>
              <a:chOff x="0" y="0"/>
              <a:chExt cx="640575" cy="640575"/>
            </a:xfrm>
          </p:grpSpPr>
          <p:sp>
            <p:nvSpPr>
              <p:cNvPr id="55" name="Freeform 55"/>
              <p:cNvSpPr/>
              <p:nvPr/>
            </p:nvSpPr>
            <p:spPr>
              <a:xfrm>
                <a:off x="0" y="0"/>
                <a:ext cx="640588" cy="640588"/>
              </a:xfrm>
              <a:custGeom>
                <a:avLst/>
                <a:gdLst/>
                <a:ahLst/>
                <a:cxnLst/>
                <a:rect l="l" t="t" r="r" b="b"/>
                <a:pathLst>
                  <a:path w="640588" h="640588">
                    <a:moveTo>
                      <a:pt x="0" y="320294"/>
                    </a:moveTo>
                    <a:cubicBezTo>
                      <a:pt x="0" y="143383"/>
                      <a:pt x="143383" y="0"/>
                      <a:pt x="320294" y="0"/>
                    </a:cubicBezTo>
                    <a:cubicBezTo>
                      <a:pt x="497205" y="0"/>
                      <a:pt x="640588" y="143383"/>
                      <a:pt x="640588" y="320294"/>
                    </a:cubicBezTo>
                    <a:cubicBezTo>
                      <a:pt x="640588" y="497205"/>
                      <a:pt x="497205" y="640588"/>
                      <a:pt x="320294" y="640588"/>
                    </a:cubicBezTo>
                    <a:cubicBezTo>
                      <a:pt x="143383" y="640588"/>
                      <a:pt x="0" y="497205"/>
                      <a:pt x="0" y="320294"/>
                    </a:cubicBezTo>
                    <a:close/>
                  </a:path>
                </a:pathLst>
              </a:custGeom>
              <a:solidFill>
                <a:srgbClr val="0D9488"/>
              </a:solidFill>
            </p:spPr>
          </p:sp>
          <p:sp>
            <p:nvSpPr>
              <p:cNvPr id="56" name="TextBox 56"/>
              <p:cNvSpPr txBox="1"/>
              <p:nvPr/>
            </p:nvSpPr>
            <p:spPr>
              <a:xfrm>
                <a:off x="0" y="-38100"/>
                <a:ext cx="640575" cy="678675"/>
              </a:xfrm>
              <a:prstGeom prst="rect">
                <a:avLst/>
              </a:prstGeom>
            </p:spPr>
            <p:txBody>
              <a:bodyPr lIns="50800" tIns="50800" rIns="50800" bIns="50800" rtlCol="0" anchor="ctr"/>
              <a:lstStyle/>
              <a:p>
                <a:pPr algn="ctr">
                  <a:lnSpc>
                    <a:spcPts val="2161"/>
                  </a:lnSpc>
                </a:pPr>
                <a:r>
                  <a:rPr lang="en-US" sz="1801" b="1">
                    <a:solidFill>
                      <a:srgbClr val="FFFFFF"/>
                    </a:solidFill>
                    <a:latin typeface="Calibri (MS) Bold"/>
                    <a:ea typeface="Calibri (MS) Bold"/>
                    <a:cs typeface="Calibri (MS) Bold"/>
                    <a:sym typeface="Calibri (MS) Bold"/>
                  </a:rPr>
                  <a:t>✓</a:t>
                </a:r>
              </a:p>
            </p:txBody>
          </p:sp>
        </p:grpSp>
        <p:sp>
          <p:nvSpPr>
            <p:cNvPr id="57" name="TextBox 57"/>
            <p:cNvSpPr txBox="1"/>
            <p:nvPr/>
          </p:nvSpPr>
          <p:spPr>
            <a:xfrm>
              <a:off x="1037031" y="9204566"/>
              <a:ext cx="8541258" cy="648272"/>
            </a:xfrm>
            <a:prstGeom prst="rect">
              <a:avLst/>
            </a:prstGeom>
          </p:spPr>
          <p:txBody>
            <a:bodyPr lIns="0" tIns="0" rIns="0" bIns="0" rtlCol="0" anchor="t">
              <a:spAutoFit/>
            </a:bodyPr>
            <a:lstStyle/>
            <a:p>
              <a:pPr algn="l">
                <a:lnSpc>
                  <a:spcPts val="2882"/>
                </a:lnSpc>
              </a:pPr>
              <a:r>
                <a:rPr lang="en-US" sz="2401" b="1">
                  <a:solidFill>
                    <a:srgbClr val="FFFFFF"/>
                  </a:solidFill>
                  <a:latin typeface="Calibri (MS) Bold"/>
                  <a:ea typeface="Calibri (MS) Bold"/>
                  <a:cs typeface="Calibri (MS) Bold"/>
                  <a:sym typeface="Calibri (MS) Bold"/>
                </a:rPr>
                <a:t>Seller gets a relevant handoff</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sp>
        <p:nvSpPr>
          <p:cNvPr id="2" name="TextBox 2"/>
          <p:cNvSpPr txBox="1"/>
          <p:nvPr/>
        </p:nvSpPr>
        <p:spPr>
          <a:xfrm>
            <a:off x="1028700" y="845820"/>
            <a:ext cx="16573500" cy="1621155"/>
          </a:xfrm>
          <a:prstGeom prst="rect">
            <a:avLst/>
          </a:prstGeom>
        </p:spPr>
        <p:txBody>
          <a:bodyPr lIns="0" tIns="0" rIns="0" bIns="0" rtlCol="0" anchor="t">
            <a:spAutoFit/>
          </a:bodyPr>
          <a:lstStyle/>
          <a:p>
            <a:pPr algn="l">
              <a:lnSpc>
                <a:spcPts val="6360"/>
              </a:lnSpc>
            </a:pPr>
            <a:r>
              <a:rPr lang="en-US" sz="6000" b="1">
                <a:solidFill>
                  <a:srgbClr val="F5821F"/>
                </a:solidFill>
                <a:latin typeface="Montserrat Bold"/>
                <a:ea typeface="Montserrat Bold"/>
                <a:cs typeface="Montserrat Bold"/>
                <a:sym typeface="Montserrat Bold"/>
              </a:rPr>
              <a:t>Sources and</a:t>
            </a:r>
          </a:p>
          <a:p>
            <a:pPr algn="l">
              <a:lnSpc>
                <a:spcPts val="6360"/>
              </a:lnSpc>
            </a:pPr>
            <a:r>
              <a:rPr lang="en-US" sz="6000" b="1">
                <a:solidFill>
                  <a:srgbClr val="F5821F"/>
                </a:solidFill>
                <a:latin typeface="Montserrat Bold"/>
                <a:ea typeface="Montserrat Bold"/>
                <a:cs typeface="Montserrat Bold"/>
                <a:sym typeface="Montserrat Bold"/>
              </a:rPr>
              <a:t>demonstration boundaries</a:t>
            </a:r>
          </a:p>
        </p:txBody>
      </p:sp>
      <p:sp>
        <p:nvSpPr>
          <p:cNvPr id="3" name="TextBox 3"/>
          <p:cNvSpPr txBox="1"/>
          <p:nvPr/>
        </p:nvSpPr>
        <p:spPr>
          <a:xfrm>
            <a:off x="1028700" y="2695575"/>
            <a:ext cx="16573500" cy="342900"/>
          </a:xfrm>
          <a:prstGeom prst="rect">
            <a:avLst/>
          </a:prstGeom>
        </p:spPr>
        <p:txBody>
          <a:bodyPr lIns="0" tIns="0" rIns="0" bIns="0" rtlCol="0" anchor="t">
            <a:spAutoFit/>
          </a:bodyPr>
          <a:lstStyle/>
          <a:p>
            <a:pPr algn="l">
              <a:lnSpc>
                <a:spcPts val="2639"/>
              </a:lnSpc>
            </a:pPr>
            <a:r>
              <a:rPr lang="en-US" sz="2199">
                <a:solidFill>
                  <a:srgbClr val="FAF8F2"/>
                </a:solidFill>
                <a:latin typeface="DM Sans"/>
                <a:ea typeface="DM Sans"/>
                <a:cs typeface="DM Sans"/>
                <a:sym typeface="DM Sans"/>
              </a:rPr>
              <a:t>Unspoken appendix · Reference for judges</a:t>
            </a:r>
          </a:p>
        </p:txBody>
      </p:sp>
      <p:grpSp>
        <p:nvGrpSpPr>
          <p:cNvPr id="4" name="Group 4"/>
          <p:cNvGrpSpPr/>
          <p:nvPr/>
        </p:nvGrpSpPr>
        <p:grpSpPr>
          <a:xfrm>
            <a:off x="857250" y="3333750"/>
            <a:ext cx="8096250" cy="1714500"/>
            <a:chOff x="0" y="0"/>
            <a:chExt cx="10795000" cy="2286000"/>
          </a:xfrm>
        </p:grpSpPr>
        <p:grpSp>
          <p:nvGrpSpPr>
            <p:cNvPr id="5" name="Group 5"/>
            <p:cNvGrpSpPr/>
            <p:nvPr/>
          </p:nvGrpSpPr>
          <p:grpSpPr>
            <a:xfrm>
              <a:off x="0" y="0"/>
              <a:ext cx="10795000" cy="2286000"/>
              <a:chOff x="0" y="0"/>
              <a:chExt cx="10795000" cy="2286000"/>
            </a:xfrm>
          </p:grpSpPr>
          <p:sp>
            <p:nvSpPr>
              <p:cNvPr id="6" name="Freeform 6"/>
              <p:cNvSpPr/>
              <p:nvPr/>
            </p:nvSpPr>
            <p:spPr>
              <a:xfrm>
                <a:off x="0" y="0"/>
                <a:ext cx="10795000" cy="2286000"/>
              </a:xfrm>
              <a:custGeom>
                <a:avLst/>
                <a:gdLst/>
                <a:ahLst/>
                <a:cxnLst/>
                <a:rect l="l" t="t" r="r" b="b"/>
                <a:pathLst>
                  <a:path w="10795000" h="2286000">
                    <a:moveTo>
                      <a:pt x="0" y="0"/>
                    </a:moveTo>
                    <a:lnTo>
                      <a:pt x="10795000" y="0"/>
                    </a:lnTo>
                    <a:lnTo>
                      <a:pt x="10795000" y="2286000"/>
                    </a:lnTo>
                    <a:lnTo>
                      <a:pt x="0" y="2286000"/>
                    </a:lnTo>
                    <a:close/>
                  </a:path>
                </a:pathLst>
              </a:custGeom>
              <a:solidFill>
                <a:srgbClr val="DCE4E5"/>
              </a:solidFill>
              <a:ln cap="sq">
                <a:noFill/>
                <a:prstDash val="solid"/>
                <a:miter/>
              </a:ln>
            </p:spPr>
          </p:sp>
          <p:sp>
            <p:nvSpPr>
              <p:cNvPr id="7" name="TextBox 7"/>
              <p:cNvSpPr txBox="1"/>
              <p:nvPr/>
            </p:nvSpPr>
            <p:spPr>
              <a:xfrm>
                <a:off x="0" y="-38100"/>
                <a:ext cx="10795000" cy="2324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508000" y="434975"/>
              <a:ext cx="9779000" cy="489077"/>
            </a:xfrm>
            <a:prstGeom prst="rect">
              <a:avLst/>
            </a:prstGeom>
          </p:spPr>
          <p:txBody>
            <a:bodyPr lIns="0" tIns="0" rIns="0" bIns="0" rtlCol="0" anchor="t">
              <a:spAutoFit/>
            </a:bodyPr>
            <a:lstStyle/>
            <a:p>
              <a:pPr algn="l">
                <a:lnSpc>
                  <a:spcPts val="2703"/>
                </a:lnSpc>
              </a:pPr>
              <a:r>
                <a:rPr lang="en-US" sz="2550" b="1" u="sng">
                  <a:solidFill>
                    <a:srgbClr val="10283F"/>
                  </a:solidFill>
                  <a:latin typeface="Montserrat Bold"/>
                  <a:ea typeface="Montserrat Bold"/>
                  <a:cs typeface="Montserrat Bold"/>
                  <a:sym typeface="Montserrat Bold"/>
                  <a:hlinkClick r:id="rId3" tooltip="https://www.ofcom.org.uk/post/deliveries-and-charges/best-and-worst-parcel-firms-for-customer-satisfaction-revealed-2025"/>
                </a:rPr>
                <a:t>Ofcom · 22 Oct 2025 ↗</a:t>
              </a:r>
            </a:p>
          </p:txBody>
        </p:sp>
        <p:sp>
          <p:nvSpPr>
            <p:cNvPr id="9" name="TextBox 9"/>
            <p:cNvSpPr txBox="1"/>
            <p:nvPr/>
          </p:nvSpPr>
          <p:spPr>
            <a:xfrm>
              <a:off x="508000" y="1171575"/>
              <a:ext cx="9779000" cy="834009"/>
            </a:xfrm>
            <a:prstGeom prst="rect">
              <a:avLst/>
            </a:prstGeom>
          </p:spPr>
          <p:txBody>
            <a:bodyPr lIns="0" tIns="0" rIns="0" bIns="0" rtlCol="0" anchor="t">
              <a:spAutoFit/>
            </a:bodyPr>
            <a:lstStyle/>
            <a:p>
              <a:pPr algn="l">
                <a:lnSpc>
                  <a:spcPts val="2511"/>
                </a:lnSpc>
              </a:pPr>
              <a:r>
                <a:rPr lang="en-US" sz="2025">
                  <a:solidFill>
                    <a:srgbClr val="10283F"/>
                  </a:solidFill>
                  <a:latin typeface="DM Sans"/>
                  <a:ea typeface="DM Sans"/>
                  <a:cs typeface="DM Sans"/>
                  <a:sym typeface="DM Sans"/>
                  <a:hlinkClick r:id="rId3" tooltip="https://www.ofcom.org.uk/post/deliveries-and-charges/best-and-worst-parcel-firms-for-customer-satisfaction-revealed-2025"/>
                </a:rPr>
                <a:t>Best and worst parcel firms for customer</a:t>
              </a:r>
            </a:p>
            <a:p>
              <a:pPr algn="l">
                <a:lnSpc>
                  <a:spcPts val="2511"/>
                </a:lnSpc>
              </a:pPr>
              <a:r>
                <a:rPr lang="en-US" sz="2025">
                  <a:solidFill>
                    <a:srgbClr val="10283F"/>
                  </a:solidFill>
                  <a:latin typeface="DM Sans"/>
                  <a:ea typeface="DM Sans"/>
                  <a:cs typeface="DM Sans"/>
                  <a:sym typeface="DM Sans"/>
                  <a:hlinkClick r:id="rId3" tooltip="https://www.ofcom.org.uk/post/deliveries-and-charges/best-and-worst-parcel-firms-for-customer-satisfaction-revealed-2025"/>
                </a:rPr>
                <a:t>satisfaction revealed 2025</a:t>
              </a:r>
            </a:p>
          </p:txBody>
        </p:sp>
      </p:grpSp>
      <p:grpSp>
        <p:nvGrpSpPr>
          <p:cNvPr id="10" name="Group 10"/>
          <p:cNvGrpSpPr/>
          <p:nvPr/>
        </p:nvGrpSpPr>
        <p:grpSpPr>
          <a:xfrm>
            <a:off x="857250" y="5286375"/>
            <a:ext cx="8096250" cy="1714500"/>
            <a:chOff x="0" y="0"/>
            <a:chExt cx="10795000" cy="2286000"/>
          </a:xfrm>
        </p:grpSpPr>
        <p:grpSp>
          <p:nvGrpSpPr>
            <p:cNvPr id="11" name="Group 11"/>
            <p:cNvGrpSpPr/>
            <p:nvPr/>
          </p:nvGrpSpPr>
          <p:grpSpPr>
            <a:xfrm>
              <a:off x="0" y="0"/>
              <a:ext cx="10795000" cy="2286000"/>
              <a:chOff x="0" y="0"/>
              <a:chExt cx="10795000" cy="2286000"/>
            </a:xfrm>
          </p:grpSpPr>
          <p:sp>
            <p:nvSpPr>
              <p:cNvPr id="12" name="Freeform 12"/>
              <p:cNvSpPr/>
              <p:nvPr/>
            </p:nvSpPr>
            <p:spPr>
              <a:xfrm>
                <a:off x="0" y="0"/>
                <a:ext cx="10795000" cy="2286000"/>
              </a:xfrm>
              <a:custGeom>
                <a:avLst/>
                <a:gdLst/>
                <a:ahLst/>
                <a:cxnLst/>
                <a:rect l="l" t="t" r="r" b="b"/>
                <a:pathLst>
                  <a:path w="10795000" h="2286000">
                    <a:moveTo>
                      <a:pt x="0" y="0"/>
                    </a:moveTo>
                    <a:lnTo>
                      <a:pt x="10795000" y="0"/>
                    </a:lnTo>
                    <a:lnTo>
                      <a:pt x="10795000" y="2286000"/>
                    </a:lnTo>
                    <a:lnTo>
                      <a:pt x="0" y="2286000"/>
                    </a:lnTo>
                    <a:close/>
                  </a:path>
                </a:pathLst>
              </a:custGeom>
              <a:solidFill>
                <a:srgbClr val="DCE4E5"/>
              </a:solidFill>
              <a:ln cap="sq">
                <a:noFill/>
                <a:prstDash val="solid"/>
                <a:miter/>
              </a:ln>
            </p:spPr>
          </p:sp>
          <p:sp>
            <p:nvSpPr>
              <p:cNvPr id="13" name="TextBox 13"/>
              <p:cNvSpPr txBox="1"/>
              <p:nvPr/>
            </p:nvSpPr>
            <p:spPr>
              <a:xfrm>
                <a:off x="0" y="-38100"/>
                <a:ext cx="10795000" cy="2324100"/>
              </a:xfrm>
              <a:prstGeom prst="rect">
                <a:avLst/>
              </a:prstGeom>
            </p:spPr>
            <p:txBody>
              <a:bodyPr lIns="50800" tIns="50800" rIns="50800" bIns="50800" rtlCol="0" anchor="ctr"/>
              <a:lstStyle/>
              <a:p>
                <a:pPr algn="l">
                  <a:lnSpc>
                    <a:spcPts val="1679"/>
                  </a:lnSpc>
                </a:pPr>
                <a:endParaRPr/>
              </a:p>
            </p:txBody>
          </p:sp>
        </p:grpSp>
        <p:sp>
          <p:nvSpPr>
            <p:cNvPr id="14" name="TextBox 14"/>
            <p:cNvSpPr txBox="1"/>
            <p:nvPr/>
          </p:nvSpPr>
          <p:spPr>
            <a:xfrm>
              <a:off x="508000" y="434975"/>
              <a:ext cx="9779000" cy="489077"/>
            </a:xfrm>
            <a:prstGeom prst="rect">
              <a:avLst/>
            </a:prstGeom>
          </p:spPr>
          <p:txBody>
            <a:bodyPr lIns="0" tIns="0" rIns="0" bIns="0" rtlCol="0" anchor="t">
              <a:spAutoFit/>
            </a:bodyPr>
            <a:lstStyle/>
            <a:p>
              <a:pPr algn="l">
                <a:lnSpc>
                  <a:spcPts val="2703"/>
                </a:lnSpc>
              </a:pPr>
              <a:r>
                <a:rPr lang="en-US" sz="2550" b="1" u="sng">
                  <a:solidFill>
                    <a:srgbClr val="10283F"/>
                  </a:solidFill>
                  <a:latin typeface="Montserrat Bold"/>
                  <a:ea typeface="Montserrat Bold"/>
                  <a:cs typeface="Montserrat Bold"/>
                  <a:sym typeface="Montserrat Bold"/>
                  <a:hlinkClick r:id="rId4" tooltip="https://www.zendesk.com/service/ticketing-system/"/>
                </a:rPr>
                <a:t>Zendesk · Ticketing system ↗</a:t>
              </a:r>
            </a:p>
          </p:txBody>
        </p:sp>
        <p:sp>
          <p:nvSpPr>
            <p:cNvPr id="15" name="TextBox 15"/>
            <p:cNvSpPr txBox="1"/>
            <p:nvPr/>
          </p:nvSpPr>
          <p:spPr>
            <a:xfrm>
              <a:off x="508000" y="1171575"/>
              <a:ext cx="9779000" cy="414909"/>
            </a:xfrm>
            <a:prstGeom prst="rect">
              <a:avLst/>
            </a:prstGeom>
          </p:spPr>
          <p:txBody>
            <a:bodyPr lIns="0" tIns="0" rIns="0" bIns="0" rtlCol="0" anchor="t">
              <a:spAutoFit/>
            </a:bodyPr>
            <a:lstStyle/>
            <a:p>
              <a:pPr algn="l">
                <a:lnSpc>
                  <a:spcPts val="2511"/>
                </a:lnSpc>
              </a:pPr>
              <a:r>
                <a:rPr lang="en-US" sz="2025">
                  <a:solidFill>
                    <a:srgbClr val="10283F"/>
                  </a:solidFill>
                  <a:latin typeface="DM Sans"/>
                  <a:ea typeface="DM Sans"/>
                  <a:cs typeface="DM Sans"/>
                  <a:sym typeface="DM Sans"/>
                  <a:hlinkClick r:id="rId4" tooltip="https://www.zendesk.com/service/ticketing-system/"/>
                </a:rPr>
                <a:t>Official reference: unified support ticketing</a:t>
              </a:r>
            </a:p>
          </p:txBody>
        </p:sp>
      </p:grpSp>
      <p:grpSp>
        <p:nvGrpSpPr>
          <p:cNvPr id="16" name="Group 16"/>
          <p:cNvGrpSpPr/>
          <p:nvPr/>
        </p:nvGrpSpPr>
        <p:grpSpPr>
          <a:xfrm>
            <a:off x="857250" y="7239000"/>
            <a:ext cx="8096250" cy="1714500"/>
            <a:chOff x="0" y="0"/>
            <a:chExt cx="10795000" cy="2286000"/>
          </a:xfrm>
        </p:grpSpPr>
        <p:grpSp>
          <p:nvGrpSpPr>
            <p:cNvPr id="17" name="Group 17"/>
            <p:cNvGrpSpPr/>
            <p:nvPr/>
          </p:nvGrpSpPr>
          <p:grpSpPr>
            <a:xfrm>
              <a:off x="0" y="0"/>
              <a:ext cx="10795000" cy="2286000"/>
              <a:chOff x="0" y="0"/>
              <a:chExt cx="10795000" cy="2286000"/>
            </a:xfrm>
          </p:grpSpPr>
          <p:sp>
            <p:nvSpPr>
              <p:cNvPr id="18" name="Freeform 18"/>
              <p:cNvSpPr/>
              <p:nvPr/>
            </p:nvSpPr>
            <p:spPr>
              <a:xfrm>
                <a:off x="0" y="0"/>
                <a:ext cx="10795000" cy="2286000"/>
              </a:xfrm>
              <a:custGeom>
                <a:avLst/>
                <a:gdLst/>
                <a:ahLst/>
                <a:cxnLst/>
                <a:rect l="l" t="t" r="r" b="b"/>
                <a:pathLst>
                  <a:path w="10795000" h="2286000">
                    <a:moveTo>
                      <a:pt x="0" y="0"/>
                    </a:moveTo>
                    <a:lnTo>
                      <a:pt x="10795000" y="0"/>
                    </a:lnTo>
                    <a:lnTo>
                      <a:pt x="10795000" y="2286000"/>
                    </a:lnTo>
                    <a:lnTo>
                      <a:pt x="0" y="2286000"/>
                    </a:lnTo>
                    <a:close/>
                  </a:path>
                </a:pathLst>
              </a:custGeom>
              <a:solidFill>
                <a:srgbClr val="DCE4E5"/>
              </a:solidFill>
              <a:ln cap="sq">
                <a:noFill/>
                <a:prstDash val="solid"/>
                <a:miter/>
              </a:ln>
            </p:spPr>
          </p:sp>
          <p:sp>
            <p:nvSpPr>
              <p:cNvPr id="19" name="TextBox 19"/>
              <p:cNvSpPr txBox="1"/>
              <p:nvPr/>
            </p:nvSpPr>
            <p:spPr>
              <a:xfrm>
                <a:off x="0" y="-38100"/>
                <a:ext cx="10795000" cy="2324100"/>
              </a:xfrm>
              <a:prstGeom prst="rect">
                <a:avLst/>
              </a:prstGeom>
            </p:spPr>
            <p:txBody>
              <a:bodyPr lIns="50800" tIns="50800" rIns="50800" bIns="50800" rtlCol="0" anchor="ctr"/>
              <a:lstStyle/>
              <a:p>
                <a:pPr algn="l">
                  <a:lnSpc>
                    <a:spcPts val="1679"/>
                  </a:lnSpc>
                </a:pPr>
                <a:endParaRPr/>
              </a:p>
            </p:txBody>
          </p:sp>
        </p:grpSp>
        <p:sp>
          <p:nvSpPr>
            <p:cNvPr id="20" name="TextBox 20"/>
            <p:cNvSpPr txBox="1"/>
            <p:nvPr/>
          </p:nvSpPr>
          <p:spPr>
            <a:xfrm>
              <a:off x="508000" y="434975"/>
              <a:ext cx="9779000" cy="489077"/>
            </a:xfrm>
            <a:prstGeom prst="rect">
              <a:avLst/>
            </a:prstGeom>
          </p:spPr>
          <p:txBody>
            <a:bodyPr lIns="0" tIns="0" rIns="0" bIns="0" rtlCol="0" anchor="t">
              <a:spAutoFit/>
            </a:bodyPr>
            <a:lstStyle/>
            <a:p>
              <a:pPr algn="l">
                <a:lnSpc>
                  <a:spcPts val="2703"/>
                </a:lnSpc>
              </a:pPr>
              <a:r>
                <a:rPr lang="en-US" sz="2550" b="1" u="sng">
                  <a:solidFill>
                    <a:srgbClr val="10283F"/>
                  </a:solidFill>
                  <a:latin typeface="Montserrat Bold"/>
                  <a:ea typeface="Montserrat Bold"/>
                  <a:cs typeface="Montserrat Bold"/>
                  <a:sym typeface="Montserrat Bold"/>
                  <a:hlinkClick r:id="rId5" tooltip="https://support.aftership.com/en/tracking/articles/17126856-set-up-exception-handling-settings"/>
                </a:rPr>
                <a:t>AfterShip · Exception-handling settings ↗</a:t>
              </a:r>
            </a:p>
          </p:txBody>
        </p:sp>
        <p:sp>
          <p:nvSpPr>
            <p:cNvPr id="21" name="TextBox 21"/>
            <p:cNvSpPr txBox="1"/>
            <p:nvPr/>
          </p:nvSpPr>
          <p:spPr>
            <a:xfrm>
              <a:off x="508000" y="1171575"/>
              <a:ext cx="9779000" cy="414909"/>
            </a:xfrm>
            <a:prstGeom prst="rect">
              <a:avLst/>
            </a:prstGeom>
          </p:spPr>
          <p:txBody>
            <a:bodyPr lIns="0" tIns="0" rIns="0" bIns="0" rtlCol="0" anchor="t">
              <a:spAutoFit/>
            </a:bodyPr>
            <a:lstStyle/>
            <a:p>
              <a:pPr algn="l">
                <a:lnSpc>
                  <a:spcPts val="2511"/>
                </a:lnSpc>
              </a:pPr>
              <a:r>
                <a:rPr lang="en-US" sz="2025">
                  <a:solidFill>
                    <a:srgbClr val="10283F"/>
                  </a:solidFill>
                  <a:latin typeface="DM Sans"/>
                  <a:ea typeface="DM Sans"/>
                  <a:cs typeface="DM Sans"/>
                  <a:sym typeface="DM Sans"/>
                  <a:hlinkClick r:id="rId5" tooltip="https://support.aftership.com/en/tracking/articles/17126856-set-up-exception-handling-settings"/>
                </a:rPr>
                <a:t>Official reference: exception management</a:t>
              </a:r>
            </a:p>
          </p:txBody>
        </p:sp>
      </p:grpSp>
      <p:grpSp>
        <p:nvGrpSpPr>
          <p:cNvPr id="22" name="Group 22"/>
          <p:cNvGrpSpPr/>
          <p:nvPr/>
        </p:nvGrpSpPr>
        <p:grpSpPr>
          <a:xfrm>
            <a:off x="9620250" y="3038475"/>
            <a:ext cx="7810500" cy="6191250"/>
            <a:chOff x="0" y="0"/>
            <a:chExt cx="10414000" cy="8255000"/>
          </a:xfrm>
        </p:grpSpPr>
        <p:grpSp>
          <p:nvGrpSpPr>
            <p:cNvPr id="23" name="Group 23"/>
            <p:cNvGrpSpPr/>
            <p:nvPr/>
          </p:nvGrpSpPr>
          <p:grpSpPr>
            <a:xfrm>
              <a:off x="0" y="0"/>
              <a:ext cx="10414000" cy="8255000"/>
              <a:chOff x="0" y="0"/>
              <a:chExt cx="10414000" cy="8255000"/>
            </a:xfrm>
          </p:grpSpPr>
          <p:sp>
            <p:nvSpPr>
              <p:cNvPr id="24" name="Freeform 24"/>
              <p:cNvSpPr/>
              <p:nvPr/>
            </p:nvSpPr>
            <p:spPr>
              <a:xfrm>
                <a:off x="0" y="0"/>
                <a:ext cx="10414000" cy="8255000"/>
              </a:xfrm>
              <a:custGeom>
                <a:avLst/>
                <a:gdLst/>
                <a:ahLst/>
                <a:cxnLst/>
                <a:rect l="l" t="t" r="r" b="b"/>
                <a:pathLst>
                  <a:path w="10414000" h="8255000">
                    <a:moveTo>
                      <a:pt x="0" y="0"/>
                    </a:moveTo>
                    <a:lnTo>
                      <a:pt x="10414000" y="0"/>
                    </a:lnTo>
                    <a:lnTo>
                      <a:pt x="10414000" y="8255000"/>
                    </a:lnTo>
                    <a:lnTo>
                      <a:pt x="0" y="8255000"/>
                    </a:lnTo>
                    <a:close/>
                  </a:path>
                </a:pathLst>
              </a:custGeom>
              <a:solidFill>
                <a:srgbClr val="E7F3EF"/>
              </a:solidFill>
              <a:ln cap="sq">
                <a:noFill/>
                <a:prstDash val="solid"/>
                <a:miter/>
              </a:ln>
            </p:spPr>
          </p:sp>
          <p:sp>
            <p:nvSpPr>
              <p:cNvPr id="25" name="TextBox 25"/>
              <p:cNvSpPr txBox="1"/>
              <p:nvPr/>
            </p:nvSpPr>
            <p:spPr>
              <a:xfrm>
                <a:off x="0" y="-38100"/>
                <a:ext cx="10414000" cy="8293100"/>
              </a:xfrm>
              <a:prstGeom prst="rect">
                <a:avLst/>
              </a:prstGeom>
            </p:spPr>
            <p:txBody>
              <a:bodyPr lIns="50800" tIns="50800" rIns="50800" bIns="50800" rtlCol="0" anchor="ctr"/>
              <a:lstStyle/>
              <a:p>
                <a:pPr algn="l">
                  <a:lnSpc>
                    <a:spcPts val="1680"/>
                  </a:lnSpc>
                </a:pPr>
                <a:endParaRPr/>
              </a:p>
            </p:txBody>
          </p:sp>
        </p:grpSp>
        <p:sp>
          <p:nvSpPr>
            <p:cNvPr id="26" name="TextBox 26"/>
            <p:cNvSpPr txBox="1"/>
            <p:nvPr/>
          </p:nvSpPr>
          <p:spPr>
            <a:xfrm>
              <a:off x="635000" y="536575"/>
              <a:ext cx="9017000" cy="461899"/>
            </a:xfrm>
            <a:prstGeom prst="rect">
              <a:avLst/>
            </a:prstGeom>
          </p:spPr>
          <p:txBody>
            <a:bodyPr lIns="0" tIns="0" rIns="0" bIns="0" rtlCol="0" anchor="t">
              <a:spAutoFit/>
            </a:bodyPr>
            <a:lstStyle/>
            <a:p>
              <a:pPr algn="l">
                <a:lnSpc>
                  <a:spcPts val="2623"/>
                </a:lnSpc>
              </a:pPr>
              <a:r>
                <a:rPr lang="en-US" sz="2474" b="1">
                  <a:solidFill>
                    <a:srgbClr val="10283F"/>
                  </a:solidFill>
                  <a:latin typeface="Montserrat Bold"/>
                  <a:ea typeface="Montserrat Bold"/>
                  <a:cs typeface="Montserrat Bold"/>
                  <a:sym typeface="Montserrat Bold"/>
                </a:rPr>
                <a:t>What this demonstration does not claim</a:t>
              </a:r>
            </a:p>
          </p:txBody>
        </p:sp>
        <p:sp>
          <p:nvSpPr>
            <p:cNvPr id="27" name="TextBox 27"/>
            <p:cNvSpPr txBox="1"/>
            <p:nvPr/>
          </p:nvSpPr>
          <p:spPr>
            <a:xfrm>
              <a:off x="635000" y="1514475"/>
              <a:ext cx="9017000" cy="5163185"/>
            </a:xfrm>
            <a:prstGeom prst="rect">
              <a:avLst/>
            </a:prstGeom>
          </p:spPr>
          <p:txBody>
            <a:bodyPr lIns="0" tIns="0" rIns="0" bIns="0" rtlCol="0" anchor="t">
              <a:spAutoFit/>
            </a:bodyPr>
            <a:lstStyle/>
            <a:p>
              <a:pPr algn="l">
                <a:lnSpc>
                  <a:spcPts val="2789"/>
                </a:lnSpc>
              </a:pPr>
              <a:r>
                <a:rPr lang="en-US" sz="2249">
                  <a:solidFill>
                    <a:srgbClr val="10283F"/>
                  </a:solidFill>
                  <a:latin typeface="DM Sans"/>
                  <a:ea typeface="DM Sans"/>
                  <a:cs typeface="DM Sans"/>
                  <a:sym typeface="DM Sans"/>
                </a:rPr>
                <a:t>UK measures are separate; not Myanmar estimates.</a:t>
              </a:r>
            </a:p>
            <a:p>
              <a:pPr algn="l">
                <a:lnSpc>
                  <a:spcPts val="2789"/>
                </a:lnSpc>
              </a:pPr>
              <a:endParaRPr lang="en-US" sz="2249">
                <a:solidFill>
                  <a:srgbClr val="10283F"/>
                </a:solidFill>
                <a:latin typeface="DM Sans"/>
                <a:ea typeface="DM Sans"/>
                <a:cs typeface="DM Sans"/>
                <a:sym typeface="DM Sans"/>
              </a:endParaRPr>
            </a:p>
            <a:p>
              <a:pPr algn="l">
                <a:lnSpc>
                  <a:spcPts val="2789"/>
                </a:lnSpc>
              </a:pPr>
              <a:r>
                <a:rPr lang="en-US" sz="2249">
                  <a:solidFill>
                    <a:srgbClr val="10283F"/>
                  </a:solidFill>
                  <a:latin typeface="DM Sans"/>
                  <a:ea typeface="DM Sans"/>
                  <a:cs typeface="DM Sans"/>
                  <a:sym typeface="DM Sans"/>
                </a:rPr>
                <a:t>Personas are fictional. Every UI is simulated.</a:t>
              </a:r>
            </a:p>
            <a:p>
              <a:pPr algn="l">
                <a:lnSpc>
                  <a:spcPts val="2789"/>
                </a:lnSpc>
              </a:pPr>
              <a:endParaRPr lang="en-US" sz="2249">
                <a:solidFill>
                  <a:srgbClr val="10283F"/>
                </a:solidFill>
                <a:latin typeface="DM Sans"/>
                <a:ea typeface="DM Sans"/>
                <a:cs typeface="DM Sans"/>
                <a:sym typeface="DM Sans"/>
              </a:endParaRPr>
            </a:p>
            <a:p>
              <a:pPr algn="l">
                <a:lnSpc>
                  <a:spcPts val="2789"/>
                </a:lnSpc>
              </a:pPr>
              <a:r>
                <a:rPr lang="en-US" sz="2249">
                  <a:solidFill>
                    <a:srgbClr val="10283F"/>
                  </a:solidFill>
                  <a:latin typeface="DM Sans"/>
                  <a:ea typeface="DM Sans"/>
                  <a:cs typeface="DM Sans"/>
                  <a:sym typeface="DM Sans"/>
                </a:rPr>
                <a:t>Commercial ROI assumptions and reputation benefits remain unproven.</a:t>
              </a:r>
            </a:p>
            <a:p>
              <a:pPr algn="l">
                <a:lnSpc>
                  <a:spcPts val="2789"/>
                </a:lnSpc>
              </a:pPr>
              <a:endParaRPr lang="en-US" sz="2249">
                <a:solidFill>
                  <a:srgbClr val="10283F"/>
                </a:solidFill>
                <a:latin typeface="DM Sans"/>
                <a:ea typeface="DM Sans"/>
                <a:cs typeface="DM Sans"/>
                <a:sym typeface="DM Sans"/>
              </a:endParaRPr>
            </a:p>
            <a:p>
              <a:pPr algn="l">
                <a:lnSpc>
                  <a:spcPts val="2789"/>
                </a:lnSpc>
              </a:pPr>
              <a:r>
                <a:rPr lang="en-US" sz="2249">
                  <a:solidFill>
                    <a:srgbClr val="10283F"/>
                  </a:solidFill>
                  <a:latin typeface="DM Sans"/>
                  <a:ea typeface="DM Sans"/>
                  <a:cs typeface="DM Sans"/>
                  <a:sym typeface="DM Sans"/>
                </a:rPr>
                <a:t>Existing-system integration is future work.</a:t>
              </a:r>
            </a:p>
            <a:p>
              <a:pPr algn="l">
                <a:lnSpc>
                  <a:spcPts val="2789"/>
                </a:lnSpc>
              </a:pPr>
              <a:endParaRPr lang="en-US" sz="2249">
                <a:solidFill>
                  <a:srgbClr val="10283F"/>
                </a:solidFill>
                <a:latin typeface="DM Sans"/>
                <a:ea typeface="DM Sans"/>
                <a:cs typeface="DM Sans"/>
                <a:sym typeface="DM Sans"/>
              </a:endParaRPr>
            </a:p>
            <a:p>
              <a:pPr algn="l">
                <a:lnSpc>
                  <a:spcPts val="2789"/>
                </a:lnSpc>
              </a:pPr>
              <a:r>
                <a:rPr lang="en-US" sz="2249">
                  <a:solidFill>
                    <a:srgbClr val="10283F"/>
                  </a:solidFill>
                  <a:latin typeface="DM Sans"/>
                  <a:ea typeface="DM Sans"/>
                  <a:cs typeface="DM Sans"/>
                  <a:sym typeface="DM Sans"/>
                </a:rPr>
                <a:t>No refund or payment approval.</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
        <p:cNvGrpSpPr/>
        <p:nvPr/>
      </p:nvGrpSpPr>
      <p:grpSpPr>
        <a:xfrm>
          <a:off x="0" y="0"/>
          <a:ext cx="0" cy="0"/>
          <a:chOff x="0" y="0"/>
          <a:chExt cx="0" cy="0"/>
        </a:xfrm>
      </p:grpSpPr>
      <p:sp>
        <p:nvSpPr>
          <p:cNvPr id="2" name="Freeform 2"/>
          <p:cNvSpPr/>
          <p:nvPr/>
        </p:nvSpPr>
        <p:spPr>
          <a:xfrm>
            <a:off x="6062269" y="4878146"/>
            <a:ext cx="6163463" cy="2367746"/>
          </a:xfrm>
          <a:custGeom>
            <a:avLst/>
            <a:gdLst/>
            <a:ahLst/>
            <a:cxnLst/>
            <a:rect l="l" t="t" r="r" b="b"/>
            <a:pathLst>
              <a:path w="6163463" h="2367746">
                <a:moveTo>
                  <a:pt x="0" y="0"/>
                </a:moveTo>
                <a:lnTo>
                  <a:pt x="6163462" y="0"/>
                </a:lnTo>
                <a:lnTo>
                  <a:pt x="6163462" y="2367746"/>
                </a:lnTo>
                <a:lnTo>
                  <a:pt x="0" y="2367746"/>
                </a:lnTo>
                <a:lnTo>
                  <a:pt x="0" y="0"/>
                </a:lnTo>
                <a:close/>
              </a:path>
            </a:pathLst>
          </a:custGeom>
          <a:blipFill>
            <a:blip r:embed="rId3"/>
            <a:stretch>
              <a:fillRect/>
            </a:stretch>
          </a:blipFill>
        </p:spPr>
      </p:sp>
      <p:sp>
        <p:nvSpPr>
          <p:cNvPr id="3" name="TextBox 3"/>
          <p:cNvSpPr txBox="1"/>
          <p:nvPr/>
        </p:nvSpPr>
        <p:spPr>
          <a:xfrm>
            <a:off x="2714348" y="3212348"/>
            <a:ext cx="12859304" cy="1027299"/>
          </a:xfrm>
          <a:prstGeom prst="rect">
            <a:avLst/>
          </a:prstGeom>
        </p:spPr>
        <p:txBody>
          <a:bodyPr lIns="0" tIns="0" rIns="0" bIns="0" rtlCol="0" anchor="t">
            <a:spAutoFit/>
          </a:bodyPr>
          <a:lstStyle/>
          <a:p>
            <a:pPr algn="ctr">
              <a:lnSpc>
                <a:spcPts val="7866"/>
              </a:lnSpc>
            </a:pPr>
            <a:r>
              <a:rPr lang="en-US" sz="7421" b="1">
                <a:solidFill>
                  <a:srgbClr val="10283F"/>
                </a:solidFill>
                <a:latin typeface="Montserrat Bold"/>
                <a:ea typeface="Montserrat Bold"/>
                <a:cs typeface="Montserrat Bold"/>
                <a:sym typeface="Montserrat Bold"/>
              </a:rPr>
              <a:t>Thank </a:t>
            </a:r>
            <a:r>
              <a:rPr lang="en-US" sz="7421" b="1">
                <a:solidFill>
                  <a:srgbClr val="F76E04"/>
                </a:solidFill>
                <a:latin typeface="Montserrat Bold"/>
                <a:ea typeface="Montserrat Bold"/>
                <a:cs typeface="Montserrat Bold"/>
                <a:sym typeface="Montserrat Bold"/>
              </a:rPr>
              <a:t>You </a:t>
            </a:r>
            <a:r>
              <a:rPr lang="en-US" sz="7421" b="1">
                <a:solidFill>
                  <a:srgbClr val="10283F"/>
                </a:solidFill>
                <a:latin typeface="Montserrat Bold"/>
                <a:ea typeface="Montserrat Bold"/>
                <a:cs typeface="Montserrat Bold"/>
                <a:sym typeface="Montserrat Bold"/>
              </a:rPr>
              <a:t>For Your Time</a:t>
            </a:r>
          </a:p>
        </p:txBody>
      </p:sp>
      <p:sp>
        <p:nvSpPr>
          <p:cNvPr id="4" name="TextBox 4"/>
          <p:cNvSpPr txBox="1"/>
          <p:nvPr/>
        </p:nvSpPr>
        <p:spPr>
          <a:xfrm>
            <a:off x="4051746" y="7376184"/>
            <a:ext cx="10184507" cy="877570"/>
          </a:xfrm>
          <a:prstGeom prst="rect">
            <a:avLst/>
          </a:prstGeom>
        </p:spPr>
        <p:txBody>
          <a:bodyPr lIns="0" tIns="0" rIns="0" bIns="0" rtlCol="0" anchor="t">
            <a:spAutoFit/>
          </a:bodyPr>
          <a:lstStyle/>
          <a:p>
            <a:pPr algn="ctr">
              <a:lnSpc>
                <a:spcPts val="7279"/>
              </a:lnSpc>
            </a:pPr>
            <a:r>
              <a:rPr lang="en-US" sz="5199" b="1">
                <a:solidFill>
                  <a:srgbClr val="000000"/>
                </a:solidFill>
                <a:latin typeface="Montserrat Bold"/>
                <a:ea typeface="Montserrat Bold"/>
                <a:cs typeface="Montserrat Bold"/>
                <a:sym typeface="Montserrat Bold"/>
              </a:rPr>
              <a:t>Deliver </a:t>
            </a:r>
            <a:r>
              <a:rPr lang="en-US" sz="5199" b="1">
                <a:solidFill>
                  <a:srgbClr val="F5821F"/>
                </a:solidFill>
                <a:latin typeface="Montserrat Bold"/>
                <a:ea typeface="Montserrat Bold"/>
                <a:cs typeface="Montserrat Bold"/>
                <a:sym typeface="Montserrat Bold"/>
              </a:rPr>
              <a:t>Better</a:t>
            </a:r>
            <a:r>
              <a:rPr lang="en-US" sz="5199" b="1">
                <a:solidFill>
                  <a:srgbClr val="000000"/>
                </a:solidFill>
                <a:latin typeface="Montserrat Bold"/>
                <a:ea typeface="Montserrat Bold"/>
                <a:cs typeface="Montserrat Bold"/>
                <a:sym typeface="Montserrat Bold"/>
              </a:rPr>
              <a:t>, Resolve </a:t>
            </a:r>
            <a:r>
              <a:rPr lang="en-US" sz="5199" b="1">
                <a:solidFill>
                  <a:srgbClr val="F5821F"/>
                </a:solidFill>
                <a:latin typeface="Montserrat Bold"/>
                <a:ea typeface="Montserrat Bold"/>
                <a:cs typeface="Montserrat Bold"/>
                <a:sym typeface="Montserrat Bold"/>
              </a:rPr>
              <a:t>Faster</a:t>
            </a:r>
          </a:p>
        </p:txBody>
      </p:sp>
      <p:grpSp>
        <p:nvGrpSpPr>
          <p:cNvPr id="5" name="Group 5"/>
          <p:cNvGrpSpPr/>
          <p:nvPr/>
        </p:nvGrpSpPr>
        <p:grpSpPr>
          <a:xfrm>
            <a:off x="858741" y="4480622"/>
            <a:ext cx="3527128" cy="4542275"/>
            <a:chOff x="0" y="0"/>
            <a:chExt cx="4702837" cy="6056366"/>
          </a:xfrm>
        </p:grpSpPr>
        <p:sp>
          <p:nvSpPr>
            <p:cNvPr id="6" name="Freeform 6"/>
            <p:cNvSpPr/>
            <p:nvPr/>
          </p:nvSpPr>
          <p:spPr>
            <a:xfrm>
              <a:off x="1539724" y="295385"/>
              <a:ext cx="3163113" cy="5052973"/>
            </a:xfrm>
            <a:custGeom>
              <a:avLst/>
              <a:gdLst/>
              <a:ahLst/>
              <a:cxnLst/>
              <a:rect l="l" t="t" r="r" b="b"/>
              <a:pathLst>
                <a:path w="3163113" h="5052973">
                  <a:moveTo>
                    <a:pt x="0" y="0"/>
                  </a:moveTo>
                  <a:lnTo>
                    <a:pt x="3163113" y="0"/>
                  </a:lnTo>
                  <a:lnTo>
                    <a:pt x="3163113" y="5052973"/>
                  </a:lnTo>
                  <a:lnTo>
                    <a:pt x="0" y="5052973"/>
                  </a:lnTo>
                  <a:lnTo>
                    <a:pt x="0" y="0"/>
                  </a:lnTo>
                  <a:close/>
                </a:path>
              </a:pathLst>
            </a:custGeom>
            <a:blipFill>
              <a:blip r:embed="rId4"/>
              <a:stretch>
                <a:fillRect/>
              </a:stretch>
            </a:blipFill>
          </p:spPr>
        </p:sp>
        <p:sp>
          <p:nvSpPr>
            <p:cNvPr id="7" name="Freeform 7"/>
            <p:cNvSpPr/>
            <p:nvPr/>
          </p:nvSpPr>
          <p:spPr>
            <a:xfrm>
              <a:off x="310755" y="3599440"/>
              <a:ext cx="3270451" cy="2456926"/>
            </a:xfrm>
            <a:custGeom>
              <a:avLst/>
              <a:gdLst/>
              <a:ahLst/>
              <a:cxnLst/>
              <a:rect l="l" t="t" r="r" b="b"/>
              <a:pathLst>
                <a:path w="3270451" h="2456926">
                  <a:moveTo>
                    <a:pt x="0" y="0"/>
                  </a:moveTo>
                  <a:lnTo>
                    <a:pt x="3270451" y="0"/>
                  </a:lnTo>
                  <a:lnTo>
                    <a:pt x="3270451" y="2456926"/>
                  </a:lnTo>
                  <a:lnTo>
                    <a:pt x="0" y="2456926"/>
                  </a:lnTo>
                  <a:lnTo>
                    <a:pt x="0" y="0"/>
                  </a:lnTo>
                  <a:close/>
                </a:path>
              </a:pathLst>
            </a:custGeom>
            <a:blipFill>
              <a:blip r:embed="rId5"/>
              <a:stretch>
                <a:fillRect/>
              </a:stretch>
            </a:blipFill>
          </p:spPr>
        </p:sp>
        <p:grpSp>
          <p:nvGrpSpPr>
            <p:cNvPr id="8" name="Group 8"/>
            <p:cNvGrpSpPr>
              <a:grpSpLocks noChangeAspect="1"/>
            </p:cNvGrpSpPr>
            <p:nvPr/>
          </p:nvGrpSpPr>
          <p:grpSpPr>
            <a:xfrm rot="1182934">
              <a:off x="351354" y="220097"/>
              <a:ext cx="1718717" cy="2381677"/>
              <a:chOff x="0" y="0"/>
              <a:chExt cx="4734560" cy="6560820"/>
            </a:xfrm>
          </p:grpSpPr>
          <p:sp>
            <p:nvSpPr>
              <p:cNvPr id="9" name="Freeform 9"/>
              <p:cNvSpPr/>
              <p:nvPr/>
            </p:nvSpPr>
            <p:spPr>
              <a:xfrm>
                <a:off x="36830" y="50800"/>
                <a:ext cx="4645660" cy="6473190"/>
              </a:xfrm>
              <a:custGeom>
                <a:avLst/>
                <a:gdLst/>
                <a:ahLst/>
                <a:cxnLst/>
                <a:rect l="l" t="t" r="r" b="b"/>
                <a:pathLst>
                  <a:path w="4645660" h="6473190">
                    <a:moveTo>
                      <a:pt x="4368800" y="0"/>
                    </a:moveTo>
                    <a:lnTo>
                      <a:pt x="276860" y="0"/>
                    </a:lnTo>
                    <a:cubicBezTo>
                      <a:pt x="124460" y="0"/>
                      <a:pt x="0" y="123190"/>
                      <a:pt x="0" y="276860"/>
                    </a:cubicBezTo>
                    <a:lnTo>
                      <a:pt x="0" y="6196330"/>
                    </a:lnTo>
                    <a:cubicBezTo>
                      <a:pt x="0" y="6350000"/>
                      <a:pt x="124460" y="6473190"/>
                      <a:pt x="276860" y="6473190"/>
                    </a:cubicBezTo>
                    <a:lnTo>
                      <a:pt x="4368800" y="6473190"/>
                    </a:lnTo>
                    <a:cubicBezTo>
                      <a:pt x="4522470" y="6473190"/>
                      <a:pt x="4645660" y="6348730"/>
                      <a:pt x="4645660" y="6196330"/>
                    </a:cubicBezTo>
                    <a:lnTo>
                      <a:pt x="4645660" y="276860"/>
                    </a:lnTo>
                    <a:cubicBezTo>
                      <a:pt x="4645660" y="123190"/>
                      <a:pt x="4522470" y="0"/>
                      <a:pt x="4368800" y="0"/>
                    </a:cubicBezTo>
                    <a:close/>
                    <a:moveTo>
                      <a:pt x="4425950" y="6156960"/>
                    </a:moveTo>
                    <a:cubicBezTo>
                      <a:pt x="4425950" y="6212840"/>
                      <a:pt x="4380230" y="6258560"/>
                      <a:pt x="4324350" y="6258560"/>
                    </a:cubicBezTo>
                    <a:lnTo>
                      <a:pt x="321310" y="6258560"/>
                    </a:lnTo>
                    <a:cubicBezTo>
                      <a:pt x="265430" y="6258560"/>
                      <a:pt x="219710" y="6212840"/>
                      <a:pt x="219710" y="6156960"/>
                    </a:cubicBezTo>
                    <a:lnTo>
                      <a:pt x="219710" y="316230"/>
                    </a:lnTo>
                    <a:cubicBezTo>
                      <a:pt x="219710" y="260350"/>
                      <a:pt x="265430" y="214630"/>
                      <a:pt x="321310" y="214630"/>
                    </a:cubicBezTo>
                    <a:lnTo>
                      <a:pt x="4325620" y="214630"/>
                    </a:lnTo>
                    <a:cubicBezTo>
                      <a:pt x="4381500" y="214630"/>
                      <a:pt x="4427220" y="260350"/>
                      <a:pt x="4427220" y="316230"/>
                    </a:cubicBezTo>
                    <a:lnTo>
                      <a:pt x="4427220" y="6156960"/>
                    </a:lnTo>
                    <a:close/>
                  </a:path>
                </a:pathLst>
              </a:custGeom>
              <a:solidFill>
                <a:srgbClr val="010101"/>
              </a:solidFill>
            </p:spPr>
          </p:sp>
          <p:sp>
            <p:nvSpPr>
              <p:cNvPr id="10" name="Freeform 10"/>
              <p:cNvSpPr/>
              <p:nvPr/>
            </p:nvSpPr>
            <p:spPr>
              <a:xfrm>
                <a:off x="0" y="16511"/>
                <a:ext cx="4716780" cy="6544310"/>
              </a:xfrm>
              <a:custGeom>
                <a:avLst/>
                <a:gdLst/>
                <a:ahLst/>
                <a:cxnLst/>
                <a:rect l="l" t="t" r="r" b="b"/>
                <a:pathLst>
                  <a:path w="4716780" h="6544310">
                    <a:moveTo>
                      <a:pt x="4395470" y="36829"/>
                    </a:moveTo>
                    <a:cubicBezTo>
                      <a:pt x="4552950" y="36829"/>
                      <a:pt x="4681220" y="165099"/>
                      <a:pt x="4681220" y="322579"/>
                    </a:cubicBezTo>
                    <a:lnTo>
                      <a:pt x="4681220" y="6222999"/>
                    </a:lnTo>
                    <a:cubicBezTo>
                      <a:pt x="4681220" y="6380479"/>
                      <a:pt x="4552950" y="6508750"/>
                      <a:pt x="4395470" y="6508750"/>
                    </a:cubicBezTo>
                    <a:lnTo>
                      <a:pt x="321310" y="6508750"/>
                    </a:lnTo>
                    <a:cubicBezTo>
                      <a:pt x="163830" y="6508750"/>
                      <a:pt x="35560" y="6380480"/>
                      <a:pt x="35560" y="6223000"/>
                    </a:cubicBezTo>
                    <a:lnTo>
                      <a:pt x="35560" y="322580"/>
                    </a:lnTo>
                    <a:cubicBezTo>
                      <a:pt x="35560" y="165100"/>
                      <a:pt x="163830" y="36830"/>
                      <a:pt x="321310" y="36830"/>
                    </a:cubicBezTo>
                    <a:lnTo>
                      <a:pt x="4395470" y="36830"/>
                    </a:lnTo>
                    <a:moveTo>
                      <a:pt x="4395470" y="0"/>
                    </a:moveTo>
                    <a:lnTo>
                      <a:pt x="321310" y="0"/>
                    </a:lnTo>
                    <a:cubicBezTo>
                      <a:pt x="143510" y="0"/>
                      <a:pt x="0" y="144780"/>
                      <a:pt x="0" y="322580"/>
                    </a:cubicBezTo>
                    <a:lnTo>
                      <a:pt x="0" y="6223000"/>
                    </a:lnTo>
                    <a:cubicBezTo>
                      <a:pt x="0" y="6400800"/>
                      <a:pt x="143510" y="6544309"/>
                      <a:pt x="321310" y="6544309"/>
                    </a:cubicBezTo>
                    <a:lnTo>
                      <a:pt x="4395470" y="6544309"/>
                    </a:lnTo>
                    <a:cubicBezTo>
                      <a:pt x="4573270" y="6544309"/>
                      <a:pt x="4716780" y="6400800"/>
                      <a:pt x="4716780" y="6223000"/>
                    </a:cubicBezTo>
                    <a:lnTo>
                      <a:pt x="4716780" y="322580"/>
                    </a:lnTo>
                    <a:cubicBezTo>
                      <a:pt x="4716780" y="144780"/>
                      <a:pt x="4573270" y="0"/>
                      <a:pt x="4395470" y="0"/>
                    </a:cubicBezTo>
                    <a:close/>
                  </a:path>
                </a:pathLst>
              </a:custGeom>
              <a:solidFill>
                <a:srgbClr val="565656"/>
              </a:solidFill>
            </p:spPr>
          </p:sp>
          <p:sp>
            <p:nvSpPr>
              <p:cNvPr id="11" name="Freeform 11"/>
              <p:cNvSpPr/>
              <p:nvPr/>
            </p:nvSpPr>
            <p:spPr>
              <a:xfrm>
                <a:off x="256540" y="265430"/>
                <a:ext cx="4207510" cy="6043930"/>
              </a:xfrm>
              <a:custGeom>
                <a:avLst/>
                <a:gdLst/>
                <a:ahLst/>
                <a:cxnLst/>
                <a:rect l="l" t="t" r="r" b="b"/>
                <a:pathLst>
                  <a:path w="4207510" h="6043930">
                    <a:moveTo>
                      <a:pt x="4206240" y="5942330"/>
                    </a:moveTo>
                    <a:cubicBezTo>
                      <a:pt x="4206240" y="5998210"/>
                      <a:pt x="4160520" y="6043930"/>
                      <a:pt x="4104640" y="6043930"/>
                    </a:cubicBezTo>
                    <a:lnTo>
                      <a:pt x="101600" y="6043930"/>
                    </a:lnTo>
                    <a:cubicBezTo>
                      <a:pt x="45720" y="6043930"/>
                      <a:pt x="0" y="5998210"/>
                      <a:pt x="0" y="5942330"/>
                    </a:cubicBezTo>
                    <a:lnTo>
                      <a:pt x="0" y="101600"/>
                    </a:lnTo>
                    <a:cubicBezTo>
                      <a:pt x="0" y="45720"/>
                      <a:pt x="45720" y="0"/>
                      <a:pt x="101600" y="0"/>
                    </a:cubicBezTo>
                    <a:lnTo>
                      <a:pt x="4105910" y="0"/>
                    </a:lnTo>
                    <a:cubicBezTo>
                      <a:pt x="4161790" y="0"/>
                      <a:pt x="4207510" y="45720"/>
                      <a:pt x="4207510" y="101600"/>
                    </a:cubicBezTo>
                    <a:lnTo>
                      <a:pt x="4207510" y="5942330"/>
                    </a:lnTo>
                    <a:close/>
                  </a:path>
                </a:pathLst>
              </a:custGeom>
              <a:blipFill>
                <a:blip r:embed="rId6"/>
                <a:stretch>
                  <a:fillRect l="-21823" r="-21823"/>
                </a:stretch>
              </a:blipFill>
            </p:spPr>
          </p:sp>
          <p:sp>
            <p:nvSpPr>
              <p:cNvPr id="12" name="Freeform 12"/>
              <p:cNvSpPr/>
              <p:nvPr/>
            </p:nvSpPr>
            <p:spPr>
              <a:xfrm>
                <a:off x="1953089" y="120650"/>
                <a:ext cx="76541" cy="76201"/>
              </a:xfrm>
              <a:custGeom>
                <a:avLst/>
                <a:gdLst/>
                <a:ahLst/>
                <a:cxnLst/>
                <a:rect l="l" t="t" r="r" b="b"/>
                <a:pathLst>
                  <a:path w="76541" h="76201">
                    <a:moveTo>
                      <a:pt x="38271" y="0"/>
                    </a:moveTo>
                    <a:cubicBezTo>
                      <a:pt x="24619" y="-61"/>
                      <a:pt x="11977" y="7187"/>
                      <a:pt x="5133" y="19001"/>
                    </a:cubicBezTo>
                    <a:cubicBezTo>
                      <a:pt x="-1711" y="30814"/>
                      <a:pt x="-1711" y="45386"/>
                      <a:pt x="5133" y="57199"/>
                    </a:cubicBezTo>
                    <a:cubicBezTo>
                      <a:pt x="11977" y="69013"/>
                      <a:pt x="24619" y="76261"/>
                      <a:pt x="38271" y="76200"/>
                    </a:cubicBezTo>
                    <a:cubicBezTo>
                      <a:pt x="51923" y="76261"/>
                      <a:pt x="64565" y="69013"/>
                      <a:pt x="71409" y="57199"/>
                    </a:cubicBezTo>
                    <a:cubicBezTo>
                      <a:pt x="78253" y="45386"/>
                      <a:pt x="78253" y="30814"/>
                      <a:pt x="71409" y="19001"/>
                    </a:cubicBezTo>
                    <a:cubicBezTo>
                      <a:pt x="64565" y="7187"/>
                      <a:pt x="51923" y="-61"/>
                      <a:pt x="38271" y="0"/>
                    </a:cubicBezTo>
                    <a:close/>
                  </a:path>
                </a:pathLst>
              </a:custGeom>
              <a:solidFill>
                <a:srgbClr val="333333"/>
              </a:solidFill>
            </p:spPr>
          </p:sp>
          <p:sp>
            <p:nvSpPr>
              <p:cNvPr id="13" name="Freeform 13"/>
              <p:cNvSpPr/>
              <p:nvPr/>
            </p:nvSpPr>
            <p:spPr>
              <a:xfrm>
                <a:off x="2121925" y="104139"/>
                <a:ext cx="109709" cy="109221"/>
              </a:xfrm>
              <a:custGeom>
                <a:avLst/>
                <a:gdLst/>
                <a:ahLst/>
                <a:cxnLst/>
                <a:rect l="l" t="t" r="r" b="b"/>
                <a:pathLst>
                  <a:path w="109709" h="109221">
                    <a:moveTo>
                      <a:pt x="54855" y="1"/>
                    </a:moveTo>
                    <a:cubicBezTo>
                      <a:pt x="35287" y="-87"/>
                      <a:pt x="17167" y="10303"/>
                      <a:pt x="7357" y="27235"/>
                    </a:cubicBezTo>
                    <a:cubicBezTo>
                      <a:pt x="-2452" y="44168"/>
                      <a:pt x="-2452" y="65054"/>
                      <a:pt x="7357" y="81987"/>
                    </a:cubicBezTo>
                    <a:cubicBezTo>
                      <a:pt x="17167" y="98919"/>
                      <a:pt x="35287" y="109309"/>
                      <a:pt x="54855" y="109221"/>
                    </a:cubicBezTo>
                    <a:cubicBezTo>
                      <a:pt x="74423" y="109309"/>
                      <a:pt x="92543" y="98919"/>
                      <a:pt x="102352" y="81987"/>
                    </a:cubicBezTo>
                    <a:cubicBezTo>
                      <a:pt x="112162" y="65054"/>
                      <a:pt x="112162" y="44168"/>
                      <a:pt x="102352" y="27235"/>
                    </a:cubicBezTo>
                    <a:cubicBezTo>
                      <a:pt x="92543" y="10303"/>
                      <a:pt x="74423" y="-87"/>
                      <a:pt x="54855" y="1"/>
                    </a:cubicBezTo>
                    <a:close/>
                  </a:path>
                </a:pathLst>
              </a:custGeom>
              <a:solidFill>
                <a:srgbClr val="333333"/>
              </a:solidFill>
            </p:spPr>
          </p:sp>
          <p:sp>
            <p:nvSpPr>
              <p:cNvPr id="14" name="Freeform 14"/>
              <p:cNvSpPr/>
              <p:nvPr/>
            </p:nvSpPr>
            <p:spPr>
              <a:xfrm>
                <a:off x="2330313" y="128270"/>
                <a:ext cx="61233" cy="60961"/>
              </a:xfrm>
              <a:custGeom>
                <a:avLst/>
                <a:gdLst/>
                <a:ahLst/>
                <a:cxnLst/>
                <a:rect l="l" t="t" r="r" b="b"/>
                <a:pathLst>
                  <a:path w="61233" h="60961">
                    <a:moveTo>
                      <a:pt x="30617" y="0"/>
                    </a:moveTo>
                    <a:cubicBezTo>
                      <a:pt x="19695" y="-49"/>
                      <a:pt x="9582" y="5750"/>
                      <a:pt x="4107" y="15201"/>
                    </a:cubicBezTo>
                    <a:cubicBezTo>
                      <a:pt x="-1369" y="24651"/>
                      <a:pt x="-1369" y="36309"/>
                      <a:pt x="4107" y="45759"/>
                    </a:cubicBezTo>
                    <a:cubicBezTo>
                      <a:pt x="9582" y="55210"/>
                      <a:pt x="19695" y="61009"/>
                      <a:pt x="30617" y="60960"/>
                    </a:cubicBezTo>
                    <a:cubicBezTo>
                      <a:pt x="41539" y="61009"/>
                      <a:pt x="51652" y="55210"/>
                      <a:pt x="57127" y="45759"/>
                    </a:cubicBezTo>
                    <a:cubicBezTo>
                      <a:pt x="62602" y="36309"/>
                      <a:pt x="62602" y="24651"/>
                      <a:pt x="57127" y="15201"/>
                    </a:cubicBezTo>
                    <a:cubicBezTo>
                      <a:pt x="51652" y="5750"/>
                      <a:pt x="41539" y="-49"/>
                      <a:pt x="30617" y="0"/>
                    </a:cubicBezTo>
                    <a:close/>
                  </a:path>
                </a:pathLst>
              </a:custGeom>
              <a:solidFill>
                <a:srgbClr val="333333"/>
              </a:solidFill>
            </p:spPr>
          </p:sp>
          <p:sp>
            <p:nvSpPr>
              <p:cNvPr id="15" name="Freeform 15"/>
              <p:cNvSpPr/>
              <p:nvPr/>
            </p:nvSpPr>
            <p:spPr>
              <a:xfrm>
                <a:off x="2346897" y="144780"/>
                <a:ext cx="28065" cy="27940"/>
              </a:xfrm>
              <a:custGeom>
                <a:avLst/>
                <a:gdLst/>
                <a:ahLst/>
                <a:cxnLst/>
                <a:rect l="l" t="t" r="r" b="b"/>
                <a:pathLst>
                  <a:path w="28065" h="27940">
                    <a:moveTo>
                      <a:pt x="14033" y="0"/>
                    </a:moveTo>
                    <a:cubicBezTo>
                      <a:pt x="9027" y="-22"/>
                      <a:pt x="4392" y="2635"/>
                      <a:pt x="1882" y="6967"/>
                    </a:cubicBezTo>
                    <a:cubicBezTo>
                      <a:pt x="-627" y="11298"/>
                      <a:pt x="-627" y="16642"/>
                      <a:pt x="1882" y="20973"/>
                    </a:cubicBezTo>
                    <a:cubicBezTo>
                      <a:pt x="4392" y="25305"/>
                      <a:pt x="9027" y="27962"/>
                      <a:pt x="14033" y="27940"/>
                    </a:cubicBezTo>
                    <a:cubicBezTo>
                      <a:pt x="19039" y="27962"/>
                      <a:pt x="23674" y="25305"/>
                      <a:pt x="26184" y="20973"/>
                    </a:cubicBezTo>
                    <a:cubicBezTo>
                      <a:pt x="28693" y="16642"/>
                      <a:pt x="28693" y="11298"/>
                      <a:pt x="26184" y="6967"/>
                    </a:cubicBezTo>
                    <a:cubicBezTo>
                      <a:pt x="23674" y="2635"/>
                      <a:pt x="19039" y="-22"/>
                      <a:pt x="14033" y="0"/>
                    </a:cubicBezTo>
                    <a:close/>
                  </a:path>
                </a:pathLst>
              </a:custGeom>
              <a:solidFill>
                <a:srgbClr val="E9E8E9"/>
              </a:solidFill>
            </p:spPr>
          </p:sp>
          <p:sp>
            <p:nvSpPr>
              <p:cNvPr id="16" name="Freeform 16"/>
              <p:cNvSpPr/>
              <p:nvPr/>
            </p:nvSpPr>
            <p:spPr>
              <a:xfrm>
                <a:off x="2344386" y="144780"/>
                <a:ext cx="15308" cy="15240"/>
              </a:xfrm>
              <a:custGeom>
                <a:avLst/>
                <a:gdLst/>
                <a:ahLst/>
                <a:cxnLst/>
                <a:rect l="l" t="t" r="r" b="b"/>
                <a:pathLst>
                  <a:path w="15308" h="15240">
                    <a:moveTo>
                      <a:pt x="7654" y="0"/>
                    </a:moveTo>
                    <a:cubicBezTo>
                      <a:pt x="4924" y="-12"/>
                      <a:pt x="2395" y="1437"/>
                      <a:pt x="1026" y="3800"/>
                    </a:cubicBezTo>
                    <a:cubicBezTo>
                      <a:pt x="-342" y="6163"/>
                      <a:pt x="-342" y="9077"/>
                      <a:pt x="1026" y="11440"/>
                    </a:cubicBezTo>
                    <a:cubicBezTo>
                      <a:pt x="2395" y="13803"/>
                      <a:pt x="4924" y="15252"/>
                      <a:pt x="7654" y="15240"/>
                    </a:cubicBezTo>
                    <a:cubicBezTo>
                      <a:pt x="10384" y="15252"/>
                      <a:pt x="12913" y="13803"/>
                      <a:pt x="14281" y="11440"/>
                    </a:cubicBezTo>
                    <a:cubicBezTo>
                      <a:pt x="15650" y="9077"/>
                      <a:pt x="15650" y="6163"/>
                      <a:pt x="14281" y="3800"/>
                    </a:cubicBezTo>
                    <a:cubicBezTo>
                      <a:pt x="12913" y="1437"/>
                      <a:pt x="10384" y="-12"/>
                      <a:pt x="7654" y="0"/>
                    </a:cubicBezTo>
                    <a:close/>
                  </a:path>
                </a:pathLst>
              </a:custGeom>
              <a:solidFill>
                <a:srgbClr val="010101"/>
              </a:solidFill>
            </p:spPr>
          </p:sp>
          <p:sp>
            <p:nvSpPr>
              <p:cNvPr id="17" name="Freeform 17"/>
              <p:cNvSpPr/>
              <p:nvPr/>
            </p:nvSpPr>
            <p:spPr>
              <a:xfrm>
                <a:off x="4716780" y="534670"/>
                <a:ext cx="16622" cy="278130"/>
              </a:xfrm>
              <a:custGeom>
                <a:avLst/>
                <a:gdLst/>
                <a:ahLst/>
                <a:cxnLst/>
                <a:rect l="l" t="t" r="r" b="b"/>
                <a:pathLst>
                  <a:path w="16622" h="278130">
                    <a:moveTo>
                      <a:pt x="0" y="0"/>
                    </a:moveTo>
                    <a:lnTo>
                      <a:pt x="0" y="278130"/>
                    </a:lnTo>
                    <a:cubicBezTo>
                      <a:pt x="19050" y="278130"/>
                      <a:pt x="16510" y="262890"/>
                      <a:pt x="16510" y="243840"/>
                    </a:cubicBezTo>
                    <a:lnTo>
                      <a:pt x="16510" y="35560"/>
                    </a:lnTo>
                    <a:cubicBezTo>
                      <a:pt x="16510" y="16510"/>
                      <a:pt x="19050" y="0"/>
                      <a:pt x="0" y="0"/>
                    </a:cubicBezTo>
                    <a:close/>
                  </a:path>
                </a:pathLst>
              </a:custGeom>
              <a:solidFill>
                <a:srgbClr val="424242"/>
              </a:solidFill>
            </p:spPr>
          </p:sp>
          <p:sp>
            <p:nvSpPr>
              <p:cNvPr id="18" name="Freeform 18"/>
              <p:cNvSpPr/>
              <p:nvPr/>
            </p:nvSpPr>
            <p:spPr>
              <a:xfrm>
                <a:off x="4716780" y="861060"/>
                <a:ext cx="16622" cy="278130"/>
              </a:xfrm>
              <a:custGeom>
                <a:avLst/>
                <a:gdLst/>
                <a:ahLst/>
                <a:cxnLst/>
                <a:rect l="l" t="t" r="r" b="b"/>
                <a:pathLst>
                  <a:path w="16622" h="278130">
                    <a:moveTo>
                      <a:pt x="0" y="0"/>
                    </a:moveTo>
                    <a:lnTo>
                      <a:pt x="0" y="278130"/>
                    </a:lnTo>
                    <a:cubicBezTo>
                      <a:pt x="19050" y="278130"/>
                      <a:pt x="16510" y="262890"/>
                      <a:pt x="16510" y="243840"/>
                    </a:cubicBezTo>
                    <a:lnTo>
                      <a:pt x="16510" y="35560"/>
                    </a:lnTo>
                    <a:cubicBezTo>
                      <a:pt x="16510" y="16510"/>
                      <a:pt x="19050" y="0"/>
                      <a:pt x="0" y="0"/>
                    </a:cubicBezTo>
                    <a:close/>
                  </a:path>
                </a:pathLst>
              </a:custGeom>
              <a:solidFill>
                <a:srgbClr val="424242"/>
              </a:solidFill>
            </p:spPr>
          </p:sp>
          <p:sp>
            <p:nvSpPr>
              <p:cNvPr id="19" name="Freeform 19"/>
              <p:cNvSpPr/>
              <p:nvPr/>
            </p:nvSpPr>
            <p:spPr>
              <a:xfrm>
                <a:off x="4064000" y="-113"/>
                <a:ext cx="320040" cy="16623"/>
              </a:xfrm>
              <a:custGeom>
                <a:avLst/>
                <a:gdLst/>
                <a:ahLst/>
                <a:cxnLst/>
                <a:rect l="l" t="t" r="r" b="b"/>
                <a:pathLst>
                  <a:path w="320040" h="16623">
                    <a:moveTo>
                      <a:pt x="0" y="16623"/>
                    </a:moveTo>
                    <a:lnTo>
                      <a:pt x="320040" y="16623"/>
                    </a:lnTo>
                    <a:cubicBezTo>
                      <a:pt x="320040" y="-2427"/>
                      <a:pt x="304800" y="113"/>
                      <a:pt x="285750" y="113"/>
                    </a:cubicBezTo>
                    <a:lnTo>
                      <a:pt x="34290" y="113"/>
                    </a:lnTo>
                    <a:cubicBezTo>
                      <a:pt x="15240" y="113"/>
                      <a:pt x="0" y="-2427"/>
                      <a:pt x="0" y="16623"/>
                    </a:cubicBezTo>
                    <a:close/>
                  </a:path>
                </a:pathLst>
              </a:custGeom>
              <a:solidFill>
                <a:srgbClr val="424242"/>
              </a:solidFill>
            </p:spPr>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2484</Words>
  <Application>Microsoft Office PowerPoint</Application>
  <PresentationFormat>Custom</PresentationFormat>
  <Paragraphs>266</Paragraphs>
  <Slides>14</Slides>
  <Notes>9</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14</vt:i4>
      </vt:variant>
    </vt:vector>
  </HeadingPairs>
  <TitlesOfParts>
    <vt:vector size="31" baseType="lpstr">
      <vt:lpstr>Arimo Bold</vt:lpstr>
      <vt:lpstr>Roboto Bold</vt:lpstr>
      <vt:lpstr>Calibri</vt:lpstr>
      <vt:lpstr>Segoe UI Bold</vt:lpstr>
      <vt:lpstr>Calibri (MS) Italics</vt:lpstr>
      <vt:lpstr>DM Sans</vt:lpstr>
      <vt:lpstr>Roboto</vt:lpstr>
      <vt:lpstr>DM Sans Bold</vt:lpstr>
      <vt:lpstr>Arimo</vt:lpstr>
      <vt:lpstr>Georgia Bold</vt:lpstr>
      <vt:lpstr>Arial</vt:lpstr>
      <vt:lpstr>Calibri (MS) Bold</vt:lpstr>
      <vt:lpstr>Cambria Bold</vt:lpstr>
      <vt:lpstr>Calibri (MS)</vt:lpstr>
      <vt:lpstr>Arial Bold</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Delivery Exception Handling</dc:title>
  <cp:lastModifiedBy>kaungsetthar06@gmail.com</cp:lastModifiedBy>
  <cp:revision>3</cp:revision>
  <dcterms:created xsi:type="dcterms:W3CDTF">2006-08-16T00:00:00Z</dcterms:created>
  <dcterms:modified xsi:type="dcterms:W3CDTF">2026-10-23T15:34:42Z</dcterms:modified>
  <dc:identifier>DAHYvcnyUmY</dc:identifier>
</cp:coreProperties>
</file>